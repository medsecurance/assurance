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6"/>
  </p:notesMasterIdLst>
  <p:sldIdLst>
    <p:sldId id="256" r:id="rId2"/>
    <p:sldId id="289" r:id="rId3"/>
    <p:sldId id="681" r:id="rId4"/>
    <p:sldId id="683" r:id="rId5"/>
    <p:sldId id="684" r:id="rId6"/>
    <p:sldId id="685" r:id="rId7"/>
    <p:sldId id="688" r:id="rId8"/>
    <p:sldId id="686" r:id="rId9"/>
    <p:sldId id="689" r:id="rId10"/>
    <p:sldId id="690" r:id="rId11"/>
    <p:sldId id="691" r:id="rId12"/>
    <p:sldId id="697" r:id="rId13"/>
    <p:sldId id="692" r:id="rId14"/>
    <p:sldId id="693" r:id="rId15"/>
    <p:sldId id="694" r:id="rId16"/>
    <p:sldId id="695" r:id="rId17"/>
    <p:sldId id="696" r:id="rId18"/>
    <p:sldId id="698" r:id="rId19"/>
    <p:sldId id="699" r:id="rId20"/>
    <p:sldId id="700" r:id="rId21"/>
    <p:sldId id="701" r:id="rId22"/>
    <p:sldId id="714" r:id="rId23"/>
    <p:sldId id="762" r:id="rId24"/>
    <p:sldId id="753" r:id="rId25"/>
    <p:sldId id="754" r:id="rId26"/>
    <p:sldId id="759" r:id="rId27"/>
    <p:sldId id="761" r:id="rId28"/>
    <p:sldId id="765" r:id="rId29"/>
    <p:sldId id="715" r:id="rId30"/>
    <p:sldId id="760" r:id="rId31"/>
    <p:sldId id="712" r:id="rId32"/>
    <p:sldId id="755" r:id="rId33"/>
    <p:sldId id="756" r:id="rId34"/>
    <p:sldId id="716" r:id="rId35"/>
    <p:sldId id="727" r:id="rId36"/>
    <p:sldId id="719" r:id="rId37"/>
    <p:sldId id="740" r:id="rId38"/>
    <p:sldId id="730" r:id="rId39"/>
    <p:sldId id="746" r:id="rId40"/>
    <p:sldId id="747" r:id="rId41"/>
    <p:sldId id="726" r:id="rId42"/>
    <p:sldId id="258" r:id="rId43"/>
    <p:sldId id="728" r:id="rId44"/>
    <p:sldId id="743" r:id="rId45"/>
    <p:sldId id="745" r:id="rId46"/>
    <p:sldId id="757" r:id="rId47"/>
    <p:sldId id="758" r:id="rId48"/>
    <p:sldId id="742" r:id="rId49"/>
    <p:sldId id="749" r:id="rId50"/>
    <p:sldId id="750" r:id="rId51"/>
    <p:sldId id="751" r:id="rId52"/>
    <p:sldId id="729" r:id="rId53"/>
    <p:sldId id="724" r:id="rId54"/>
    <p:sldId id="717" r:id="rId55"/>
    <p:sldId id="721" r:id="rId56"/>
    <p:sldId id="722" r:id="rId57"/>
    <p:sldId id="732" r:id="rId58"/>
    <p:sldId id="739" r:id="rId59"/>
    <p:sldId id="738" r:id="rId60"/>
    <p:sldId id="718" r:id="rId61"/>
    <p:sldId id="735" r:id="rId62"/>
    <p:sldId id="723" r:id="rId63"/>
    <p:sldId id="736" r:id="rId64"/>
    <p:sldId id="291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3378"/>
    <a:srgbClr val="12337B"/>
    <a:srgbClr val="47349D"/>
    <a:srgbClr val="123399"/>
    <a:srgbClr val="8100A4"/>
    <a:srgbClr val="0A1C56"/>
    <a:srgbClr val="CC9933"/>
    <a:srgbClr val="006699"/>
    <a:srgbClr val="333366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30"/>
    <p:restoredTop sz="96327"/>
  </p:normalViewPr>
  <p:slideViewPr>
    <p:cSldViewPr>
      <p:cViewPr varScale="1">
        <p:scale>
          <a:sx n="140" d="100"/>
          <a:sy n="140" d="100"/>
        </p:scale>
        <p:origin x="224" y="5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03AD55-D888-41B1-B674-3BD3CC98B307}" type="datetimeFigureOut">
              <a:rPr lang="en-GB" smtClean="0"/>
              <a:t>24/10/2025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164F8-DDDC-4ACB-974C-1CE88547D0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940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n-US" sz="3600" b="1" dirty="0">
                <a:solidFill>
                  <a:srgbClr val="333366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538613" y="1576811"/>
            <a:ext cx="11510048" cy="123825"/>
            <a:chOff x="538613" y="1576811"/>
            <a:chExt cx="11510048" cy="123825"/>
          </a:xfrm>
        </p:grpSpPr>
        <p:sp>
          <p:nvSpPr>
            <p:cNvPr id="8" name="AutoShape 36"/>
            <p:cNvSpPr>
              <a:spLocks noChangeArrowheads="1"/>
            </p:cNvSpPr>
            <p:nvPr userDrawn="1"/>
          </p:nvSpPr>
          <p:spPr bwMode="auto">
            <a:xfrm>
              <a:off x="768661" y="1576811"/>
              <a:ext cx="11280000" cy="123825"/>
            </a:xfrm>
            <a:prstGeom prst="roundRect">
              <a:avLst>
                <a:gd name="adj" fmla="val 2083"/>
              </a:avLst>
            </a:prstGeom>
            <a:gradFill rotWithShape="0">
              <a:gsLst>
                <a:gs pos="0">
                  <a:srgbClr val="8100A4"/>
                </a:gs>
                <a:gs pos="100000">
                  <a:srgbClr val="FFFFFF">
                    <a:alpha val="50000"/>
                  </a:srgb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/>
            </a:p>
          </p:txBody>
        </p:sp>
        <p:sp>
          <p:nvSpPr>
            <p:cNvPr id="9" name="AutoShape 36"/>
            <p:cNvSpPr>
              <a:spLocks noChangeArrowheads="1"/>
            </p:cNvSpPr>
            <p:nvPr userDrawn="1"/>
          </p:nvSpPr>
          <p:spPr bwMode="auto">
            <a:xfrm>
              <a:off x="538613" y="1576811"/>
              <a:ext cx="422400" cy="123825"/>
            </a:xfrm>
            <a:prstGeom prst="ellipse">
              <a:avLst/>
            </a:prstGeom>
            <a:solidFill>
              <a:srgbClr val="8100A4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 dirty="0"/>
            </a:p>
          </p:txBody>
        </p:sp>
      </p:grpSp>
      <p:sp>
        <p:nvSpPr>
          <p:cNvPr id="14" name="Date Placeholder 1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631" y="304800"/>
            <a:ext cx="2700000" cy="106608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5105400"/>
          </a:xfrm>
        </p:spPr>
        <p:txBody>
          <a:bodyPr/>
          <a:lstStyle>
            <a:lvl3pPr>
              <a:buClr>
                <a:srgbClr val="FF6600"/>
              </a:buCl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134076"/>
            <a:ext cx="10363200" cy="8565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538613" y="990601"/>
            <a:ext cx="11510048" cy="123825"/>
            <a:chOff x="403960" y="990600"/>
            <a:chExt cx="8632536" cy="123825"/>
          </a:xfrm>
        </p:grpSpPr>
        <p:sp>
          <p:nvSpPr>
            <p:cNvPr id="21" name="AutoShape 36"/>
            <p:cNvSpPr>
              <a:spLocks noChangeArrowheads="1"/>
            </p:cNvSpPr>
            <p:nvPr userDrawn="1"/>
          </p:nvSpPr>
          <p:spPr bwMode="auto">
            <a:xfrm>
              <a:off x="576496" y="990600"/>
              <a:ext cx="8460000" cy="123825"/>
            </a:xfrm>
            <a:prstGeom prst="roundRect">
              <a:avLst>
                <a:gd name="adj" fmla="val 2083"/>
              </a:avLst>
            </a:prstGeom>
            <a:gradFill rotWithShape="0">
              <a:gsLst>
                <a:gs pos="0">
                  <a:srgbClr val="8100A4"/>
                </a:gs>
                <a:gs pos="100000">
                  <a:srgbClr val="FFFFFF">
                    <a:alpha val="50000"/>
                  </a:srgb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/>
            </a:p>
          </p:txBody>
        </p:sp>
        <p:sp>
          <p:nvSpPr>
            <p:cNvPr id="22" name="AutoShape 36"/>
            <p:cNvSpPr>
              <a:spLocks noChangeArrowheads="1"/>
            </p:cNvSpPr>
            <p:nvPr userDrawn="1"/>
          </p:nvSpPr>
          <p:spPr bwMode="auto">
            <a:xfrm>
              <a:off x="403960" y="990600"/>
              <a:ext cx="316800" cy="123825"/>
            </a:xfrm>
            <a:prstGeom prst="ellipse">
              <a:avLst/>
            </a:prstGeom>
            <a:solidFill>
              <a:srgbClr val="8100A4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 dirty="0"/>
            </a:p>
          </p:txBody>
        </p: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000" y="228600"/>
            <a:ext cx="828000" cy="3269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971801"/>
            <a:ext cx="10363200" cy="1362075"/>
          </a:xfrm>
        </p:spPr>
        <p:txBody>
          <a:bodyPr anchor="t"/>
          <a:lstStyle>
            <a:lvl1pPr algn="ctr">
              <a:defRPr sz="4000" b="1" cap="none" baseline="0">
                <a:solidFill>
                  <a:srgbClr val="33336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343401"/>
            <a:ext cx="10363200" cy="1500187"/>
          </a:xfrm>
        </p:spPr>
        <p:txBody>
          <a:bodyPr anchor="b">
            <a:normAutofit/>
          </a:bodyPr>
          <a:lstStyle>
            <a:lvl1pPr marL="0" indent="0" algn="ctr" defTabSz="914400" rtl="0" eaLnBrk="1" latinLnBrk="0" hangingPunct="1">
              <a:spcBef>
                <a:spcPts val="1200"/>
              </a:spcBef>
              <a:buClr>
                <a:srgbClr val="333366"/>
              </a:buClr>
              <a:buFont typeface="Wingdings" pitchFamily="2" charset="2"/>
              <a:buNone/>
              <a:defRPr lang="en-US" sz="3000" kern="1200" noProof="0" dirty="0" smtClean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000" y="228600"/>
            <a:ext cx="828000" cy="3269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134076"/>
            <a:ext cx="10287000" cy="8565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000" y="228600"/>
            <a:ext cx="828000" cy="326933"/>
          </a:xfrm>
          <a:prstGeom prst="rect">
            <a:avLst/>
          </a:prstGeom>
        </p:spPr>
      </p:pic>
      <p:grpSp>
        <p:nvGrpSpPr>
          <p:cNvPr id="13" name="Group 12"/>
          <p:cNvGrpSpPr/>
          <p:nvPr userDrawn="1"/>
        </p:nvGrpSpPr>
        <p:grpSpPr>
          <a:xfrm>
            <a:off x="538613" y="990601"/>
            <a:ext cx="11510048" cy="123825"/>
            <a:chOff x="403960" y="990600"/>
            <a:chExt cx="8632536" cy="123825"/>
          </a:xfrm>
        </p:grpSpPr>
        <p:sp>
          <p:nvSpPr>
            <p:cNvPr id="14" name="AutoShape 36"/>
            <p:cNvSpPr>
              <a:spLocks noChangeArrowheads="1"/>
            </p:cNvSpPr>
            <p:nvPr userDrawn="1"/>
          </p:nvSpPr>
          <p:spPr bwMode="auto">
            <a:xfrm>
              <a:off x="576496" y="990600"/>
              <a:ext cx="8460000" cy="123825"/>
            </a:xfrm>
            <a:prstGeom prst="roundRect">
              <a:avLst>
                <a:gd name="adj" fmla="val 2083"/>
              </a:avLst>
            </a:prstGeom>
            <a:gradFill rotWithShape="0">
              <a:gsLst>
                <a:gs pos="0">
                  <a:srgbClr val="8100A4"/>
                </a:gs>
                <a:gs pos="100000">
                  <a:srgbClr val="FFFFFF">
                    <a:alpha val="50000"/>
                  </a:srgb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/>
            </a:p>
          </p:txBody>
        </p:sp>
        <p:sp>
          <p:nvSpPr>
            <p:cNvPr id="19" name="AutoShape 36"/>
            <p:cNvSpPr>
              <a:spLocks noChangeArrowheads="1"/>
            </p:cNvSpPr>
            <p:nvPr userDrawn="1"/>
          </p:nvSpPr>
          <p:spPr bwMode="auto">
            <a:xfrm>
              <a:off x="403960" y="990600"/>
              <a:ext cx="316800" cy="123825"/>
            </a:xfrm>
            <a:prstGeom prst="ellipse">
              <a:avLst/>
            </a:prstGeom>
            <a:solidFill>
              <a:srgbClr val="8100A4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 dirty="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134076"/>
            <a:ext cx="10363200" cy="8565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000" y="228600"/>
            <a:ext cx="828000" cy="326933"/>
          </a:xfrm>
          <a:prstGeom prst="rect">
            <a:avLst/>
          </a:prstGeom>
        </p:spPr>
      </p:pic>
      <p:grpSp>
        <p:nvGrpSpPr>
          <p:cNvPr id="15" name="Group 14"/>
          <p:cNvGrpSpPr/>
          <p:nvPr userDrawn="1"/>
        </p:nvGrpSpPr>
        <p:grpSpPr>
          <a:xfrm>
            <a:off x="538613" y="990601"/>
            <a:ext cx="11510048" cy="123825"/>
            <a:chOff x="403960" y="990600"/>
            <a:chExt cx="8632536" cy="123825"/>
          </a:xfrm>
        </p:grpSpPr>
        <p:sp>
          <p:nvSpPr>
            <p:cNvPr id="17" name="AutoShape 36"/>
            <p:cNvSpPr>
              <a:spLocks noChangeArrowheads="1"/>
            </p:cNvSpPr>
            <p:nvPr userDrawn="1"/>
          </p:nvSpPr>
          <p:spPr bwMode="auto">
            <a:xfrm>
              <a:off x="576496" y="990600"/>
              <a:ext cx="8460000" cy="123825"/>
            </a:xfrm>
            <a:prstGeom prst="roundRect">
              <a:avLst>
                <a:gd name="adj" fmla="val 2083"/>
              </a:avLst>
            </a:prstGeom>
            <a:gradFill rotWithShape="0">
              <a:gsLst>
                <a:gs pos="0">
                  <a:srgbClr val="8100A4"/>
                </a:gs>
                <a:gs pos="100000">
                  <a:srgbClr val="FFFFFF">
                    <a:alpha val="50000"/>
                  </a:srgb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/>
            </a:p>
          </p:txBody>
        </p:sp>
        <p:sp>
          <p:nvSpPr>
            <p:cNvPr id="21" name="AutoShape 36"/>
            <p:cNvSpPr>
              <a:spLocks noChangeArrowheads="1"/>
            </p:cNvSpPr>
            <p:nvPr userDrawn="1"/>
          </p:nvSpPr>
          <p:spPr bwMode="auto">
            <a:xfrm>
              <a:off x="403960" y="990600"/>
              <a:ext cx="316800" cy="123825"/>
            </a:xfrm>
            <a:prstGeom prst="ellipse">
              <a:avLst/>
            </a:prstGeom>
            <a:solidFill>
              <a:srgbClr val="8100A4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 dirty="0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000" y="228600"/>
            <a:ext cx="828000" cy="326933"/>
          </a:xfrm>
          <a:prstGeom prst="rect">
            <a:avLst/>
          </a:prstGeom>
        </p:spPr>
      </p:pic>
      <p:grpSp>
        <p:nvGrpSpPr>
          <p:cNvPr id="11" name="Group 10"/>
          <p:cNvGrpSpPr/>
          <p:nvPr userDrawn="1"/>
        </p:nvGrpSpPr>
        <p:grpSpPr>
          <a:xfrm>
            <a:off x="538613" y="990601"/>
            <a:ext cx="11510048" cy="123825"/>
            <a:chOff x="403960" y="990600"/>
            <a:chExt cx="8632536" cy="123825"/>
          </a:xfrm>
        </p:grpSpPr>
        <p:sp>
          <p:nvSpPr>
            <p:cNvPr id="12" name="AutoShape 36"/>
            <p:cNvSpPr>
              <a:spLocks noChangeArrowheads="1"/>
            </p:cNvSpPr>
            <p:nvPr userDrawn="1"/>
          </p:nvSpPr>
          <p:spPr bwMode="auto">
            <a:xfrm>
              <a:off x="576496" y="990600"/>
              <a:ext cx="8460000" cy="123825"/>
            </a:xfrm>
            <a:prstGeom prst="roundRect">
              <a:avLst>
                <a:gd name="adj" fmla="val 2083"/>
              </a:avLst>
            </a:prstGeom>
            <a:gradFill rotWithShape="0">
              <a:gsLst>
                <a:gs pos="0">
                  <a:srgbClr val="8100A4"/>
                </a:gs>
                <a:gs pos="100000">
                  <a:srgbClr val="FFFFFF">
                    <a:alpha val="50000"/>
                  </a:srgb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/>
            </a:p>
          </p:txBody>
        </p:sp>
        <p:sp>
          <p:nvSpPr>
            <p:cNvPr id="17" name="AutoShape 36"/>
            <p:cNvSpPr>
              <a:spLocks noChangeArrowheads="1"/>
            </p:cNvSpPr>
            <p:nvPr userDrawn="1"/>
          </p:nvSpPr>
          <p:spPr bwMode="auto">
            <a:xfrm>
              <a:off x="403960" y="990600"/>
              <a:ext cx="316800" cy="123825"/>
            </a:xfrm>
            <a:prstGeom prst="ellipse">
              <a:avLst/>
            </a:prstGeom>
            <a:solidFill>
              <a:srgbClr val="8100A4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 dirty="0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000" y="228600"/>
            <a:ext cx="828000" cy="3269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753834"/>
            <a:ext cx="4011084" cy="1162050"/>
          </a:xfrm>
        </p:spPr>
        <p:txBody>
          <a:bodyPr anchor="b"/>
          <a:lstStyle>
            <a:lvl1pPr algn="l">
              <a:defRPr sz="2000" b="1">
                <a:solidFill>
                  <a:srgbClr val="33336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753835"/>
            <a:ext cx="6815667" cy="53641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905000"/>
            <a:ext cx="4011084" cy="42211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000" y="228600"/>
            <a:ext cx="828000" cy="3269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rgbClr val="33669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000" y="228600"/>
            <a:ext cx="828000" cy="3269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134076"/>
            <a:ext cx="10439400" cy="8565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000" y="228600"/>
            <a:ext cx="828000" cy="326933"/>
          </a:xfrm>
          <a:prstGeom prst="rect">
            <a:avLst/>
          </a:prstGeom>
        </p:spPr>
      </p:pic>
      <p:grpSp>
        <p:nvGrpSpPr>
          <p:cNvPr id="12" name="Group 11"/>
          <p:cNvGrpSpPr/>
          <p:nvPr userDrawn="1"/>
        </p:nvGrpSpPr>
        <p:grpSpPr>
          <a:xfrm>
            <a:off x="538613" y="990601"/>
            <a:ext cx="11510048" cy="123825"/>
            <a:chOff x="403960" y="990600"/>
            <a:chExt cx="8632536" cy="123825"/>
          </a:xfrm>
        </p:grpSpPr>
        <p:sp>
          <p:nvSpPr>
            <p:cNvPr id="14" name="AutoShape 36"/>
            <p:cNvSpPr>
              <a:spLocks noChangeArrowheads="1"/>
            </p:cNvSpPr>
            <p:nvPr userDrawn="1"/>
          </p:nvSpPr>
          <p:spPr bwMode="auto">
            <a:xfrm>
              <a:off x="576496" y="990600"/>
              <a:ext cx="8460000" cy="123825"/>
            </a:xfrm>
            <a:prstGeom prst="roundRect">
              <a:avLst>
                <a:gd name="adj" fmla="val 2083"/>
              </a:avLst>
            </a:prstGeom>
            <a:gradFill rotWithShape="0">
              <a:gsLst>
                <a:gs pos="0">
                  <a:srgbClr val="8100A4"/>
                </a:gs>
                <a:gs pos="100000">
                  <a:srgbClr val="FFFFFF">
                    <a:alpha val="50000"/>
                  </a:srgb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/>
            </a:p>
          </p:txBody>
        </p:sp>
        <p:sp>
          <p:nvSpPr>
            <p:cNvPr id="18" name="AutoShape 36"/>
            <p:cNvSpPr>
              <a:spLocks noChangeArrowheads="1"/>
            </p:cNvSpPr>
            <p:nvPr userDrawn="1"/>
          </p:nvSpPr>
          <p:spPr bwMode="auto">
            <a:xfrm>
              <a:off x="403960" y="990600"/>
              <a:ext cx="316800" cy="123825"/>
            </a:xfrm>
            <a:prstGeom prst="ellipse">
              <a:avLst/>
            </a:prstGeom>
            <a:solidFill>
              <a:srgbClr val="8100A4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 dirty="0"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hasCustomPrompt="1"/>
          </p:nvPr>
        </p:nvSpPr>
        <p:spPr>
          <a:xfrm>
            <a:off x="527051" y="2707830"/>
            <a:ext cx="10753525" cy="865187"/>
          </a:xfrm>
        </p:spPr>
        <p:txBody>
          <a:bodyPr wrap="square" rIns="0">
            <a:normAutofit/>
          </a:bodyPr>
          <a:lstStyle>
            <a:lvl1pPr algn="ctr">
              <a:defRPr sz="3600" b="1">
                <a:solidFill>
                  <a:srgbClr val="003399"/>
                </a:solidFill>
              </a:defRPr>
            </a:lvl1pPr>
          </a:lstStyle>
          <a:p>
            <a:r>
              <a:rPr lang="en-US" noProof="0" dirty="0"/>
              <a:t>Click to edit Master title </a:t>
            </a:r>
            <a:r>
              <a:rPr lang="en-US" noProof="0" dirty="0" err="1"/>
              <a:t>styleu</a:t>
            </a:r>
            <a:endParaRPr lang="en-GB" noProof="0" dirty="0"/>
          </a:p>
        </p:txBody>
      </p:sp>
      <p:grpSp>
        <p:nvGrpSpPr>
          <p:cNvPr id="4" name="Group 17"/>
          <p:cNvGrpSpPr/>
          <p:nvPr/>
        </p:nvGrpSpPr>
        <p:grpSpPr>
          <a:xfrm>
            <a:off x="527381" y="980728"/>
            <a:ext cx="11510048" cy="124172"/>
            <a:chOff x="395536" y="980728"/>
            <a:chExt cx="8632536" cy="124172"/>
          </a:xfrm>
        </p:grpSpPr>
        <p:sp>
          <p:nvSpPr>
            <p:cNvPr id="5" name="AutoShape 36"/>
            <p:cNvSpPr>
              <a:spLocks noChangeArrowheads="1"/>
            </p:cNvSpPr>
            <p:nvPr userDrawn="1"/>
          </p:nvSpPr>
          <p:spPr bwMode="auto">
            <a:xfrm>
              <a:off x="568072" y="981075"/>
              <a:ext cx="8460000" cy="123825"/>
            </a:xfrm>
            <a:prstGeom prst="roundRect">
              <a:avLst>
                <a:gd name="adj" fmla="val 2083"/>
              </a:avLst>
            </a:prstGeom>
            <a:gradFill rotWithShape="0">
              <a:gsLst>
                <a:gs pos="0">
                  <a:srgbClr val="BC0000"/>
                </a:gs>
                <a:gs pos="100000">
                  <a:srgbClr val="FFFFFF">
                    <a:alpha val="50000"/>
                  </a:srgb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/>
            </a:p>
          </p:txBody>
        </p:sp>
        <p:sp>
          <p:nvSpPr>
            <p:cNvPr id="16" name="AutoShape 36"/>
            <p:cNvSpPr>
              <a:spLocks noChangeArrowheads="1"/>
            </p:cNvSpPr>
            <p:nvPr userDrawn="1"/>
          </p:nvSpPr>
          <p:spPr bwMode="auto">
            <a:xfrm>
              <a:off x="395536" y="980728"/>
              <a:ext cx="316800" cy="123825"/>
            </a:xfrm>
            <a:prstGeom prst="ellipse">
              <a:avLst/>
            </a:prstGeom>
            <a:solidFill>
              <a:srgbClr val="BC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/>
            </a:p>
          </p:txBody>
        </p:sp>
      </p:grpSp>
      <p:grpSp>
        <p:nvGrpSpPr>
          <p:cNvPr id="6" name="Group 16"/>
          <p:cNvGrpSpPr/>
          <p:nvPr/>
        </p:nvGrpSpPr>
        <p:grpSpPr>
          <a:xfrm>
            <a:off x="527381" y="980728"/>
            <a:ext cx="11510048" cy="124172"/>
            <a:chOff x="395536" y="980728"/>
            <a:chExt cx="8632536" cy="124172"/>
          </a:xfrm>
        </p:grpSpPr>
        <p:sp>
          <p:nvSpPr>
            <p:cNvPr id="18" name="AutoShape 36"/>
            <p:cNvSpPr>
              <a:spLocks noChangeArrowheads="1"/>
            </p:cNvSpPr>
            <p:nvPr userDrawn="1"/>
          </p:nvSpPr>
          <p:spPr bwMode="auto">
            <a:xfrm>
              <a:off x="568072" y="981075"/>
              <a:ext cx="8460000" cy="123825"/>
            </a:xfrm>
            <a:prstGeom prst="roundRect">
              <a:avLst>
                <a:gd name="adj" fmla="val 2083"/>
              </a:avLst>
            </a:prstGeom>
            <a:gradFill rotWithShape="0">
              <a:gsLst>
                <a:gs pos="0">
                  <a:srgbClr val="BC0000"/>
                </a:gs>
                <a:gs pos="100000">
                  <a:srgbClr val="FFFFFF">
                    <a:alpha val="50000"/>
                  </a:srgb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/>
            </a:p>
          </p:txBody>
        </p:sp>
        <p:sp>
          <p:nvSpPr>
            <p:cNvPr id="19" name="AutoShape 36"/>
            <p:cNvSpPr>
              <a:spLocks noChangeArrowheads="1"/>
            </p:cNvSpPr>
            <p:nvPr userDrawn="1"/>
          </p:nvSpPr>
          <p:spPr bwMode="auto">
            <a:xfrm>
              <a:off x="395536" y="980728"/>
              <a:ext cx="316800" cy="123825"/>
            </a:xfrm>
            <a:prstGeom prst="ellipse">
              <a:avLst/>
            </a:prstGeom>
            <a:solidFill>
              <a:srgbClr val="BC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/>
            </a:p>
          </p:txBody>
        </p:sp>
      </p:grpSp>
      <p:sp>
        <p:nvSpPr>
          <p:cNvPr id="32" name="Date Placeholder 3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Open Group</a:t>
            </a:r>
            <a:endParaRPr lang="en-GB" dirty="0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A5585EC-6C3C-4D61-8B0F-73A2C0F035A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34" name="Footer Placeholder 3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Assurance Tool - Integration</a:t>
            </a:r>
            <a:endParaRPr lang="en-GB" dirty="0"/>
          </a:p>
        </p:txBody>
      </p:sp>
      <p:grpSp>
        <p:nvGrpSpPr>
          <p:cNvPr id="7" name="Group 16"/>
          <p:cNvGrpSpPr/>
          <p:nvPr userDrawn="1"/>
        </p:nvGrpSpPr>
        <p:grpSpPr>
          <a:xfrm>
            <a:off x="527381" y="980728"/>
            <a:ext cx="11510048" cy="124172"/>
            <a:chOff x="395536" y="980728"/>
            <a:chExt cx="8632536" cy="124172"/>
          </a:xfrm>
        </p:grpSpPr>
        <p:sp>
          <p:nvSpPr>
            <p:cNvPr id="20" name="AutoShape 36"/>
            <p:cNvSpPr>
              <a:spLocks noChangeArrowheads="1"/>
            </p:cNvSpPr>
            <p:nvPr userDrawn="1"/>
          </p:nvSpPr>
          <p:spPr bwMode="auto">
            <a:xfrm>
              <a:off x="568072" y="981075"/>
              <a:ext cx="8460000" cy="123825"/>
            </a:xfrm>
            <a:prstGeom prst="roundRect">
              <a:avLst>
                <a:gd name="adj" fmla="val 2083"/>
              </a:avLst>
            </a:prstGeom>
            <a:gradFill rotWithShape="0">
              <a:gsLst>
                <a:gs pos="0">
                  <a:srgbClr val="BC0000"/>
                </a:gs>
                <a:gs pos="100000">
                  <a:srgbClr val="FFFFFF">
                    <a:alpha val="50000"/>
                  </a:srgb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/>
            </a:p>
          </p:txBody>
        </p:sp>
        <p:sp>
          <p:nvSpPr>
            <p:cNvPr id="21" name="AutoShape 36"/>
            <p:cNvSpPr>
              <a:spLocks noChangeArrowheads="1"/>
            </p:cNvSpPr>
            <p:nvPr userDrawn="1"/>
          </p:nvSpPr>
          <p:spPr bwMode="auto">
            <a:xfrm>
              <a:off x="395536" y="980728"/>
              <a:ext cx="316800" cy="123825"/>
            </a:xfrm>
            <a:prstGeom prst="ellipse">
              <a:avLst/>
            </a:prstGeom>
            <a:solidFill>
              <a:srgbClr val="BC000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 sz="1800" noProof="0"/>
            </a:p>
          </p:txBody>
        </p:sp>
      </p:grpSp>
      <p:pic>
        <p:nvPicPr>
          <p:cNvPr id="17" name="Imag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4512" y="157518"/>
            <a:ext cx="1440160" cy="76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69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 bwMode="auto">
          <a:xfrm>
            <a:off x="0" y="0"/>
            <a:ext cx="12192000" cy="72000"/>
          </a:xfrm>
          <a:prstGeom prst="rect">
            <a:avLst/>
          </a:prstGeom>
          <a:solidFill>
            <a:srgbClr val="12337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dist="25400" dir="5400000" algn="t" rotWithShape="0">
              <a:srgbClr val="8100A4"/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Verdana" pitchFamily="34" charset="0"/>
            </a:endParaRPr>
          </a:p>
        </p:txBody>
      </p:sp>
      <p:sp>
        <p:nvSpPr>
          <p:cNvPr id="10" name="Rectangle 9"/>
          <p:cNvSpPr/>
          <p:nvPr userDrawn="1"/>
        </p:nvSpPr>
        <p:spPr bwMode="auto">
          <a:xfrm>
            <a:off x="0" y="6597352"/>
            <a:ext cx="12192000" cy="288000"/>
          </a:xfrm>
          <a:prstGeom prst="rect">
            <a:avLst/>
          </a:prstGeom>
          <a:solidFill>
            <a:srgbClr val="123378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dist="38100" dir="16200000" rotWithShape="0">
              <a:srgbClr val="8100A4"/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34076"/>
            <a:ext cx="10058400" cy="856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 rtl="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1"/>
            <a:ext cx="10972800" cy="4754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600" y="6624124"/>
            <a:ext cx="2844800" cy="2338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0" y="6616998"/>
            <a:ext cx="6096000" cy="241002"/>
          </a:xfrm>
          <a:prstGeom prst="rect">
            <a:avLst/>
          </a:prstGeom>
        </p:spPr>
        <p:txBody>
          <a:bodyPr vert="horz" lIns="36000" tIns="45720" rIns="36000" bIns="45720" rtlCol="0" anchor="ctr">
            <a:normAutofit/>
          </a:bodyPr>
          <a:lstStyle>
            <a:lvl1pPr algn="ctr">
              <a:defRPr sz="10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4800" y="6616998"/>
            <a:ext cx="1422400" cy="2410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lang="en-US" sz="3600" b="0" kern="1200" dirty="0">
          <a:solidFill>
            <a:srgbClr val="333366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447675" indent="-447675" algn="l" defTabSz="914400" rtl="0" eaLnBrk="1" latinLnBrk="0" hangingPunct="1">
        <a:spcBef>
          <a:spcPts val="1200"/>
        </a:spcBef>
        <a:buClr>
          <a:srgbClr val="0E2674"/>
        </a:buClr>
        <a:buFont typeface="Wingdings" pitchFamily="2" charset="2"/>
        <a:buChar char=""/>
        <a:defRPr lang="en-US" sz="3000" kern="1200" noProof="0" dirty="0" smtClean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803275" indent="-346075" algn="l" defTabSz="914400" rtl="0" eaLnBrk="1" latinLnBrk="0" hangingPunct="1">
        <a:spcBef>
          <a:spcPts val="600"/>
        </a:spcBef>
        <a:buClr>
          <a:srgbClr val="0500DA"/>
        </a:buClr>
        <a:buFont typeface="Wingdings" pitchFamily="2" charset="2"/>
        <a:buChar char=""/>
        <a:defRPr sz="2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1260475" indent="-346075" algn="l" defTabSz="914400" rtl="0" eaLnBrk="1" latinLnBrk="0" hangingPunct="1">
        <a:spcBef>
          <a:spcPts val="500"/>
        </a:spcBef>
        <a:buClr>
          <a:srgbClr val="FF6600"/>
        </a:buClr>
        <a:buSzPct val="110000"/>
        <a:buFont typeface="Verdana" pitchFamily="34" charset="0"/>
        <a:buChar char="●"/>
        <a:defRPr sz="24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706563" indent="-334963" algn="l" defTabSz="914400" rtl="0" eaLnBrk="1" latinLnBrk="0" hangingPunct="1">
        <a:spcBef>
          <a:spcPts val="400"/>
        </a:spcBef>
        <a:buClr>
          <a:srgbClr val="0E2674"/>
        </a:buClr>
        <a:buSzPct val="95000"/>
        <a:buFont typeface="Wingdings" pitchFamily="2" charset="2"/>
        <a:buChar char=""/>
        <a:defRPr sz="20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2154238" indent="-325438" algn="l" defTabSz="914400" rtl="0" eaLnBrk="1" latinLnBrk="0" hangingPunct="1">
        <a:spcBef>
          <a:spcPts val="300"/>
        </a:spcBef>
        <a:buClr>
          <a:srgbClr val="0500DA"/>
        </a:buClr>
        <a:buFont typeface="Wingdings" pitchFamily="2" charset="2"/>
        <a:buChar char=""/>
        <a:defRPr sz="18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Assurance Tool</a:t>
            </a:r>
            <a:br>
              <a:rPr lang="en-GB" dirty="0"/>
            </a:br>
            <a:r>
              <a:rPr lang="en-GB" dirty="0"/>
              <a:t>Open Evidential Tool Bus (O-ETB)</a:t>
            </a:r>
            <a:br>
              <a:rPr lang="en-GB" dirty="0"/>
            </a:br>
            <a:r>
              <a:rPr lang="en-GB" dirty="0"/>
              <a:t>consolidated integration workshops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Rance</a:t>
            </a:r>
            <a:r>
              <a:rPr lang="en-GB" dirty="0"/>
              <a:t> DeLong</a:t>
            </a:r>
          </a:p>
          <a:p>
            <a:r>
              <a:rPr lang="en-GB" dirty="0"/>
              <a:t>The Open Group</a:t>
            </a:r>
          </a:p>
          <a:p>
            <a:r>
              <a:rPr lang="en-GB" dirty="0"/>
              <a:t>February-May 2025</a:t>
            </a:r>
          </a:p>
        </p:txBody>
      </p:sp>
    </p:spTree>
    <p:extLst>
      <p:ext uri="{BB962C8B-B14F-4D97-AF65-F5344CB8AC3E}">
        <p14:creationId xmlns:p14="http://schemas.microsoft.com/office/powerpoint/2010/main" val="3943859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GB" dirty="0">
                <a:ea typeface="ＭＳ Ｐゴシック" pitchFamily="116" charset="-128"/>
              </a:rPr>
              <a:t>a Goal Structure (goal decomposition)</a:t>
            </a:r>
          </a:p>
          <a:p>
            <a:pPr>
              <a:buNone/>
            </a:pPr>
            <a:endParaRPr lang="en-GB" sz="2800" dirty="0">
              <a:ea typeface="ＭＳ Ｐゴシック" pitchFamily="116" charset="-128"/>
            </a:endParaRPr>
          </a:p>
          <a:p>
            <a:pPr>
              <a:buNone/>
            </a:pPr>
            <a:endParaRPr lang="en-GB" sz="1100" dirty="0">
              <a:ea typeface="ＭＳ Ｐゴシック" pitchFamily="116" charset="-128"/>
            </a:endParaRPr>
          </a:p>
          <a:p>
            <a:pPr>
              <a:buNone/>
            </a:pPr>
            <a:r>
              <a:rPr lang="en-GB" sz="2800" dirty="0">
                <a:ea typeface="ＭＳ Ｐゴシック" pitchFamily="116" charset="-128"/>
              </a:rPr>
              <a:t>shows how </a:t>
            </a:r>
            <a:r>
              <a:rPr lang="en-GB" sz="2800" dirty="0">
                <a:solidFill>
                  <a:schemeClr val="hlink"/>
                </a:solidFill>
                <a:ea typeface="ＭＳ Ｐゴシック" pitchFamily="116" charset="-128"/>
              </a:rPr>
              <a:t>goals</a:t>
            </a:r>
            <a:r>
              <a:rPr lang="en-GB" sz="2800" dirty="0">
                <a:ea typeface="ＭＳ Ｐゴシック" pitchFamily="116" charset="-128"/>
              </a:rPr>
              <a:t>	             are broken down into sub-goals,</a:t>
            </a:r>
          </a:p>
          <a:p>
            <a:pPr>
              <a:buNone/>
            </a:pPr>
            <a:endParaRPr lang="en-GB" sz="2800" dirty="0">
              <a:ea typeface="ＭＳ Ｐゴシック" pitchFamily="116" charset="-128"/>
            </a:endParaRPr>
          </a:p>
          <a:p>
            <a:pPr>
              <a:buNone/>
            </a:pPr>
            <a:r>
              <a:rPr lang="en-GB" sz="2800" dirty="0">
                <a:ea typeface="ＭＳ Ｐゴシック" pitchFamily="116" charset="-128"/>
              </a:rPr>
              <a:t>and eventually supported by evidence (</a:t>
            </a:r>
            <a:r>
              <a:rPr lang="en-GB" sz="2800" dirty="0">
                <a:solidFill>
                  <a:schemeClr val="hlink"/>
                </a:solidFill>
                <a:ea typeface="ＭＳ Ｐゴシック" pitchFamily="116" charset="-128"/>
              </a:rPr>
              <a:t>solutions</a:t>
            </a:r>
            <a:r>
              <a:rPr lang="en-GB" sz="2800" dirty="0">
                <a:ea typeface="ＭＳ Ｐゴシック" pitchFamily="116" charset="-128"/>
              </a:rPr>
              <a:t>)</a:t>
            </a:r>
          </a:p>
          <a:p>
            <a:pPr>
              <a:buNone/>
            </a:pPr>
            <a:endParaRPr lang="en-GB" sz="2800" i="1" dirty="0">
              <a:ea typeface="ＭＳ Ｐゴシック" pitchFamily="116" charset="-128"/>
            </a:endParaRPr>
          </a:p>
          <a:p>
            <a:pPr>
              <a:buNone/>
            </a:pPr>
            <a:r>
              <a:rPr lang="en-GB" sz="2800" dirty="0">
                <a:ea typeface="ＭＳ Ｐゴシック" pitchFamily="116" charset="-128"/>
              </a:rPr>
              <a:t>whilst  making clear the </a:t>
            </a:r>
            <a:r>
              <a:rPr lang="en-GB" sz="2800" dirty="0">
                <a:solidFill>
                  <a:schemeClr val="hlink"/>
                </a:solidFill>
                <a:ea typeface="ＭＳ Ｐゴシック" pitchFamily="116" charset="-128"/>
              </a:rPr>
              <a:t>strategies</a:t>
            </a:r>
            <a:r>
              <a:rPr lang="en-GB" sz="2800" dirty="0">
                <a:ea typeface="ＭＳ Ｐゴシック" pitchFamily="116" charset="-128"/>
              </a:rPr>
              <a:t>		    adopted, the</a:t>
            </a:r>
          </a:p>
          <a:p>
            <a:pPr>
              <a:buNone/>
            </a:pPr>
            <a:endParaRPr lang="en-GB" sz="2800" dirty="0">
              <a:ea typeface="ＭＳ Ｐゴシック" pitchFamily="116" charset="-128"/>
            </a:endParaRPr>
          </a:p>
          <a:p>
            <a:pPr>
              <a:buNone/>
            </a:pPr>
            <a:r>
              <a:rPr lang="en-GB" sz="2800" dirty="0">
                <a:ea typeface="ＭＳ Ｐゴシック" pitchFamily="116" charset="-128"/>
              </a:rPr>
              <a:t>rationale for the approach (</a:t>
            </a:r>
            <a:r>
              <a:rPr lang="en-GB" sz="2800" dirty="0">
                <a:solidFill>
                  <a:schemeClr val="hlink"/>
                </a:solidFill>
                <a:ea typeface="ＭＳ Ｐゴシック" pitchFamily="116" charset="-128"/>
              </a:rPr>
              <a:t>assumptions</a:t>
            </a:r>
            <a:r>
              <a:rPr lang="en-GB" sz="2800" dirty="0">
                <a:solidFill>
                  <a:srgbClr val="0000FF"/>
                </a:solidFill>
                <a:ea typeface="ＭＳ Ｐゴシック" pitchFamily="116" charset="-128"/>
              </a:rPr>
              <a:t>, </a:t>
            </a:r>
            <a:r>
              <a:rPr lang="en-GB" sz="2800" dirty="0">
                <a:solidFill>
                  <a:schemeClr val="hlink"/>
                </a:solidFill>
                <a:ea typeface="ＭＳ Ｐゴシック" pitchFamily="116" charset="-128"/>
              </a:rPr>
              <a:t>justifications</a:t>
            </a:r>
            <a:r>
              <a:rPr lang="en-GB" sz="2800" dirty="0">
                <a:ea typeface="ＭＳ Ｐゴシック" pitchFamily="116" charset="-128"/>
              </a:rPr>
              <a:t>)</a:t>
            </a:r>
          </a:p>
          <a:p>
            <a:pPr>
              <a:buNone/>
            </a:pPr>
            <a:endParaRPr lang="en-GB" sz="2800" dirty="0">
              <a:ea typeface="ＭＳ Ｐゴシック" pitchFamily="116" charset="-128"/>
            </a:endParaRPr>
          </a:p>
          <a:p>
            <a:pPr>
              <a:buNone/>
            </a:pPr>
            <a:r>
              <a:rPr lang="en-GB" sz="2800" dirty="0">
                <a:ea typeface="ＭＳ Ｐゴシック" pitchFamily="116" charset="-128"/>
              </a:rPr>
              <a:t>and the </a:t>
            </a:r>
            <a:r>
              <a:rPr lang="en-GB" sz="2800" dirty="0">
                <a:solidFill>
                  <a:schemeClr val="hlink"/>
                </a:solidFill>
                <a:ea typeface="ＭＳ Ｐゴシック" pitchFamily="116" charset="-128"/>
              </a:rPr>
              <a:t>context</a:t>
            </a:r>
            <a:r>
              <a:rPr lang="en-GB" sz="2800" dirty="0">
                <a:ea typeface="ＭＳ Ｐゴシック" pitchFamily="116" charset="-128"/>
              </a:rPr>
              <a:t>	          in which goals or strategies are stated </a:t>
            </a:r>
          </a:p>
          <a:p>
            <a:endParaRPr lang="en-GB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The Goal </a:t>
            </a:r>
            <a:r>
              <a:rPr lang="fr-FR" dirty="0" err="1"/>
              <a:t>Structuring</a:t>
            </a:r>
            <a:r>
              <a:rPr lang="fr-FR" dirty="0"/>
              <a:t> Notation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527276" y="2224434"/>
            <a:ext cx="990600" cy="609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7848600" y="3009900"/>
            <a:ext cx="8382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5791200" y="3848100"/>
            <a:ext cx="1447800" cy="609600"/>
          </a:xfrm>
          <a:prstGeom prst="parallelogram">
            <a:avLst>
              <a:gd name="adj" fmla="val 5937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Oval 7"/>
          <p:cNvSpPr>
            <a:spLocks noChangeArrowheads="1"/>
          </p:cNvSpPr>
          <p:nvPr/>
        </p:nvSpPr>
        <p:spPr bwMode="auto">
          <a:xfrm>
            <a:off x="8686800" y="4732313"/>
            <a:ext cx="9906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9984433" y="4921226"/>
            <a:ext cx="725487" cy="3079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762000">
              <a:spcBef>
                <a:spcPct val="50000"/>
              </a:spcBef>
            </a:pPr>
            <a:r>
              <a:rPr lang="en-GB" sz="1400" b="1" dirty="0"/>
              <a:t>A/J</a:t>
            </a: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3088256"/>
              </p:ext>
            </p:extLst>
          </p:nvPr>
        </p:nvGraphicFramePr>
        <p:xfrm>
          <a:off x="3048000" y="5618312"/>
          <a:ext cx="12287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5" name="VISIO" r:id="rId3" imgW="3834384" imgH="1865376" progId="Visio.Drawing.5">
                  <p:embed/>
                </p:oleObj>
              </mc:Choice>
              <mc:Fallback>
                <p:oleObj name="VISIO" r:id="rId3" imgW="3834384" imgH="1865376" progId="Visio.Drawing.5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618312"/>
                        <a:ext cx="1228725" cy="5937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663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FC1956-5C32-A64A-B9A3-DDB172A1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EC175E-F851-AF41-82B2-7D1FFFE84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601E1-A072-4243-946C-BBE148C3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E13D22-69C5-2941-8807-3B7F70C06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10668000" cy="914401"/>
          </a:xfrm>
        </p:spPr>
        <p:txBody>
          <a:bodyPr>
            <a:noAutofit/>
          </a:bodyPr>
          <a:lstStyle/>
          <a:p>
            <a:r>
              <a:rPr lang="en-US" sz="2800" dirty="0"/>
              <a:t>Notional modular AC Pattern for IoMT System Properties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A73F7E-115A-A34F-A40E-84FB5BDF3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252453"/>
            <a:ext cx="7708900" cy="514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07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8C937-E331-7E4D-9F10-2A1FBFAD8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Six-Step 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20A3B-9786-744D-8D65-AF764AEE8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4343401"/>
            <a:ext cx="11277600" cy="1500187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dirty="0"/>
              <a:t>Summary of Tim Kelly’s goal structuring method:</a:t>
            </a:r>
          </a:p>
          <a:p>
            <a:pPr algn="l"/>
            <a:r>
              <a:rPr lang="en-US" dirty="0"/>
              <a:t>+ Arguing Safety – A Systematic Approach to Managing Safety Cases, Sept 1998</a:t>
            </a:r>
          </a:p>
          <a:p>
            <a:pPr algn="l"/>
            <a:r>
              <a:rPr lang="en-US" dirty="0"/>
              <a:t>+ Managing Complex Safety Cases, April 2003</a:t>
            </a:r>
          </a:p>
          <a:p>
            <a:pPr algn="l"/>
            <a:r>
              <a:rPr lang="en-US" dirty="0"/>
              <a:t>See: Internal/WPs/WP3/</a:t>
            </a:r>
            <a:r>
              <a:rPr lang="en-US" dirty="0" err="1"/>
              <a:t>AssuranceWork</a:t>
            </a:r>
            <a:r>
              <a:rPr lang="en-US" dirty="0"/>
              <a:t>/References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CF864-2BCB-C544-8980-497AF611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B3D63-1DA8-B14D-B74C-085D46C2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0462B-E2BE-7D4F-9ED8-16AB79BA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376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ABABC2-3945-C741-8E2C-6FE2A8E03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6" y="1254662"/>
            <a:ext cx="6092414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Step 1 – Identify goals</a:t>
            </a:r>
          </a:p>
          <a:p>
            <a:r>
              <a:rPr lang="en-US" dirty="0"/>
              <a:t>Step 2 – Define basis on which goals stated</a:t>
            </a:r>
          </a:p>
          <a:p>
            <a:r>
              <a:rPr lang="en-US" dirty="0"/>
              <a:t>Step 3 – Identify strategy to support goals</a:t>
            </a:r>
          </a:p>
          <a:p>
            <a:r>
              <a:rPr lang="en-US" dirty="0"/>
              <a:t>Step 4 – Define basis on which strategy stated</a:t>
            </a:r>
          </a:p>
          <a:p>
            <a:r>
              <a:rPr lang="en-US" dirty="0"/>
              <a:t>Step 5 – Elaborate strategy and loop back to Step 1</a:t>
            </a:r>
          </a:p>
          <a:p>
            <a:pPr marL="0" indent="0">
              <a:buNone/>
            </a:pPr>
            <a:r>
              <a:rPr lang="en-US" dirty="0"/>
              <a:t>	OR</a:t>
            </a:r>
          </a:p>
          <a:p>
            <a:r>
              <a:rPr lang="en-US" dirty="0"/>
              <a:t>Step 6 – Identify basic solution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7AEAB-772C-EA4A-863F-968B5E9E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ACC5A9-D0A4-7549-AC3A-F6411843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8F9ED0-9087-9043-B16E-2C7C2BB6C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B8BF8D1-21E4-014C-9B86-6AAE1538E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Six-step method for GSN construction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481355-9F0B-E040-84AF-4E93C5F62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368962"/>
            <a:ext cx="63246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34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CF9ECF-7A82-1C4D-A3D8-FB94CDAE7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1353800" cy="5105400"/>
          </a:xfrm>
        </p:spPr>
        <p:txBody>
          <a:bodyPr/>
          <a:lstStyle/>
          <a:p>
            <a:r>
              <a:rPr lang="en-US" dirty="0"/>
              <a:t>States the objectives of the argument</a:t>
            </a:r>
          </a:p>
          <a:p>
            <a:pPr lvl="1"/>
            <a:r>
              <a:rPr lang="en-US" dirty="0"/>
              <a:t>Recommended form: &lt;noun phrase&gt;&lt;verb phrase&gt;</a:t>
            </a:r>
          </a:p>
          <a:p>
            <a:pPr lvl="1"/>
            <a:r>
              <a:rPr lang="en-US" dirty="0"/>
              <a:t>A statement that can be evaluated T/F as a predicate</a:t>
            </a:r>
          </a:p>
          <a:p>
            <a:r>
              <a:rPr lang="en-US" dirty="0"/>
              <a:t>Top-level requirements</a:t>
            </a:r>
          </a:p>
          <a:p>
            <a:pPr lvl="1"/>
            <a:r>
              <a:rPr lang="en-US" dirty="0"/>
              <a:t>Functional and/or non-functional properties</a:t>
            </a:r>
          </a:p>
          <a:p>
            <a:pPr lvl="1"/>
            <a:r>
              <a:rPr lang="en-US" dirty="0"/>
              <a:t>Mandatory standards and regulations compliance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9D4A2C-8EBF-7A46-BDC1-A2B775DDA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CF2937-790C-2D45-B330-B08A584D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EA5451-E78C-A646-A640-292445B56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2C59EB6-951A-A64F-BA2D-2B0F644A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1: Identify Goals to be supported by the AC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9C5197-F6F4-B545-AEB3-CD9DA309F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381649"/>
            <a:ext cx="38862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35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E33E408-E1CF-F84A-B3C0-CE8089EFA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1353800" cy="2761474"/>
          </a:xfrm>
        </p:spPr>
        <p:txBody>
          <a:bodyPr/>
          <a:lstStyle/>
          <a:p>
            <a:r>
              <a:rPr lang="en-US" dirty="0"/>
              <a:t>Elaborate and clarify context of each goal as necessary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78FCBB-C82E-6945-B364-19A3E72D6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EE65D-4180-1B45-A25F-F574DDEB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D0736-D6D3-9B4B-AD9A-C7AE4BB8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F81E68-75FA-FB4F-AEB7-DC077E77C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Basis of goals stated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2AF0D1-4E28-734E-93DA-F0A0C6FCF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168536"/>
            <a:ext cx="8039100" cy="233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34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6A281E-DB62-CA42-8CCD-1D38CEA53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5CF340-BA6A-0141-B2FD-B7E851051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6C83D-E566-0C4E-8AE5-9E35C4F26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9CDB8D-6F00-D24D-9A43-BF33A042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Identify Strategy to support goals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3A4FE09-BF5F-B347-A21E-FAE9DF6ED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1447800"/>
          </a:xfrm>
        </p:spPr>
        <p:txBody>
          <a:bodyPr/>
          <a:lstStyle/>
          <a:p>
            <a:r>
              <a:rPr lang="en-US" dirty="0"/>
              <a:t>For each goal</a:t>
            </a:r>
          </a:p>
          <a:p>
            <a:r>
              <a:rPr lang="en-US" dirty="0"/>
              <a:t>Example with two strategies (two legs of the AC)</a:t>
            </a:r>
          </a:p>
        </p:txBody>
      </p:sp>
      <p:pic>
        <p:nvPicPr>
          <p:cNvPr id="17" name="Picture 16" descr="A diagram of a diagram&#10;&#10;Description automatically generated">
            <a:extLst>
              <a:ext uri="{FF2B5EF4-FFF2-40B4-BE49-F238E27FC236}">
                <a16:creationId xmlns:a16="http://schemas.microsoft.com/office/drawing/2014/main" id="{46A4EF13-366E-A44C-ADE6-F269A5594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150" y="2514600"/>
            <a:ext cx="82677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08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17A62A-CC9A-7D47-8481-EFCAC02B6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1201400" cy="13716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Is further Context information or Justification needed?</a:t>
            </a:r>
          </a:p>
          <a:p>
            <a:pPr lvl="1"/>
            <a:r>
              <a:rPr lang="en-US" dirty="0"/>
              <a:t>C4 could refer to Hazard Log for press</a:t>
            </a:r>
          </a:p>
          <a:p>
            <a:pPr lvl="1"/>
            <a:r>
              <a:rPr lang="en-US" dirty="0"/>
              <a:t>C5 could refer to documents or contracts that specify applicable standards and regulations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6B7B1F-D986-2148-89BE-8B7C18C6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0B4E5-80D1-6B41-8DF3-12A2C1C9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CBFEF-A9A1-4544-B119-1BDECBEC7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A334E83-9D00-AB45-B4DD-61245D3E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Basis of strategy applied </a:t>
            </a:r>
          </a:p>
        </p:txBody>
      </p:sp>
      <p:pic>
        <p:nvPicPr>
          <p:cNvPr id="9" name="Picture 8" descr="A diagram of a plant&#10;&#10;Description automatically generated">
            <a:extLst>
              <a:ext uri="{FF2B5EF4-FFF2-40B4-BE49-F238E27FC236}">
                <a16:creationId xmlns:a16="http://schemas.microsoft.com/office/drawing/2014/main" id="{6513ED5B-C35C-3141-AEDC-FEA5D5869A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911" y="2667000"/>
            <a:ext cx="9352178" cy="3867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62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6EB67D-B848-A34C-9372-8A0AC0A6F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1277600" cy="914400"/>
          </a:xfrm>
        </p:spPr>
        <p:txBody>
          <a:bodyPr>
            <a:normAutofit/>
          </a:bodyPr>
          <a:lstStyle/>
          <a:p>
            <a:r>
              <a:rPr lang="en-US" sz="2800" dirty="0"/>
              <a:t>Identified context may clarify or guide strategy elaboration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BB917-27C1-3240-8550-CCF12C6F4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29897A-74D6-594E-B972-13A7FDB6B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9E315-E52D-7244-9455-DC81E9989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7E33969-3157-CD4F-A077-243D5E18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Elaborate Strategy</a:t>
            </a:r>
          </a:p>
        </p:txBody>
      </p:sp>
      <p:pic>
        <p:nvPicPr>
          <p:cNvPr id="8" name="Picture 7" descr="A diagram of a safety system&#10;&#10;Description automatically generated">
            <a:extLst>
              <a:ext uri="{FF2B5EF4-FFF2-40B4-BE49-F238E27FC236}">
                <a16:creationId xmlns:a16="http://schemas.microsoft.com/office/drawing/2014/main" id="{4D252EA3-15D0-D841-8A9D-7A3DC75EE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388" y="1885834"/>
            <a:ext cx="9528812" cy="46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023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9C612A-2E2A-2D43-9012-3AEE50ED7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133600"/>
            <a:ext cx="6477000" cy="37338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For a case of typical complexity, iterative refinement is performed until direct reference to evidence is possible</a:t>
            </a:r>
          </a:p>
          <a:p>
            <a:endParaRPr lang="en-US" dirty="0"/>
          </a:p>
          <a:p>
            <a:r>
              <a:rPr lang="en-US" dirty="0"/>
              <a:t>Evidence is a direct Solution to a low-level goal, e.g. G8 is solved by direct reference to the design in Sn10.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4252CE-06B7-6840-80DE-2A7845617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A81047-7027-CA49-A7B8-F9E1CFA6B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77CDC-3283-5A48-A70E-0A98E1227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0E17BC-198E-C74D-BFC5-00502949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Step 6: Identify basic solution OR Refine</a:t>
            </a:r>
          </a:p>
        </p:txBody>
      </p:sp>
      <p:pic>
        <p:nvPicPr>
          <p:cNvPr id="8" name="Picture 7" descr="A diagram of safety cage&#10;&#10;Description automatically generated">
            <a:extLst>
              <a:ext uri="{FF2B5EF4-FFF2-40B4-BE49-F238E27FC236}">
                <a16:creationId xmlns:a16="http://schemas.microsoft.com/office/drawing/2014/main" id="{115DDBF8-12D0-914F-A9C9-776FFB30A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1879899"/>
            <a:ext cx="44704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62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Complete Simple GSN </a:t>
            </a:r>
            <a:r>
              <a:rPr lang="fr-FR" dirty="0" err="1"/>
              <a:t>Example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583937"/>
              </p:ext>
            </p:extLst>
          </p:nvPr>
        </p:nvGraphicFramePr>
        <p:xfrm>
          <a:off x="2438400" y="1122059"/>
          <a:ext cx="7391400" cy="53802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Visio" r:id="rId3" imgW="8420100" imgH="6134100" progId="Visio.Drawing.11">
                  <p:embed/>
                </p:oleObj>
              </mc:Choice>
              <mc:Fallback>
                <p:oleObj name="Visio" r:id="rId3" imgW="8420100" imgH="6134100" progId="Visio.Drawing.11">
                  <p:embed/>
                  <p:pic>
                    <p:nvPicPr>
                      <p:cNvPr id="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122059"/>
                        <a:ext cx="7391400" cy="53802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6674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938D2-22A2-BC4C-A596-AABD511E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Architecture-guided</a:t>
            </a:r>
            <a:br>
              <a:rPr lang="en-US" dirty="0"/>
            </a:br>
            <a:r>
              <a:rPr lang="en-US" dirty="0"/>
              <a:t>Assurance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B1E8A-1644-E441-813B-4D9FC9A2A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Bate, Kelly, Architectural considerations in the certification of modular </a:t>
            </a:r>
            <a:r>
              <a:rPr lang="en-US" dirty="0" err="1"/>
              <a:t>sysems</a:t>
            </a:r>
            <a:r>
              <a:rPr lang="en-US" dirty="0"/>
              <a:t>, 2003</a:t>
            </a:r>
          </a:p>
          <a:p>
            <a:r>
              <a:rPr lang="en-US" dirty="0"/>
              <a:t>(See: Internal/WPs/WP3/</a:t>
            </a:r>
            <a:r>
              <a:rPr lang="en-US" dirty="0" err="1"/>
              <a:t>AssuranceWork</a:t>
            </a:r>
            <a:r>
              <a:rPr lang="en-US" dirty="0"/>
              <a:t>/References)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FE00E3-DDB3-F949-BA03-D5E6044C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07932-D2E5-5E43-8209-C3F8CF33C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25D74-DF44-E043-9813-3A5EECF97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399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AB130C-8677-AD47-857E-BDD284C33D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95400"/>
            <a:ext cx="5105400" cy="51054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Develop assurance argument hand-in-hand with developing design</a:t>
            </a:r>
          </a:p>
          <a:p>
            <a:endParaRPr lang="en-US" sz="2400" dirty="0"/>
          </a:p>
          <a:p>
            <a:r>
              <a:rPr lang="en-US" sz="2400" dirty="0"/>
              <a:t>Mutually beneficial</a:t>
            </a:r>
          </a:p>
          <a:p>
            <a:pPr lvl="1"/>
            <a:r>
              <a:rPr lang="en-US" sz="2200" dirty="0"/>
              <a:t>Integrated result</a:t>
            </a:r>
          </a:p>
          <a:p>
            <a:pPr lvl="1"/>
            <a:r>
              <a:rPr lang="en-US" sz="2200" dirty="0"/>
              <a:t>Highlight trade-offs</a:t>
            </a:r>
          </a:p>
          <a:p>
            <a:endParaRPr lang="en-US" sz="2400" dirty="0"/>
          </a:p>
          <a:p>
            <a:r>
              <a:rPr lang="en-US" sz="2400" dirty="0"/>
              <a:t>Assurance can influence design choices</a:t>
            </a:r>
          </a:p>
          <a:p>
            <a:pPr lvl="1"/>
            <a:r>
              <a:rPr lang="en-US" sz="2200" dirty="0"/>
              <a:t>Choices that are not practically </a:t>
            </a:r>
            <a:r>
              <a:rPr lang="en-US" sz="2200" dirty="0" err="1"/>
              <a:t>assurable</a:t>
            </a:r>
            <a:r>
              <a:rPr lang="en-US" sz="2200" dirty="0"/>
              <a:t> may be avoided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E8B4D-4AB8-534C-895B-834A4FA8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D45AC5-B4A1-0047-A581-C0048414F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A149D-0942-2C40-9E3F-EBFA9746C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DD3057-B109-0E43-BD27-BBD3AA19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833"/>
            <a:ext cx="10363200" cy="856525"/>
          </a:xfrm>
        </p:spPr>
        <p:txBody>
          <a:bodyPr>
            <a:noAutofit/>
          </a:bodyPr>
          <a:lstStyle/>
          <a:p>
            <a:r>
              <a:rPr lang="en-US" sz="2400" dirty="0"/>
              <a:t>IoMT systems are modular</a:t>
            </a:r>
            <a:br>
              <a:rPr lang="en-US" sz="2400" dirty="0"/>
            </a:br>
            <a:r>
              <a:rPr lang="en-US" sz="2400" dirty="0"/>
              <a:t>and the AC should be modular</a:t>
            </a:r>
          </a:p>
        </p:txBody>
      </p:sp>
      <p:pic>
        <p:nvPicPr>
          <p:cNvPr id="9" name="Picture 8" descr="A diagram of a diagram&#10;&#10;Description automatically generated">
            <a:extLst>
              <a:ext uri="{FF2B5EF4-FFF2-40B4-BE49-F238E27FC236}">
                <a16:creationId xmlns:a16="http://schemas.microsoft.com/office/drawing/2014/main" id="{5E049C09-CC67-2843-B836-5CDCC9773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85125"/>
            <a:ext cx="5740400" cy="632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096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E26AE-3F4C-2348-AFEA-D919FD60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Collection</a:t>
            </a:r>
            <a:br>
              <a:rPr lang="en-US" dirty="0"/>
            </a:br>
            <a:r>
              <a:rPr lang="en-US" dirty="0"/>
              <a:t>for IoMT Assurance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C86E9-98C1-3B4E-BBEF-5008C451D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Outline questionnaire for</a:t>
            </a:r>
            <a:br>
              <a:rPr lang="en-US" dirty="0"/>
            </a:br>
            <a:r>
              <a:rPr lang="en-US" dirty="0"/>
              <a:t>Methodology, Tool and Use Case partners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4D6DA-12B5-9347-89E5-5A10A408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EA1A3-FC06-0A40-866A-6A96768B5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82CCE-E3F2-7046-868E-287519111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896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FB5371-7686-504B-9B09-A6F16A018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9200"/>
            <a:ext cx="11506200" cy="532159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Identify key security/safety + other key properties (Goals)</a:t>
            </a:r>
          </a:p>
          <a:p>
            <a:r>
              <a:rPr lang="en-US" dirty="0"/>
              <a:t>Identify the assurance strategies (Strategy), as AC patterns</a:t>
            </a:r>
          </a:p>
          <a:p>
            <a:r>
              <a:rPr lang="en-US" dirty="0"/>
              <a:t>Identify the evidence categories and metrics (solution type)</a:t>
            </a:r>
          </a:p>
          <a:p>
            <a:r>
              <a:rPr lang="en-US" dirty="0"/>
              <a:t>Identify the evidence generating assurance activities and tools (Solutions), referencing these in strategies (patterns)</a:t>
            </a:r>
          </a:p>
          <a:p>
            <a:r>
              <a:rPr lang="en-US" dirty="0"/>
              <a:t>Model the HW components, architecture and comp rules</a:t>
            </a:r>
          </a:p>
          <a:p>
            <a:r>
              <a:rPr lang="en-US" dirty="0"/>
              <a:t>Model the SW components, architecture and comp rules</a:t>
            </a:r>
          </a:p>
          <a:p>
            <a:r>
              <a:rPr lang="en-US" dirty="0"/>
              <a:t>Identify key dependencies of SW on HW platform</a:t>
            </a:r>
          </a:p>
          <a:p>
            <a:r>
              <a:rPr lang="en-US" dirty="0"/>
              <a:t>Demonstrate (once-and-for-all) validity of comp rules with obligations on components</a:t>
            </a:r>
          </a:p>
          <a:p>
            <a:r>
              <a:rPr lang="en-US" dirty="0"/>
              <a:t>Demonstrate that the HW composition satisfies SW’s deps</a:t>
            </a:r>
          </a:p>
          <a:p>
            <a:r>
              <a:rPr lang="en-US" dirty="0"/>
              <a:t>Demonstrate that the composed HW+SW satisfies requirements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57D24-E170-564D-B381-A218A4655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E00A9-D2ED-F947-AE43-4A4292A82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5329A-375D-A44D-91EF-5EBB44F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7E60DF4-DDE9-0346-BA30-99C1A374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Toward systematic assurance for IoMT</a:t>
            </a:r>
          </a:p>
        </p:txBody>
      </p:sp>
    </p:spTree>
    <p:extLst>
      <p:ext uri="{BB962C8B-B14F-4D97-AF65-F5344CB8AC3E}">
        <p14:creationId xmlns:p14="http://schemas.microsoft.com/office/powerpoint/2010/main" val="4155810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3F252C-BD83-A54D-906E-146470D89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117348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Preliminary goal structure</a:t>
            </a:r>
          </a:p>
          <a:p>
            <a:pPr lvl="1"/>
            <a:r>
              <a:rPr lang="en-US" sz="2400" dirty="0"/>
              <a:t>Well-formed high-level goals from system/generic requirements (true/false)</a:t>
            </a:r>
          </a:p>
          <a:p>
            <a:pPr lvl="1"/>
            <a:r>
              <a:rPr lang="en-US" sz="2400" dirty="0"/>
              <a:t>Well-formed and justifiable strategies for generic goals</a:t>
            </a:r>
          </a:p>
          <a:p>
            <a:pPr lvl="1"/>
            <a:r>
              <a:rPr lang="en-US" sz="2400" dirty="0"/>
              <a:t>Generic evidence categories and generating assurance activity/analysis tool</a:t>
            </a:r>
          </a:p>
          <a:p>
            <a:r>
              <a:rPr lang="en-US" sz="2800" dirty="0"/>
              <a:t>Interim goal structure</a:t>
            </a:r>
          </a:p>
          <a:p>
            <a:pPr lvl="1"/>
            <a:r>
              <a:rPr lang="en-US" sz="2600" dirty="0"/>
              <a:t>Based on a specific design or specific architectural pattern</a:t>
            </a:r>
          </a:p>
          <a:p>
            <a:pPr lvl="1"/>
            <a:r>
              <a:rPr lang="en-US" sz="2600" dirty="0"/>
              <a:t>Refine decomposition of goal structure according to design/arch</a:t>
            </a:r>
          </a:p>
          <a:p>
            <a:pPr lvl="1"/>
            <a:r>
              <a:rPr lang="en-US" sz="2600" dirty="0"/>
              <a:t>Preliminary assessment of adequacy of assurance activities, design tradeoffs</a:t>
            </a:r>
          </a:p>
          <a:p>
            <a:pPr lvl="1"/>
            <a:r>
              <a:rPr lang="en-US" sz="2600" dirty="0"/>
              <a:t>Solidification of AC patterns</a:t>
            </a:r>
          </a:p>
          <a:p>
            <a:r>
              <a:rPr lang="en-US" sz="2800" dirty="0"/>
              <a:t>Complete assurance case</a:t>
            </a:r>
          </a:p>
          <a:p>
            <a:pPr lvl="1"/>
            <a:r>
              <a:rPr lang="en-US" sz="2600" dirty="0"/>
              <a:t>Based on final design and configuration-controlled implementation</a:t>
            </a:r>
          </a:p>
          <a:p>
            <a:pPr lvl="1"/>
            <a:r>
              <a:rPr lang="en-US" sz="2600" dirty="0"/>
              <a:t>All assurance activities (including verification and validation) performed</a:t>
            </a:r>
            <a:br>
              <a:rPr lang="en-US" sz="2600" dirty="0"/>
            </a:br>
            <a:r>
              <a:rPr lang="en-US" sz="2600" dirty="0"/>
              <a:t>and results validated against goal expectations </a:t>
            </a:r>
          </a:p>
          <a:p>
            <a:pPr lvl="1"/>
            <a:r>
              <a:rPr lang="en-US" sz="2600" dirty="0"/>
              <a:t>All evidence results referenced within AC and available for inspection</a:t>
            </a:r>
          </a:p>
          <a:p>
            <a:pPr lvl="1"/>
            <a:r>
              <a:rPr lang="en-US" sz="2600" dirty="0"/>
              <a:t>Resulting AC for concrete system is sound and complete</a:t>
            </a:r>
          </a:p>
          <a:p>
            <a:pPr lvl="1"/>
            <a:r>
              <a:rPr lang="en-US" sz="2600" dirty="0"/>
              <a:t>Implemented AC pattern catalog covers used strategies and evidence categories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8E8DD-3C73-FC4D-8677-60B7919D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B7C1C-71B6-9246-B22E-F9173A87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4CD20-0DB0-B840-BA21-7A09E2375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17A1C3-1843-2049-BBDD-6B46BFB9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AC: start with basics then refine iteratively</a:t>
            </a:r>
          </a:p>
        </p:txBody>
      </p:sp>
    </p:spTree>
    <p:extLst>
      <p:ext uri="{BB962C8B-B14F-4D97-AF65-F5344CB8AC3E}">
        <p14:creationId xmlns:p14="http://schemas.microsoft.com/office/powerpoint/2010/main" val="1337283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141A2D-997C-014E-9DBC-50479471E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117348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Tim Kelly on assurance cases, including 6-step method</a:t>
            </a:r>
          </a:p>
          <a:p>
            <a:pPr lvl="1"/>
            <a:r>
              <a:rPr lang="en-US" dirty="0"/>
              <a:t>Internal&gt;WPs&gt;WP3&gt;</a:t>
            </a:r>
            <a:r>
              <a:rPr lang="en-US" dirty="0" err="1"/>
              <a:t>AssuranceWork</a:t>
            </a:r>
            <a:r>
              <a:rPr lang="en-US" dirty="0"/>
              <a:t>&gt;References</a:t>
            </a:r>
          </a:p>
          <a:p>
            <a:r>
              <a:rPr lang="en-US" dirty="0"/>
              <a:t>Draft Assurance Glossary</a:t>
            </a:r>
          </a:p>
          <a:p>
            <a:pPr lvl="1"/>
            <a:r>
              <a:rPr lang="en-US" dirty="0"/>
              <a:t>Internal&gt;WPs&gt;WP3&gt;</a:t>
            </a:r>
            <a:r>
              <a:rPr lang="en-US" dirty="0" err="1"/>
              <a:t>AssuranceWork</a:t>
            </a:r>
            <a:r>
              <a:rPr lang="en-US" dirty="0"/>
              <a:t>&gt;Glossary-snapshot</a:t>
            </a:r>
          </a:p>
          <a:p>
            <a:r>
              <a:rPr lang="en-US" dirty="0"/>
              <a:t>O-ETB User Manual (including current in-progress version)</a:t>
            </a:r>
          </a:p>
          <a:p>
            <a:pPr lvl="1"/>
            <a:r>
              <a:rPr lang="en-US" dirty="0"/>
              <a:t>Internal&gt;WPs&gt;WP3&gt;</a:t>
            </a:r>
            <a:r>
              <a:rPr lang="en-US" dirty="0" err="1"/>
              <a:t>AssuranceWork</a:t>
            </a:r>
            <a:r>
              <a:rPr lang="en-US" dirty="0"/>
              <a:t>&gt;User-Manual (old path)</a:t>
            </a:r>
          </a:p>
          <a:p>
            <a:pPr lvl="1"/>
            <a:r>
              <a:rPr lang="en-US" dirty="0"/>
              <a:t>Assurance&gt;docs&gt;User-Manual (new path in </a:t>
            </a:r>
            <a:r>
              <a:rPr lang="en-US" dirty="0" err="1"/>
              <a:t>MedSecurance</a:t>
            </a:r>
            <a:r>
              <a:rPr lang="en-US" dirty="0"/>
              <a:t> GitHub repo)</a:t>
            </a:r>
          </a:p>
          <a:p>
            <a:r>
              <a:rPr lang="en-US" dirty="0"/>
              <a:t>“Inputs and Outputs” of O-ETB</a:t>
            </a:r>
          </a:p>
          <a:p>
            <a:pPr lvl="1"/>
            <a:r>
              <a:rPr lang="en-US" dirty="0"/>
              <a:t>Description of formats for model, evidence, argument patterns, tool agents and other “inputs” is being developed by TOG as part of a collaborative effort with UPC to characterize the inputs and outputs of O-ETB.</a:t>
            </a:r>
          </a:p>
          <a:p>
            <a:pPr lvl="1"/>
            <a:r>
              <a:rPr lang="en-US" dirty="0"/>
              <a:t>To be documented in the O-ETB User Manual</a:t>
            </a:r>
          </a:p>
          <a:p>
            <a:pPr lvl="1"/>
            <a:r>
              <a:rPr lang="en-US" dirty="0"/>
              <a:t>To be summarized later in this PPT presentation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89384A-557C-D94C-A04D-9E87AE695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0ADCF8-2395-AD48-B55C-18386A679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20731-CBD8-8648-A7DA-B8306333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4A81EFB-5102-1548-AA48-4D0B1CBF9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7149394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FB5371-7686-504B-9B09-A6F16A018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9200"/>
            <a:ext cx="11506200" cy="532159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Identify key security/safety + other key properties (Goals)</a:t>
            </a:r>
          </a:p>
          <a:p>
            <a:r>
              <a:rPr lang="en-US" dirty="0"/>
              <a:t>Identify the assurance strategies (Strategy), as AC patterns</a:t>
            </a:r>
          </a:p>
          <a:p>
            <a:r>
              <a:rPr lang="en-US" dirty="0"/>
              <a:t>Identify the evidence categories and metrics (solution type)</a:t>
            </a:r>
          </a:p>
          <a:p>
            <a:r>
              <a:rPr lang="en-US" dirty="0"/>
              <a:t>Identify the evidence generating assurance activities and tools (Solutions), referencing these in strategies (patterns)</a:t>
            </a:r>
          </a:p>
          <a:p>
            <a:r>
              <a:rPr lang="en-US" dirty="0"/>
              <a:t>Model the HW components, architecture and comp rules</a:t>
            </a:r>
          </a:p>
          <a:p>
            <a:r>
              <a:rPr lang="en-US" dirty="0"/>
              <a:t>Model the SW components, architecture and comp rules</a:t>
            </a:r>
          </a:p>
          <a:p>
            <a:r>
              <a:rPr lang="en-US" dirty="0"/>
              <a:t>Identify key dependencies of SW on HW platform</a:t>
            </a:r>
          </a:p>
          <a:p>
            <a:r>
              <a:rPr lang="en-US" dirty="0"/>
              <a:t>Demonstrate (once-and-for-all) validity of comp rules with obligations on components</a:t>
            </a:r>
          </a:p>
          <a:p>
            <a:r>
              <a:rPr lang="en-US" dirty="0"/>
              <a:t>Demonstrate that the HW composition satisfies SW’s deps</a:t>
            </a:r>
          </a:p>
          <a:p>
            <a:r>
              <a:rPr lang="en-US" dirty="0"/>
              <a:t>Demonstrate that the composed HW+SW satisfies requirements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C57D24-E170-564D-B381-A218A4655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E00A9-D2ED-F947-AE43-4A4292A82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5329A-375D-A44D-91EF-5EBB44F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7E60DF4-DDE9-0346-BA30-99C1A374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Assurance steps in an AC</a:t>
            </a:r>
          </a:p>
        </p:txBody>
      </p:sp>
    </p:spTree>
    <p:extLst>
      <p:ext uri="{BB962C8B-B14F-4D97-AF65-F5344CB8AC3E}">
        <p14:creationId xmlns:p14="http://schemas.microsoft.com/office/powerpoint/2010/main" val="1342687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3F252C-BD83-A54D-906E-146470D89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117348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/>
              <a:t>Preliminary goal structure</a:t>
            </a:r>
          </a:p>
          <a:p>
            <a:pPr lvl="1"/>
            <a:r>
              <a:rPr lang="en-US" sz="2400" dirty="0"/>
              <a:t>Well-formed high-level goals from system/generic requirements (true/false)</a:t>
            </a:r>
          </a:p>
          <a:p>
            <a:pPr lvl="1"/>
            <a:r>
              <a:rPr lang="en-US" sz="2400" dirty="0"/>
              <a:t>Well-formed and justifiable strategies for generic goals</a:t>
            </a:r>
          </a:p>
          <a:p>
            <a:pPr lvl="1"/>
            <a:r>
              <a:rPr lang="en-US" sz="2400" dirty="0"/>
              <a:t>Generic evidence categories and generating assurance activity/analysis tool</a:t>
            </a:r>
          </a:p>
          <a:p>
            <a:r>
              <a:rPr lang="en-US" sz="2800" dirty="0"/>
              <a:t>Interim goal structure</a:t>
            </a:r>
          </a:p>
          <a:p>
            <a:pPr lvl="1"/>
            <a:r>
              <a:rPr lang="en-US" sz="2600" dirty="0"/>
              <a:t>Based on a specific design or specific architectural pattern</a:t>
            </a:r>
          </a:p>
          <a:p>
            <a:pPr lvl="1"/>
            <a:r>
              <a:rPr lang="en-US" sz="2600" dirty="0"/>
              <a:t>Refine decomposition of goal structure according to design/arch</a:t>
            </a:r>
          </a:p>
          <a:p>
            <a:pPr lvl="1"/>
            <a:r>
              <a:rPr lang="en-US" sz="2600" dirty="0"/>
              <a:t>Preliminary assessment of adequacy of assurance activities, design tradeoffs</a:t>
            </a:r>
          </a:p>
          <a:p>
            <a:pPr lvl="1"/>
            <a:r>
              <a:rPr lang="en-US" sz="2600" dirty="0"/>
              <a:t>Solidification of AC patterns</a:t>
            </a:r>
          </a:p>
          <a:p>
            <a:r>
              <a:rPr lang="en-US" sz="2800" dirty="0"/>
              <a:t>Complete assurance case</a:t>
            </a:r>
          </a:p>
          <a:p>
            <a:pPr lvl="1"/>
            <a:r>
              <a:rPr lang="en-US" sz="2600" dirty="0"/>
              <a:t>Based on final design and configuration-controlled implementation</a:t>
            </a:r>
          </a:p>
          <a:p>
            <a:pPr lvl="1"/>
            <a:r>
              <a:rPr lang="en-US" sz="2600" dirty="0"/>
              <a:t>All assurance activities (including verification and validation) performed</a:t>
            </a:r>
            <a:br>
              <a:rPr lang="en-US" sz="2600" dirty="0"/>
            </a:br>
            <a:r>
              <a:rPr lang="en-US" sz="2600" dirty="0"/>
              <a:t>and results validated against goal expectations </a:t>
            </a:r>
          </a:p>
          <a:p>
            <a:pPr lvl="1"/>
            <a:r>
              <a:rPr lang="en-US" sz="2600" dirty="0"/>
              <a:t>All evidence results referenced within AC and available for inspection</a:t>
            </a:r>
          </a:p>
          <a:p>
            <a:pPr lvl="1"/>
            <a:r>
              <a:rPr lang="en-US" sz="2600" dirty="0"/>
              <a:t>Resulting AC for concrete system is sound and complete</a:t>
            </a:r>
          </a:p>
          <a:p>
            <a:pPr lvl="1"/>
            <a:r>
              <a:rPr lang="en-US" sz="2600" dirty="0"/>
              <a:t>Implemented AC pattern catalog covers used strategies and evidence categories</a:t>
            </a:r>
          </a:p>
          <a:p>
            <a:endParaRPr lang="en-US" sz="2800" dirty="0"/>
          </a:p>
          <a:p>
            <a:endParaRPr lang="en-US" sz="2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8E8DD-3C73-FC4D-8677-60B7919D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B7C1C-71B6-9246-B22E-F9173A87E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04CD20-0DB0-B840-BA21-7A09E2375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317A1C3-1843-2049-BBDD-6B46BFB9E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AC: start with basics then refine iteratively</a:t>
            </a:r>
          </a:p>
        </p:txBody>
      </p:sp>
    </p:spTree>
    <p:extLst>
      <p:ext uri="{BB962C8B-B14F-4D97-AF65-F5344CB8AC3E}">
        <p14:creationId xmlns:p14="http://schemas.microsoft.com/office/powerpoint/2010/main" val="38474327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130426"/>
            <a:ext cx="11125200" cy="1470025"/>
          </a:xfrm>
        </p:spPr>
        <p:txBody>
          <a:bodyPr>
            <a:normAutofit fontScale="90000"/>
          </a:bodyPr>
          <a:lstStyle/>
          <a:p>
            <a:r>
              <a:rPr lang="en-GB" dirty="0"/>
              <a:t>Assurance Tool</a:t>
            </a:r>
            <a:br>
              <a:rPr lang="en-GB" dirty="0"/>
            </a:br>
            <a:r>
              <a:rPr lang="en-GB" dirty="0"/>
              <a:t>Open Evidential Tool Bus (O-ETB)</a:t>
            </a:r>
            <a:br>
              <a:rPr lang="en-GB" dirty="0"/>
            </a:br>
            <a:r>
              <a:rPr lang="en-GB" dirty="0"/>
              <a:t>Input/Output Data Formats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4282261"/>
            <a:ext cx="3810000" cy="2209800"/>
          </a:xfrm>
        </p:spPr>
        <p:txBody>
          <a:bodyPr>
            <a:normAutofit fontScale="92500" lnSpcReduction="10000"/>
          </a:bodyPr>
          <a:lstStyle/>
          <a:p>
            <a:r>
              <a:rPr lang="en-GB" dirty="0" err="1"/>
              <a:t>Rance</a:t>
            </a:r>
            <a:r>
              <a:rPr lang="en-GB" dirty="0"/>
              <a:t> DeLong</a:t>
            </a:r>
          </a:p>
          <a:p>
            <a:r>
              <a:rPr lang="en-GB" dirty="0"/>
              <a:t>The Open Group</a:t>
            </a:r>
          </a:p>
          <a:p>
            <a:endParaRPr lang="en-GB" dirty="0"/>
          </a:p>
          <a:p>
            <a:r>
              <a:rPr lang="en-GB" dirty="0"/>
              <a:t>April 2025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D6CF033-519A-314C-BD95-C73B8555992C}"/>
              </a:ext>
            </a:extLst>
          </p:cNvPr>
          <p:cNvGrpSpPr/>
          <p:nvPr/>
        </p:nvGrpSpPr>
        <p:grpSpPr>
          <a:xfrm>
            <a:off x="9483590" y="413069"/>
            <a:ext cx="2175010" cy="902721"/>
            <a:chOff x="187190" y="1251466"/>
            <a:chExt cx="10938010" cy="4539734"/>
          </a:xfrm>
        </p:grpSpPr>
        <p:cxnSp>
          <p:nvCxnSpPr>
            <p:cNvPr id="9" name="Connecteur droit avec flèche 6">
              <a:extLst>
                <a:ext uri="{FF2B5EF4-FFF2-40B4-BE49-F238E27FC236}">
                  <a16:creationId xmlns:a16="http://schemas.microsoft.com/office/drawing/2014/main" id="{1CB2D6EF-F017-EC43-9CAF-FE93753A8E68}"/>
                </a:ext>
              </a:extLst>
            </p:cNvPr>
            <p:cNvCxnSpPr>
              <a:stCxn id="24" idx="3"/>
            </p:cNvCxnSpPr>
            <p:nvPr/>
          </p:nvCxnSpPr>
          <p:spPr>
            <a:xfrm>
              <a:off x="8723508" y="2795042"/>
              <a:ext cx="548386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rganigramme : Disque magnétique 7">
              <a:extLst>
                <a:ext uri="{FF2B5EF4-FFF2-40B4-BE49-F238E27FC236}">
                  <a16:creationId xmlns:a16="http://schemas.microsoft.com/office/drawing/2014/main" id="{C1361042-2FE7-BA46-8916-BCF540D98B1B}"/>
                </a:ext>
              </a:extLst>
            </p:cNvPr>
            <p:cNvSpPr/>
            <p:nvPr/>
          </p:nvSpPr>
          <p:spPr>
            <a:xfrm>
              <a:off x="187190" y="1251466"/>
              <a:ext cx="2434761" cy="1110864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4" name="Organigramme : Disque magnétique 8">
              <a:extLst>
                <a:ext uri="{FF2B5EF4-FFF2-40B4-BE49-F238E27FC236}">
                  <a16:creationId xmlns:a16="http://schemas.microsoft.com/office/drawing/2014/main" id="{BFF049BC-1CED-BF48-88D6-9789A307F66D}"/>
                </a:ext>
              </a:extLst>
            </p:cNvPr>
            <p:cNvSpPr/>
            <p:nvPr/>
          </p:nvSpPr>
          <p:spPr>
            <a:xfrm>
              <a:off x="6797567" y="3474219"/>
              <a:ext cx="1844516" cy="939401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5" name="Organigramme : Processus 9">
              <a:extLst>
                <a:ext uri="{FF2B5EF4-FFF2-40B4-BE49-F238E27FC236}">
                  <a16:creationId xmlns:a16="http://schemas.microsoft.com/office/drawing/2014/main" id="{701B9EC0-BBAC-4A48-9BE6-0FF1986135D8}"/>
                </a:ext>
              </a:extLst>
            </p:cNvPr>
            <p:cNvSpPr/>
            <p:nvPr/>
          </p:nvSpPr>
          <p:spPr>
            <a:xfrm>
              <a:off x="3684378" y="2348827"/>
              <a:ext cx="2619213" cy="986372"/>
            </a:xfrm>
            <a:prstGeom prst="flowChartProcess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6" name="Rectangle à coins arrondis 10">
              <a:extLst>
                <a:ext uri="{FF2B5EF4-FFF2-40B4-BE49-F238E27FC236}">
                  <a16:creationId xmlns:a16="http://schemas.microsoft.com/office/drawing/2014/main" id="{B854B27F-CE1B-8447-826A-1C61061C2BAD}"/>
                </a:ext>
              </a:extLst>
            </p:cNvPr>
            <p:cNvSpPr/>
            <p:nvPr/>
          </p:nvSpPr>
          <p:spPr>
            <a:xfrm>
              <a:off x="4075326" y="3500137"/>
              <a:ext cx="1844516" cy="8924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à coins arrondis 11">
              <a:extLst>
                <a:ext uri="{FF2B5EF4-FFF2-40B4-BE49-F238E27FC236}">
                  <a16:creationId xmlns:a16="http://schemas.microsoft.com/office/drawing/2014/main" id="{4676A0D3-D4EE-6443-B06E-329B639878C3}"/>
                </a:ext>
              </a:extLst>
            </p:cNvPr>
            <p:cNvSpPr/>
            <p:nvPr/>
          </p:nvSpPr>
          <p:spPr>
            <a:xfrm>
              <a:off x="4075326" y="1438178"/>
              <a:ext cx="1844516" cy="72819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à coins arrondis 12">
              <a:extLst>
                <a:ext uri="{FF2B5EF4-FFF2-40B4-BE49-F238E27FC236}">
                  <a16:creationId xmlns:a16="http://schemas.microsoft.com/office/drawing/2014/main" id="{868926BC-56B1-B64A-98C6-47D5F542080F}"/>
                </a:ext>
              </a:extLst>
            </p:cNvPr>
            <p:cNvSpPr/>
            <p:nvPr/>
          </p:nvSpPr>
          <p:spPr>
            <a:xfrm>
              <a:off x="6731430" y="1456459"/>
              <a:ext cx="1844516" cy="540155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à coins arrondis 13">
              <a:extLst>
                <a:ext uri="{FF2B5EF4-FFF2-40B4-BE49-F238E27FC236}">
                  <a16:creationId xmlns:a16="http://schemas.microsoft.com/office/drawing/2014/main" id="{97D0F273-24C6-154C-A1EE-E6ADA28A4676}"/>
                </a:ext>
              </a:extLst>
            </p:cNvPr>
            <p:cNvSpPr/>
            <p:nvPr/>
          </p:nvSpPr>
          <p:spPr>
            <a:xfrm>
              <a:off x="8723507" y="1459456"/>
              <a:ext cx="1844516" cy="540155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Connecteur droit avec flèche 14">
              <a:extLst>
                <a:ext uri="{FF2B5EF4-FFF2-40B4-BE49-F238E27FC236}">
                  <a16:creationId xmlns:a16="http://schemas.microsoft.com/office/drawing/2014/main" id="{78C6DFFD-96B1-B14B-A4A3-6CD2910A8072}"/>
                </a:ext>
              </a:extLst>
            </p:cNvPr>
            <p:cNvCxnSpPr>
              <a:stCxn id="17" idx="2"/>
              <a:endCxn id="15" idx="0"/>
            </p:cNvCxnSpPr>
            <p:nvPr/>
          </p:nvCxnSpPr>
          <p:spPr>
            <a:xfrm flipH="1">
              <a:off x="4993985" y="2166373"/>
              <a:ext cx="3599" cy="1824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avec flèche 15">
              <a:extLst>
                <a:ext uri="{FF2B5EF4-FFF2-40B4-BE49-F238E27FC236}">
                  <a16:creationId xmlns:a16="http://schemas.microsoft.com/office/drawing/2014/main" id="{E0B324C1-33E5-1449-A1B2-D9CC53AE46F3}"/>
                </a:ext>
              </a:extLst>
            </p:cNvPr>
            <p:cNvCxnSpPr>
              <a:stCxn id="15" idx="2"/>
              <a:endCxn id="16" idx="0"/>
            </p:cNvCxnSpPr>
            <p:nvPr/>
          </p:nvCxnSpPr>
          <p:spPr>
            <a:xfrm>
              <a:off x="4993985" y="3335198"/>
              <a:ext cx="3599" cy="1649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avec flèche 16">
              <a:extLst>
                <a:ext uri="{FF2B5EF4-FFF2-40B4-BE49-F238E27FC236}">
                  <a16:creationId xmlns:a16="http://schemas.microsoft.com/office/drawing/2014/main" id="{20FFDFD8-6CC9-FE4C-A675-B9A54C5CE744}"/>
                </a:ext>
              </a:extLst>
            </p:cNvPr>
            <p:cNvCxnSpPr>
              <a:stCxn id="25" idx="2"/>
              <a:endCxn id="14" idx="1"/>
            </p:cNvCxnSpPr>
            <p:nvPr/>
          </p:nvCxnSpPr>
          <p:spPr>
            <a:xfrm>
              <a:off x="7719825" y="3147319"/>
              <a:ext cx="0" cy="3269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avec flèche 17">
              <a:extLst>
                <a:ext uri="{FF2B5EF4-FFF2-40B4-BE49-F238E27FC236}">
                  <a16:creationId xmlns:a16="http://schemas.microsoft.com/office/drawing/2014/main" id="{08668729-766B-2946-9BDD-E36C6DD2D63B}"/>
                </a:ext>
              </a:extLst>
            </p:cNvPr>
            <p:cNvCxnSpPr>
              <a:stCxn id="15" idx="3"/>
              <a:endCxn id="25" idx="1"/>
            </p:cNvCxnSpPr>
            <p:nvPr/>
          </p:nvCxnSpPr>
          <p:spPr>
            <a:xfrm>
              <a:off x="6303591" y="2842013"/>
              <a:ext cx="493976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C3CE83-3A7E-1343-A318-24C3E7BC4454}"/>
                </a:ext>
              </a:extLst>
            </p:cNvPr>
            <p:cNvSpPr/>
            <p:nvPr/>
          </p:nvSpPr>
          <p:spPr>
            <a:xfrm>
              <a:off x="6878990" y="2489738"/>
              <a:ext cx="1844516" cy="61061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Organigramme : Processus 19">
              <a:extLst>
                <a:ext uri="{FF2B5EF4-FFF2-40B4-BE49-F238E27FC236}">
                  <a16:creationId xmlns:a16="http://schemas.microsoft.com/office/drawing/2014/main" id="{E9B3DB7B-3E15-F44E-8864-84CDF74DB98D}"/>
                </a:ext>
              </a:extLst>
            </p:cNvPr>
            <p:cNvSpPr/>
            <p:nvPr/>
          </p:nvSpPr>
          <p:spPr>
            <a:xfrm>
              <a:off x="6797567" y="2536708"/>
              <a:ext cx="1844516" cy="610611"/>
            </a:xfrm>
            <a:prstGeom prst="flowChartProcess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365471F-B621-054A-89C5-C022E610781F}"/>
                </a:ext>
              </a:extLst>
            </p:cNvPr>
            <p:cNvSpPr/>
            <p:nvPr/>
          </p:nvSpPr>
          <p:spPr>
            <a:xfrm>
              <a:off x="9280684" y="2489738"/>
              <a:ext cx="1844516" cy="610611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Organigramme : Processus 21">
              <a:extLst>
                <a:ext uri="{FF2B5EF4-FFF2-40B4-BE49-F238E27FC236}">
                  <a16:creationId xmlns:a16="http://schemas.microsoft.com/office/drawing/2014/main" id="{1D516CC4-A9B2-1B44-8920-5E198B619D7F}"/>
                </a:ext>
              </a:extLst>
            </p:cNvPr>
            <p:cNvSpPr/>
            <p:nvPr/>
          </p:nvSpPr>
          <p:spPr>
            <a:xfrm>
              <a:off x="9198113" y="2536708"/>
              <a:ext cx="1844516" cy="610611"/>
            </a:xfrm>
            <a:prstGeom prst="flowChartProcess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Connecteur droit 22">
              <a:extLst>
                <a:ext uri="{FF2B5EF4-FFF2-40B4-BE49-F238E27FC236}">
                  <a16:creationId xmlns:a16="http://schemas.microsoft.com/office/drawing/2014/main" id="{2A3FB8F8-C807-8A4B-83FF-827045D5A85B}"/>
                </a:ext>
              </a:extLst>
            </p:cNvPr>
            <p:cNvCxnSpPr>
              <a:cxnSpLocks/>
              <a:stCxn id="17" idx="1"/>
              <a:endCxn id="13" idx="4"/>
            </p:cNvCxnSpPr>
            <p:nvPr/>
          </p:nvCxnSpPr>
          <p:spPr>
            <a:xfrm flipH="1">
              <a:off x="2621951" y="1802276"/>
              <a:ext cx="1453375" cy="462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3">
              <a:extLst>
                <a:ext uri="{FF2B5EF4-FFF2-40B4-BE49-F238E27FC236}">
                  <a16:creationId xmlns:a16="http://schemas.microsoft.com/office/drawing/2014/main" id="{89AB4D0D-8925-F647-9892-D009B03E6ED5}"/>
                </a:ext>
              </a:extLst>
            </p:cNvPr>
            <p:cNvCxnSpPr>
              <a:stCxn id="14" idx="2"/>
              <a:endCxn id="16" idx="3"/>
            </p:cNvCxnSpPr>
            <p:nvPr/>
          </p:nvCxnSpPr>
          <p:spPr>
            <a:xfrm flipH="1">
              <a:off x="5919842" y="3943921"/>
              <a:ext cx="877724" cy="243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avec flèche 24">
              <a:extLst>
                <a:ext uri="{FF2B5EF4-FFF2-40B4-BE49-F238E27FC236}">
                  <a16:creationId xmlns:a16="http://schemas.microsoft.com/office/drawing/2014/main" id="{8199A373-AF7C-2F49-88B3-E5BDE318A65E}"/>
                </a:ext>
              </a:extLst>
            </p:cNvPr>
            <p:cNvCxnSpPr>
              <a:stCxn id="25" idx="3"/>
              <a:endCxn id="27" idx="1"/>
            </p:cNvCxnSpPr>
            <p:nvPr/>
          </p:nvCxnSpPr>
          <p:spPr>
            <a:xfrm>
              <a:off x="8642084" y="2842013"/>
              <a:ext cx="55603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à coins arrondis 25">
              <a:extLst>
                <a:ext uri="{FF2B5EF4-FFF2-40B4-BE49-F238E27FC236}">
                  <a16:creationId xmlns:a16="http://schemas.microsoft.com/office/drawing/2014/main" id="{45E2B44B-463D-EC4F-9BFC-A8358610E28E}"/>
                </a:ext>
              </a:extLst>
            </p:cNvPr>
            <p:cNvSpPr/>
            <p:nvPr/>
          </p:nvSpPr>
          <p:spPr>
            <a:xfrm>
              <a:off x="2621951" y="3500138"/>
              <a:ext cx="1084472" cy="85235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32" name="Connecteur droit avec flèche 26">
              <a:extLst>
                <a:ext uri="{FF2B5EF4-FFF2-40B4-BE49-F238E27FC236}">
                  <a16:creationId xmlns:a16="http://schemas.microsoft.com/office/drawing/2014/main" id="{EDB1DA84-9A77-024E-97E2-1988FBE04725}"/>
                </a:ext>
              </a:extLst>
            </p:cNvPr>
            <p:cNvCxnSpPr>
              <a:stCxn id="15" idx="2"/>
              <a:endCxn id="31" idx="0"/>
            </p:cNvCxnSpPr>
            <p:nvPr/>
          </p:nvCxnSpPr>
          <p:spPr>
            <a:xfrm flipH="1">
              <a:off x="3164187" y="3335198"/>
              <a:ext cx="1829798" cy="1649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avec flèche 27">
              <a:extLst>
                <a:ext uri="{FF2B5EF4-FFF2-40B4-BE49-F238E27FC236}">
                  <a16:creationId xmlns:a16="http://schemas.microsoft.com/office/drawing/2014/main" id="{2DA81A42-F0B3-8E4B-8EE3-22D4166C5FFB}"/>
                </a:ext>
              </a:extLst>
            </p:cNvPr>
            <p:cNvCxnSpPr>
              <a:stCxn id="18" idx="2"/>
              <a:endCxn id="26" idx="0"/>
            </p:cNvCxnSpPr>
            <p:nvPr/>
          </p:nvCxnSpPr>
          <p:spPr>
            <a:xfrm>
              <a:off x="7653688" y="1996614"/>
              <a:ext cx="2549254" cy="493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avec flèche 28">
              <a:extLst>
                <a:ext uri="{FF2B5EF4-FFF2-40B4-BE49-F238E27FC236}">
                  <a16:creationId xmlns:a16="http://schemas.microsoft.com/office/drawing/2014/main" id="{F529B6A3-D1B9-6B45-B966-3867110C9D8D}"/>
                </a:ext>
              </a:extLst>
            </p:cNvPr>
            <p:cNvCxnSpPr>
              <a:stCxn id="19" idx="2"/>
              <a:endCxn id="26" idx="0"/>
            </p:cNvCxnSpPr>
            <p:nvPr/>
          </p:nvCxnSpPr>
          <p:spPr>
            <a:xfrm>
              <a:off x="9645765" y="1999611"/>
              <a:ext cx="557177" cy="49012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avec flèche 29">
              <a:extLst>
                <a:ext uri="{FF2B5EF4-FFF2-40B4-BE49-F238E27FC236}">
                  <a16:creationId xmlns:a16="http://schemas.microsoft.com/office/drawing/2014/main" id="{671E7B1E-37C2-1148-BE69-7D465CCE9DBC}"/>
                </a:ext>
              </a:extLst>
            </p:cNvPr>
            <p:cNvCxnSpPr>
              <a:stCxn id="18" idx="2"/>
              <a:endCxn id="15" idx="0"/>
            </p:cNvCxnSpPr>
            <p:nvPr/>
          </p:nvCxnSpPr>
          <p:spPr>
            <a:xfrm flipH="1">
              <a:off x="4993985" y="1996614"/>
              <a:ext cx="2659703" cy="35221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avec flèche 30">
              <a:extLst>
                <a:ext uri="{FF2B5EF4-FFF2-40B4-BE49-F238E27FC236}">
                  <a16:creationId xmlns:a16="http://schemas.microsoft.com/office/drawing/2014/main" id="{573AE534-792C-9747-920D-0240FA909113}"/>
                </a:ext>
              </a:extLst>
            </p:cNvPr>
            <p:cNvCxnSpPr>
              <a:stCxn id="19" idx="2"/>
              <a:endCxn id="15" idx="0"/>
            </p:cNvCxnSpPr>
            <p:nvPr/>
          </p:nvCxnSpPr>
          <p:spPr>
            <a:xfrm flipH="1">
              <a:off x="4993985" y="1999611"/>
              <a:ext cx="4651780" cy="3492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0EBB03-8E8C-024F-B29B-219964E147C5}"/>
                </a:ext>
              </a:extLst>
            </p:cNvPr>
            <p:cNvSpPr/>
            <p:nvPr/>
          </p:nvSpPr>
          <p:spPr>
            <a:xfrm>
              <a:off x="5401578" y="4761517"/>
              <a:ext cx="1844516" cy="61061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38" name="Multidocument 37">
              <a:extLst>
                <a:ext uri="{FF2B5EF4-FFF2-40B4-BE49-F238E27FC236}">
                  <a16:creationId xmlns:a16="http://schemas.microsoft.com/office/drawing/2014/main" id="{C23EDE4C-4CBB-0441-A882-DE50634C5E30}"/>
                </a:ext>
              </a:extLst>
            </p:cNvPr>
            <p:cNvSpPr/>
            <p:nvPr/>
          </p:nvSpPr>
          <p:spPr>
            <a:xfrm>
              <a:off x="8575946" y="4364620"/>
              <a:ext cx="2401912" cy="1426580"/>
            </a:xfrm>
            <a:prstGeom prst="flowChartMultidocumen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39" name="Connecteur droit avec flèche 16">
              <a:extLst>
                <a:ext uri="{FF2B5EF4-FFF2-40B4-BE49-F238E27FC236}">
                  <a16:creationId xmlns:a16="http://schemas.microsoft.com/office/drawing/2014/main" id="{1CF9FB28-168A-6D45-A6C4-17DB29E2C0AA}"/>
                </a:ext>
              </a:extLst>
            </p:cNvPr>
            <p:cNvCxnSpPr>
              <a:cxnSpLocks/>
              <a:stCxn id="37" idx="3"/>
              <a:endCxn id="38" idx="1"/>
            </p:cNvCxnSpPr>
            <p:nvPr/>
          </p:nvCxnSpPr>
          <p:spPr>
            <a:xfrm>
              <a:off x="7246095" y="5066823"/>
              <a:ext cx="1329851" cy="110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avec flèche 16">
              <a:extLst>
                <a:ext uri="{FF2B5EF4-FFF2-40B4-BE49-F238E27FC236}">
                  <a16:creationId xmlns:a16="http://schemas.microsoft.com/office/drawing/2014/main" id="{A2112D6A-923B-384C-8F90-77223D77992F}"/>
                </a:ext>
              </a:extLst>
            </p:cNvPr>
            <p:cNvCxnSpPr>
              <a:cxnSpLocks/>
              <a:stCxn id="16" idx="2"/>
              <a:endCxn id="37" idx="0"/>
            </p:cNvCxnSpPr>
            <p:nvPr/>
          </p:nvCxnSpPr>
          <p:spPr>
            <a:xfrm>
              <a:off x="4997584" y="4392568"/>
              <a:ext cx="1326252" cy="36895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eur droit avec flèche 16">
              <a:extLst>
                <a:ext uri="{FF2B5EF4-FFF2-40B4-BE49-F238E27FC236}">
                  <a16:creationId xmlns:a16="http://schemas.microsoft.com/office/drawing/2014/main" id="{81979CF4-0CD3-8B4E-A7F5-5156C139D35B}"/>
                </a:ext>
              </a:extLst>
            </p:cNvPr>
            <p:cNvCxnSpPr>
              <a:cxnSpLocks/>
              <a:stCxn id="14" idx="3"/>
              <a:endCxn id="37" idx="0"/>
            </p:cNvCxnSpPr>
            <p:nvPr/>
          </p:nvCxnSpPr>
          <p:spPr>
            <a:xfrm flipH="1">
              <a:off x="6323837" y="4413620"/>
              <a:ext cx="1395988" cy="34789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D6E245E-3752-C048-BBAD-E1601A409379}"/>
                </a:ext>
              </a:extLst>
            </p:cNvPr>
            <p:cNvSpPr/>
            <p:nvPr/>
          </p:nvSpPr>
          <p:spPr>
            <a:xfrm>
              <a:off x="233808" y="4652281"/>
              <a:ext cx="2308096" cy="851257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Connecteur droit avec flèche 16">
              <a:extLst>
                <a:ext uri="{FF2B5EF4-FFF2-40B4-BE49-F238E27FC236}">
                  <a16:creationId xmlns:a16="http://schemas.microsoft.com/office/drawing/2014/main" id="{D294CCC1-39E0-A34E-8550-26796AEADF5B}"/>
                </a:ext>
              </a:extLst>
            </p:cNvPr>
            <p:cNvCxnSpPr>
              <a:cxnSpLocks/>
              <a:stCxn id="42" idx="0"/>
              <a:endCxn id="13" idx="3"/>
            </p:cNvCxnSpPr>
            <p:nvPr/>
          </p:nvCxnSpPr>
          <p:spPr>
            <a:xfrm flipV="1">
              <a:off x="1387855" y="2362330"/>
              <a:ext cx="16715" cy="228995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avec flèche 16">
              <a:extLst>
                <a:ext uri="{FF2B5EF4-FFF2-40B4-BE49-F238E27FC236}">
                  <a16:creationId xmlns:a16="http://schemas.microsoft.com/office/drawing/2014/main" id="{3A1CFDEF-6997-324E-81C5-FC2423A6A59C}"/>
                </a:ext>
              </a:extLst>
            </p:cNvPr>
            <p:cNvCxnSpPr>
              <a:cxnSpLocks/>
              <a:stCxn id="42" idx="6"/>
              <a:endCxn id="37" idx="1"/>
            </p:cNvCxnSpPr>
            <p:nvPr/>
          </p:nvCxnSpPr>
          <p:spPr>
            <a:xfrm flipV="1">
              <a:off x="2541903" y="5066823"/>
              <a:ext cx="2859675" cy="110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22">
              <a:extLst>
                <a:ext uri="{FF2B5EF4-FFF2-40B4-BE49-F238E27FC236}">
                  <a16:creationId xmlns:a16="http://schemas.microsoft.com/office/drawing/2014/main" id="{D8C35F3F-ADA5-E048-B27C-3D29EE1A582A}"/>
                </a:ext>
              </a:extLst>
            </p:cNvPr>
            <p:cNvCxnSpPr>
              <a:cxnSpLocks/>
              <a:stCxn id="15" idx="1"/>
              <a:endCxn id="13" idx="4"/>
            </p:cNvCxnSpPr>
            <p:nvPr/>
          </p:nvCxnSpPr>
          <p:spPr>
            <a:xfrm flipH="1" flipV="1">
              <a:off x="2621951" y="1806898"/>
              <a:ext cx="1062427" cy="103511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avec flèche 16">
              <a:extLst>
                <a:ext uri="{FF2B5EF4-FFF2-40B4-BE49-F238E27FC236}">
                  <a16:creationId xmlns:a16="http://schemas.microsoft.com/office/drawing/2014/main" id="{75CAAE4B-FF21-4747-9B60-E4D331FF1E2D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 flipV="1">
              <a:off x="5851811" y="3318054"/>
              <a:ext cx="945756" cy="62586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17B3803-9C16-1443-9700-98BDB930C12F}"/>
              </a:ext>
            </a:extLst>
          </p:cNvPr>
          <p:cNvSpPr txBox="1"/>
          <p:nvPr/>
        </p:nvSpPr>
        <p:spPr>
          <a:xfrm flipH="1">
            <a:off x="8393913" y="5507948"/>
            <a:ext cx="3725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Contains updated procedure for adding new evidence categories and tool agents.</a:t>
            </a:r>
          </a:p>
        </p:txBody>
      </p:sp>
    </p:spTree>
    <p:extLst>
      <p:ext uri="{BB962C8B-B14F-4D97-AF65-F5344CB8AC3E}">
        <p14:creationId xmlns:p14="http://schemas.microsoft.com/office/powerpoint/2010/main" val="2099721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152C29-66BE-D24E-8CF3-E22094951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15824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O-ETB Database and </a:t>
            </a:r>
            <a:r>
              <a:rPr lang="en-US" sz="2800" dirty="0" err="1"/>
              <a:t>MedSecurance</a:t>
            </a:r>
            <a:r>
              <a:rPr lang="en-US" sz="2800" dirty="0"/>
              <a:t> Information Exchange</a:t>
            </a:r>
          </a:p>
          <a:p>
            <a:r>
              <a:rPr lang="en-US" sz="2800" dirty="0"/>
              <a:t>Knowledge Base (KB)</a:t>
            </a:r>
          </a:p>
          <a:p>
            <a:pPr lvl="1"/>
            <a:r>
              <a:rPr lang="en-US" sz="2600" dirty="0"/>
              <a:t>MODELS – chosen data from models available for AC argument patterns</a:t>
            </a:r>
          </a:p>
          <a:p>
            <a:pPr lvl="1"/>
            <a:r>
              <a:rPr lang="en-US" sz="2600" dirty="0"/>
              <a:t>PATTERNS – AC Argument Patterns files</a:t>
            </a:r>
          </a:p>
          <a:p>
            <a:pPr lvl="1"/>
            <a:r>
              <a:rPr lang="en-US" sz="2600" dirty="0"/>
              <a:t>EVIDENCE – </a:t>
            </a:r>
            <a:r>
              <a:rPr lang="en-US" sz="2600" dirty="0" err="1"/>
              <a:t>categories.pl</a:t>
            </a:r>
            <a:r>
              <a:rPr lang="en-US" sz="2600" dirty="0"/>
              <a:t> declares categories, methods and agents</a:t>
            </a:r>
          </a:p>
          <a:p>
            <a:pPr lvl="1"/>
            <a:r>
              <a:rPr lang="en-US" sz="2600" dirty="0"/>
              <a:t>AGENTS – agent or agent calling Prolog code (can be minimal, generic)</a:t>
            </a:r>
          </a:p>
          <a:p>
            <a:r>
              <a:rPr lang="en-US" sz="2800" dirty="0"/>
              <a:t>REPOSITORY</a:t>
            </a:r>
          </a:p>
          <a:p>
            <a:pPr lvl="1"/>
            <a:r>
              <a:rPr lang="en-US" sz="2600" dirty="0"/>
              <a:t>CASES – internal representation of assurance cases</a:t>
            </a:r>
          </a:p>
          <a:p>
            <a:pPr lvl="1"/>
            <a:r>
              <a:rPr lang="en-US" sz="2600" dirty="0"/>
              <a:t>EVIDENCE – representation of evidence instance records</a:t>
            </a:r>
          </a:p>
          <a:p>
            <a:pPr lvl="1"/>
            <a:r>
              <a:rPr lang="en-US" sz="2600" dirty="0"/>
              <a:t>Tool Agents – standard invocation and EVIDENCE update</a:t>
            </a:r>
          </a:p>
          <a:p>
            <a:r>
              <a:rPr lang="en-US" sz="2800" dirty="0"/>
              <a:t>Certif</a:t>
            </a:r>
            <a:r>
              <a:rPr lang="en-US" sz="2600" dirty="0"/>
              <a:t>ication Assurance Package (CAP)</a:t>
            </a:r>
          </a:p>
          <a:p>
            <a:pPr lvl="1"/>
            <a:r>
              <a:rPr lang="en-US" sz="2400" dirty="0"/>
              <a:t>Assurance Case text</a:t>
            </a:r>
          </a:p>
          <a:p>
            <a:pPr lvl="1"/>
            <a:r>
              <a:rPr lang="en-US" sz="2400" dirty="0"/>
              <a:t>Assurance Case HTML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079698-E159-2C40-8FD7-F3395EDEA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48B7E-23C8-6843-BD12-7F980550E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5BE77-75B3-6C44-B97F-312C443D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6B7232-933B-E542-BB49-CD7BB62C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O-ETB Data Topics</a:t>
            </a:r>
          </a:p>
        </p:txBody>
      </p:sp>
    </p:spTree>
    <p:extLst>
      <p:ext uri="{BB962C8B-B14F-4D97-AF65-F5344CB8AC3E}">
        <p14:creationId xmlns:p14="http://schemas.microsoft.com/office/powerpoint/2010/main" val="12186516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F091C3-DB9E-0E42-976E-9F42B1FE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 Workshop</a:t>
            </a:r>
            <a:br>
              <a:rPr lang="en-US" dirty="0"/>
            </a:br>
            <a:r>
              <a:rPr lang="en-US" dirty="0"/>
              <a:t>Assurance Tool New Features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9E8BB7-B66E-444C-A174-842E885E0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Rance</a:t>
            </a:r>
            <a:r>
              <a:rPr lang="en-US" dirty="0"/>
              <a:t> DeLong</a:t>
            </a:r>
          </a:p>
          <a:p>
            <a:r>
              <a:rPr lang="en-US" dirty="0"/>
              <a:t>9 May 2025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60EA0-A143-C142-B73C-9951EB9E4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272F6-3254-7F44-87FB-DF68668E9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B587E-45EB-C64A-83B3-237F1BDDA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596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FC6861-9C51-6D4F-86EC-A3023F80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676"/>
            <a:ext cx="11582400" cy="5657124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command line options when invoking </a:t>
            </a:r>
            <a:r>
              <a:rPr lang="en-US" sz="1800" dirty="0" err="1"/>
              <a:t>etb</a:t>
            </a:r>
            <a:r>
              <a:rPr lang="en-US" sz="1800" dirty="0"/>
              <a:t> executable</a:t>
            </a:r>
          </a:p>
          <a:p>
            <a:pPr lvl="1"/>
            <a:r>
              <a:rPr lang="en-US" sz="1600" dirty="0"/>
              <a:t>--command – Batch Mode command (implemented as replacement for </a:t>
            </a:r>
            <a:r>
              <a:rPr lang="en-US" sz="1600" dirty="0" err="1"/>
              <a:t>etb</a:t>
            </a:r>
            <a:r>
              <a:rPr lang="en-US" sz="1600" dirty="0"/>
              <a:t> server concept)</a:t>
            </a:r>
          </a:p>
          <a:p>
            <a:pPr lvl="1"/>
            <a:r>
              <a:rPr lang="en-US" sz="1600" dirty="0"/>
              <a:t>--model – load a model specification from user-specified directory</a:t>
            </a:r>
          </a:p>
          <a:p>
            <a:pPr lvl="1"/>
            <a:r>
              <a:rPr lang="en-US" sz="1600" dirty="0"/>
              <a:t>--patterns – load a patterns file</a:t>
            </a:r>
          </a:p>
          <a:p>
            <a:pPr lvl="1"/>
            <a:r>
              <a:rPr lang="en-US" sz="1600" dirty="0"/>
              <a:t>--procs – load an arbitrary user-specified procs file</a:t>
            </a:r>
          </a:p>
          <a:p>
            <a:pPr lvl="1"/>
            <a:r>
              <a:rPr lang="en-US" sz="1600" dirty="0"/>
              <a:t>(--model, --patterns and –procs options are processed before --command option)</a:t>
            </a:r>
          </a:p>
          <a:p>
            <a:r>
              <a:rPr lang="en-US" sz="1800" dirty="0"/>
              <a:t>O-ETB commands (interactive or proc/script)</a:t>
            </a:r>
          </a:p>
          <a:p>
            <a:pPr lvl="1"/>
            <a:r>
              <a:rPr lang="en-US" sz="1600" dirty="0" err="1"/>
              <a:t>load_agent</a:t>
            </a:r>
            <a:r>
              <a:rPr lang="en-US" sz="1600" dirty="0"/>
              <a:t>(&lt;file&gt;) – loads user-specified agent module file. Such a file is not included in the O-ETB source configuration/dependency.</a:t>
            </a:r>
          </a:p>
          <a:p>
            <a:pPr lvl="1"/>
            <a:r>
              <a:rPr lang="en-US" sz="1600" dirty="0" err="1"/>
              <a:t>load_patterns</a:t>
            </a:r>
            <a:r>
              <a:rPr lang="en-US" sz="1600" dirty="0"/>
              <a:t>(&lt;file&gt;) – loads user-specified patterns file. Can be reloaded during an interactive session if changes are made to the file. May use :- include(FILE) directives.                      </a:t>
            </a:r>
          </a:p>
          <a:p>
            <a:pPr lvl="1"/>
            <a:r>
              <a:rPr lang="en-US" sz="1600" dirty="0" err="1"/>
              <a:t>load_procs</a:t>
            </a:r>
            <a:r>
              <a:rPr lang="en-US" sz="1600" dirty="0"/>
              <a:t>(&lt;file&gt;) – loads user-specified procs file. Can be reloaded during an interactive session if changes are made to the file. May use :- include(FILE) directives.</a:t>
            </a:r>
          </a:p>
          <a:p>
            <a:pPr lvl="1"/>
            <a:r>
              <a:rPr lang="en-US" sz="1600" dirty="0" err="1"/>
              <a:t>etb_reset</a:t>
            </a:r>
            <a:r>
              <a:rPr lang="en-US" sz="1600" dirty="0"/>
              <a:t>, </a:t>
            </a:r>
            <a:r>
              <a:rPr lang="en-US" sz="1600" dirty="0" err="1"/>
              <a:t>etb_reset</a:t>
            </a:r>
            <a:r>
              <a:rPr lang="en-US" sz="1600" dirty="0"/>
              <a:t>(&lt;opt&gt;) – resets the portion of ETB indicated by &lt;opt&gt; or all if invoked without the &lt;opt&gt; which is currently one of {all, cap, repos, cases, evidence} corresponding to </a:t>
            </a:r>
            <a:r>
              <a:rPr lang="en-US" sz="1600" dirty="0" err="1"/>
              <a:t>makefile</a:t>
            </a:r>
            <a:r>
              <a:rPr lang="en-US" sz="1600" dirty="0"/>
              <a:t> targets</a:t>
            </a:r>
          </a:p>
          <a:p>
            <a:pPr lvl="1"/>
            <a:r>
              <a:rPr lang="en-US" sz="1600" dirty="0" err="1"/>
              <a:t>show_evidence</a:t>
            </a:r>
            <a:r>
              <a:rPr lang="en-US" sz="1600" dirty="0"/>
              <a:t>, </a:t>
            </a:r>
            <a:r>
              <a:rPr lang="en-US" sz="1600" dirty="0" err="1"/>
              <a:t>show_evidence</a:t>
            </a:r>
            <a:r>
              <a:rPr lang="en-US" sz="1600" dirty="0"/>
              <a:t>(&lt;opt&gt;) – show evidence records, &lt;opt&gt; is one of {summary, all}</a:t>
            </a:r>
          </a:p>
          <a:p>
            <a:pPr lvl="1"/>
            <a:r>
              <a:rPr lang="en-US" sz="1600" dirty="0" err="1"/>
              <a:t>attach_evidence</a:t>
            </a:r>
            <a:r>
              <a:rPr lang="en-US" sz="1600" dirty="0"/>
              <a:t>, </a:t>
            </a:r>
            <a:r>
              <a:rPr lang="en-US" sz="1600" dirty="0" err="1"/>
              <a:t>detach_evidence</a:t>
            </a:r>
            <a:r>
              <a:rPr lang="en-US" sz="1600" dirty="0"/>
              <a:t>, </a:t>
            </a:r>
            <a:r>
              <a:rPr lang="en-US" sz="1600" dirty="0" err="1"/>
              <a:t>detach_repos</a:t>
            </a:r>
            <a:endParaRPr lang="en-US" sz="1600" dirty="0"/>
          </a:p>
          <a:p>
            <a:r>
              <a:rPr lang="en-US" sz="1800" dirty="0" err="1"/>
              <a:t>Makefile</a:t>
            </a:r>
            <a:r>
              <a:rPr lang="en-US" sz="1800" dirty="0"/>
              <a:t> – expanded clean options: clean (all), </a:t>
            </a:r>
            <a:r>
              <a:rPr lang="en-US" sz="1800" dirty="0" err="1"/>
              <a:t>clean_cap</a:t>
            </a:r>
            <a:r>
              <a:rPr lang="en-US" sz="1800" dirty="0"/>
              <a:t> (cap), </a:t>
            </a:r>
            <a:r>
              <a:rPr lang="en-US" sz="1800" dirty="0" err="1"/>
              <a:t>clean_repos</a:t>
            </a:r>
            <a:r>
              <a:rPr lang="en-US" sz="1800" dirty="0"/>
              <a:t> (repos), </a:t>
            </a:r>
            <a:r>
              <a:rPr lang="en-US" sz="1800" dirty="0" err="1"/>
              <a:t>clean_cases</a:t>
            </a:r>
            <a:r>
              <a:rPr lang="en-US" sz="1800" dirty="0"/>
              <a:t> (cases), </a:t>
            </a:r>
            <a:r>
              <a:rPr lang="en-US" sz="1800" dirty="0" err="1"/>
              <a:t>clean_evidence</a:t>
            </a:r>
            <a:r>
              <a:rPr lang="en-US" sz="1800" dirty="0"/>
              <a:t> (evidence) corresponding to </a:t>
            </a:r>
            <a:r>
              <a:rPr lang="en-US" sz="1800" dirty="0" err="1"/>
              <a:t>etb_reset</a:t>
            </a:r>
            <a:r>
              <a:rPr lang="en-US" sz="1800" dirty="0"/>
              <a:t> command options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427A1-431A-BF41-90A7-D556C1AA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E22E9-AEBA-754C-827F-2DABA5F8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974F6E-E638-9E44-B24E-29917DF7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0DC818-B124-974B-A1AF-D3FA85732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Relevant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 Features of O-ETB (1)</a:t>
            </a:r>
          </a:p>
        </p:txBody>
      </p:sp>
    </p:spTree>
    <p:extLst>
      <p:ext uri="{BB962C8B-B14F-4D97-AF65-F5344CB8AC3E}">
        <p14:creationId xmlns:p14="http://schemas.microsoft.com/office/powerpoint/2010/main" val="2243910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FC6861-9C51-6D4F-86EC-A3023F80F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143000"/>
            <a:ext cx="11658600" cy="5481124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Knowledge Base (KB) organization and user contributions</a:t>
            </a:r>
          </a:p>
          <a:p>
            <a:pPr lvl="1"/>
            <a:r>
              <a:rPr lang="en-US" sz="2200" dirty="0"/>
              <a:t>Minimize or eliminate O-ETB/</a:t>
            </a:r>
            <a:r>
              <a:rPr lang="en-US" sz="2200" dirty="0" err="1"/>
              <a:t>src</a:t>
            </a:r>
            <a:r>
              <a:rPr lang="en-US" sz="2200" dirty="0"/>
              <a:t> changes -&gt; user KB additions</a:t>
            </a:r>
          </a:p>
          <a:p>
            <a:pPr lvl="1"/>
            <a:r>
              <a:rPr lang="en-US" sz="2200" dirty="0"/>
              <a:t>The KB has a baseline that is maintained in the source repo</a:t>
            </a:r>
          </a:p>
          <a:p>
            <a:pPr lvl="1"/>
            <a:r>
              <a:rPr lang="en-US" sz="2200" dirty="0"/>
              <a:t>Local additions may be made then later supplement the baseline</a:t>
            </a:r>
          </a:p>
          <a:p>
            <a:pPr lvl="1"/>
            <a:r>
              <a:rPr lang="en-US" sz="2200" dirty="0"/>
              <a:t>This supersedes previous directions on how to add evidence categories</a:t>
            </a:r>
          </a:p>
          <a:p>
            <a:r>
              <a:rPr lang="en-US" sz="2400" dirty="0"/>
              <a:t>Addition of new evidence categories and corresponding agent identification are done in a single KB file and do not need to change the source repo KB baseline or other O-ETB source files</a:t>
            </a:r>
          </a:p>
          <a:p>
            <a:pPr lvl="1"/>
            <a:r>
              <a:rPr lang="en-US" sz="2200" dirty="0"/>
              <a:t>KB/EVIDENCE directory contains </a:t>
            </a:r>
            <a:r>
              <a:rPr lang="en-US" sz="2200" dirty="0" err="1"/>
              <a:t>categories.pl</a:t>
            </a:r>
            <a:r>
              <a:rPr lang="en-US" sz="2200" dirty="0"/>
              <a:t> file</a:t>
            </a:r>
          </a:p>
          <a:p>
            <a:pPr lvl="1"/>
            <a:r>
              <a:rPr lang="en-US" sz="2200" dirty="0"/>
              <a:t>The list of currently defined categories is generated from this file</a:t>
            </a:r>
          </a:p>
          <a:p>
            <a:pPr lvl="1"/>
            <a:r>
              <a:rPr lang="en-US" sz="2200" dirty="0"/>
              <a:t>Dynamic type checking of categories in the persistent EVIDENCE repo use this list</a:t>
            </a:r>
          </a:p>
          <a:p>
            <a:pPr lvl="1"/>
            <a:r>
              <a:rPr lang="en-US" sz="2200" dirty="0"/>
              <a:t>KB/AGENTS directory contains the (Prolog) agent interfaces (may by minimal to invoke a full agent in any language</a:t>
            </a:r>
          </a:p>
          <a:p>
            <a:r>
              <a:rPr lang="en-US" sz="2400" dirty="0"/>
              <a:t>Examples developed by Mirek, Marcos, Kostas and Daniel – thank you!</a:t>
            </a:r>
          </a:p>
          <a:p>
            <a:pPr lvl="1"/>
            <a:r>
              <a:rPr lang="en-US" sz="2200" dirty="0"/>
              <a:t>Exhibit the new features in running examples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C427A1-431A-BF41-90A7-D556C1AA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DE22E9-AEBA-754C-827F-2DABA5F8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974F6E-E638-9E44-B24E-29917DF70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D0DC818-B124-974B-A1AF-D3FA85732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 Features of O-ETB (2)</a:t>
            </a:r>
          </a:p>
        </p:txBody>
      </p:sp>
    </p:spTree>
    <p:extLst>
      <p:ext uri="{BB962C8B-B14F-4D97-AF65-F5344CB8AC3E}">
        <p14:creationId xmlns:p14="http://schemas.microsoft.com/office/powerpoint/2010/main" val="11359340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Updated O-ETB Source Repository structure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2114659-2B00-6F4A-ACA2-6671FB791E39}"/>
              </a:ext>
            </a:extLst>
          </p:cNvPr>
          <p:cNvGrpSpPr/>
          <p:nvPr/>
        </p:nvGrpSpPr>
        <p:grpSpPr>
          <a:xfrm>
            <a:off x="9885295" y="755959"/>
            <a:ext cx="2175010" cy="902721"/>
            <a:chOff x="187190" y="1251466"/>
            <a:chExt cx="10938010" cy="4539734"/>
          </a:xfrm>
        </p:grpSpPr>
        <p:cxnSp>
          <p:nvCxnSpPr>
            <p:cNvPr id="34" name="Connecteur droit avec flèche 6">
              <a:extLst>
                <a:ext uri="{FF2B5EF4-FFF2-40B4-BE49-F238E27FC236}">
                  <a16:creationId xmlns:a16="http://schemas.microsoft.com/office/drawing/2014/main" id="{30A1A268-EF67-0745-A880-88A5A322F89E}"/>
                </a:ext>
              </a:extLst>
            </p:cNvPr>
            <p:cNvCxnSpPr>
              <a:stCxn id="46" idx="3"/>
            </p:cNvCxnSpPr>
            <p:nvPr/>
          </p:nvCxnSpPr>
          <p:spPr>
            <a:xfrm>
              <a:off x="8723508" y="2795042"/>
              <a:ext cx="548386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rganigramme : Disque magnétique 7">
              <a:extLst>
                <a:ext uri="{FF2B5EF4-FFF2-40B4-BE49-F238E27FC236}">
                  <a16:creationId xmlns:a16="http://schemas.microsoft.com/office/drawing/2014/main" id="{A27B2B3A-523E-1A4A-AC1A-F7148CF982AB}"/>
                </a:ext>
              </a:extLst>
            </p:cNvPr>
            <p:cNvSpPr/>
            <p:nvPr/>
          </p:nvSpPr>
          <p:spPr>
            <a:xfrm>
              <a:off x="187190" y="1251466"/>
              <a:ext cx="2434761" cy="1110864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36" name="Organigramme : Disque magnétique 8">
              <a:extLst>
                <a:ext uri="{FF2B5EF4-FFF2-40B4-BE49-F238E27FC236}">
                  <a16:creationId xmlns:a16="http://schemas.microsoft.com/office/drawing/2014/main" id="{311213B4-14C5-6243-9653-C1306FBF65B0}"/>
                </a:ext>
              </a:extLst>
            </p:cNvPr>
            <p:cNvSpPr/>
            <p:nvPr/>
          </p:nvSpPr>
          <p:spPr>
            <a:xfrm>
              <a:off x="6797567" y="3474219"/>
              <a:ext cx="1844516" cy="939401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37" name="Organigramme : Processus 9">
              <a:extLst>
                <a:ext uri="{FF2B5EF4-FFF2-40B4-BE49-F238E27FC236}">
                  <a16:creationId xmlns:a16="http://schemas.microsoft.com/office/drawing/2014/main" id="{492D3A59-75FA-954B-9FC0-A900A315CCE0}"/>
                </a:ext>
              </a:extLst>
            </p:cNvPr>
            <p:cNvSpPr/>
            <p:nvPr/>
          </p:nvSpPr>
          <p:spPr>
            <a:xfrm>
              <a:off x="3684378" y="2348827"/>
              <a:ext cx="2619213" cy="986372"/>
            </a:xfrm>
            <a:prstGeom prst="flowChartProcess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Rectangle à coins arrondis 10">
              <a:extLst>
                <a:ext uri="{FF2B5EF4-FFF2-40B4-BE49-F238E27FC236}">
                  <a16:creationId xmlns:a16="http://schemas.microsoft.com/office/drawing/2014/main" id="{9C932C05-6200-0F40-968D-3609363E36BF}"/>
                </a:ext>
              </a:extLst>
            </p:cNvPr>
            <p:cNvSpPr/>
            <p:nvPr/>
          </p:nvSpPr>
          <p:spPr>
            <a:xfrm>
              <a:off x="4075326" y="3500137"/>
              <a:ext cx="1844516" cy="8924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à coins arrondis 11">
              <a:extLst>
                <a:ext uri="{FF2B5EF4-FFF2-40B4-BE49-F238E27FC236}">
                  <a16:creationId xmlns:a16="http://schemas.microsoft.com/office/drawing/2014/main" id="{3D8CE205-FA08-E945-9BB5-EE449C77226F}"/>
                </a:ext>
              </a:extLst>
            </p:cNvPr>
            <p:cNvSpPr/>
            <p:nvPr/>
          </p:nvSpPr>
          <p:spPr>
            <a:xfrm>
              <a:off x="4075326" y="1438178"/>
              <a:ext cx="1844516" cy="72819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à coins arrondis 12">
              <a:extLst>
                <a:ext uri="{FF2B5EF4-FFF2-40B4-BE49-F238E27FC236}">
                  <a16:creationId xmlns:a16="http://schemas.microsoft.com/office/drawing/2014/main" id="{74356A9B-E9FB-144D-B2EA-8E333D452E62}"/>
                </a:ext>
              </a:extLst>
            </p:cNvPr>
            <p:cNvSpPr/>
            <p:nvPr/>
          </p:nvSpPr>
          <p:spPr>
            <a:xfrm>
              <a:off x="6731430" y="1456459"/>
              <a:ext cx="1844516" cy="540155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à coins arrondis 13">
              <a:extLst>
                <a:ext uri="{FF2B5EF4-FFF2-40B4-BE49-F238E27FC236}">
                  <a16:creationId xmlns:a16="http://schemas.microsoft.com/office/drawing/2014/main" id="{7B2BFE61-5F85-C24F-AE62-95D308E72173}"/>
                </a:ext>
              </a:extLst>
            </p:cNvPr>
            <p:cNvSpPr/>
            <p:nvPr/>
          </p:nvSpPr>
          <p:spPr>
            <a:xfrm>
              <a:off x="8723507" y="1459456"/>
              <a:ext cx="1844516" cy="540155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Connecteur droit avec flèche 14">
              <a:extLst>
                <a:ext uri="{FF2B5EF4-FFF2-40B4-BE49-F238E27FC236}">
                  <a16:creationId xmlns:a16="http://schemas.microsoft.com/office/drawing/2014/main" id="{C6CA97D9-CCB1-6F41-85D8-395ED1D48F6F}"/>
                </a:ext>
              </a:extLst>
            </p:cNvPr>
            <p:cNvCxnSpPr>
              <a:stCxn id="39" idx="2"/>
              <a:endCxn id="37" idx="0"/>
            </p:cNvCxnSpPr>
            <p:nvPr/>
          </p:nvCxnSpPr>
          <p:spPr>
            <a:xfrm flipH="1">
              <a:off x="4993985" y="2166373"/>
              <a:ext cx="3599" cy="1824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15">
              <a:extLst>
                <a:ext uri="{FF2B5EF4-FFF2-40B4-BE49-F238E27FC236}">
                  <a16:creationId xmlns:a16="http://schemas.microsoft.com/office/drawing/2014/main" id="{BEAA06ED-57AA-9E44-A52E-A6C08E1C7EF7}"/>
                </a:ext>
              </a:extLst>
            </p:cNvPr>
            <p:cNvCxnSpPr>
              <a:stCxn id="37" idx="2"/>
              <a:endCxn id="38" idx="0"/>
            </p:cNvCxnSpPr>
            <p:nvPr/>
          </p:nvCxnSpPr>
          <p:spPr>
            <a:xfrm>
              <a:off x="4993985" y="3335198"/>
              <a:ext cx="3599" cy="1649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avec flèche 16">
              <a:extLst>
                <a:ext uri="{FF2B5EF4-FFF2-40B4-BE49-F238E27FC236}">
                  <a16:creationId xmlns:a16="http://schemas.microsoft.com/office/drawing/2014/main" id="{748C11FB-5C23-314E-844B-3D892FFFA0DA}"/>
                </a:ext>
              </a:extLst>
            </p:cNvPr>
            <p:cNvCxnSpPr>
              <a:stCxn id="47" idx="2"/>
              <a:endCxn id="36" idx="1"/>
            </p:cNvCxnSpPr>
            <p:nvPr/>
          </p:nvCxnSpPr>
          <p:spPr>
            <a:xfrm>
              <a:off x="7719825" y="3147319"/>
              <a:ext cx="0" cy="3269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avec flèche 17">
              <a:extLst>
                <a:ext uri="{FF2B5EF4-FFF2-40B4-BE49-F238E27FC236}">
                  <a16:creationId xmlns:a16="http://schemas.microsoft.com/office/drawing/2014/main" id="{3FD7160A-0F41-564F-8591-9400BF6C55F9}"/>
                </a:ext>
              </a:extLst>
            </p:cNvPr>
            <p:cNvCxnSpPr>
              <a:stCxn id="37" idx="3"/>
              <a:endCxn id="47" idx="1"/>
            </p:cNvCxnSpPr>
            <p:nvPr/>
          </p:nvCxnSpPr>
          <p:spPr>
            <a:xfrm>
              <a:off x="6303591" y="2842013"/>
              <a:ext cx="493976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478A3C5-E56A-914D-B0DD-17A512C752C5}"/>
                </a:ext>
              </a:extLst>
            </p:cNvPr>
            <p:cNvSpPr/>
            <p:nvPr/>
          </p:nvSpPr>
          <p:spPr>
            <a:xfrm>
              <a:off x="6878990" y="2489738"/>
              <a:ext cx="1844516" cy="61061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Organigramme : Processus 19">
              <a:extLst>
                <a:ext uri="{FF2B5EF4-FFF2-40B4-BE49-F238E27FC236}">
                  <a16:creationId xmlns:a16="http://schemas.microsoft.com/office/drawing/2014/main" id="{BA1D1BB6-DE82-644F-B653-1FFED2C883F4}"/>
                </a:ext>
              </a:extLst>
            </p:cNvPr>
            <p:cNvSpPr/>
            <p:nvPr/>
          </p:nvSpPr>
          <p:spPr>
            <a:xfrm>
              <a:off x="6797567" y="2536708"/>
              <a:ext cx="1844516" cy="610611"/>
            </a:xfrm>
            <a:prstGeom prst="flowChartProcess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4660EF0-C0E4-7542-B628-1F75AC749746}"/>
                </a:ext>
              </a:extLst>
            </p:cNvPr>
            <p:cNvSpPr/>
            <p:nvPr/>
          </p:nvSpPr>
          <p:spPr>
            <a:xfrm>
              <a:off x="9280684" y="2489738"/>
              <a:ext cx="1844516" cy="610611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Organigramme : Processus 21">
              <a:extLst>
                <a:ext uri="{FF2B5EF4-FFF2-40B4-BE49-F238E27FC236}">
                  <a16:creationId xmlns:a16="http://schemas.microsoft.com/office/drawing/2014/main" id="{D74C13F6-6E62-CE4B-9A7F-3CEB19B47811}"/>
                </a:ext>
              </a:extLst>
            </p:cNvPr>
            <p:cNvSpPr/>
            <p:nvPr/>
          </p:nvSpPr>
          <p:spPr>
            <a:xfrm>
              <a:off x="9198113" y="2536708"/>
              <a:ext cx="1844516" cy="610611"/>
            </a:xfrm>
            <a:prstGeom prst="flowChartProcess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Connecteur droit 22">
              <a:extLst>
                <a:ext uri="{FF2B5EF4-FFF2-40B4-BE49-F238E27FC236}">
                  <a16:creationId xmlns:a16="http://schemas.microsoft.com/office/drawing/2014/main" id="{9479F680-800E-2D4A-AD0B-D291CAD06D3A}"/>
                </a:ext>
              </a:extLst>
            </p:cNvPr>
            <p:cNvCxnSpPr>
              <a:cxnSpLocks/>
              <a:stCxn id="39" idx="1"/>
              <a:endCxn id="35" idx="4"/>
            </p:cNvCxnSpPr>
            <p:nvPr/>
          </p:nvCxnSpPr>
          <p:spPr>
            <a:xfrm flipH="1">
              <a:off x="2621951" y="1802276"/>
              <a:ext cx="1453375" cy="462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23">
              <a:extLst>
                <a:ext uri="{FF2B5EF4-FFF2-40B4-BE49-F238E27FC236}">
                  <a16:creationId xmlns:a16="http://schemas.microsoft.com/office/drawing/2014/main" id="{5FFAB7A5-D966-BD4E-9B0D-99F59CDB44B9}"/>
                </a:ext>
              </a:extLst>
            </p:cNvPr>
            <p:cNvCxnSpPr>
              <a:stCxn id="36" idx="2"/>
              <a:endCxn id="38" idx="3"/>
            </p:cNvCxnSpPr>
            <p:nvPr/>
          </p:nvCxnSpPr>
          <p:spPr>
            <a:xfrm flipH="1">
              <a:off x="5919842" y="3943921"/>
              <a:ext cx="877724" cy="243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avec flèche 24">
              <a:extLst>
                <a:ext uri="{FF2B5EF4-FFF2-40B4-BE49-F238E27FC236}">
                  <a16:creationId xmlns:a16="http://schemas.microsoft.com/office/drawing/2014/main" id="{A8FE51CF-0CEE-0C4A-8CFC-23ED6EA3C088}"/>
                </a:ext>
              </a:extLst>
            </p:cNvPr>
            <p:cNvCxnSpPr>
              <a:stCxn id="47" idx="3"/>
              <a:endCxn id="49" idx="1"/>
            </p:cNvCxnSpPr>
            <p:nvPr/>
          </p:nvCxnSpPr>
          <p:spPr>
            <a:xfrm>
              <a:off x="8642084" y="2842013"/>
              <a:ext cx="55603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à coins arrondis 25">
              <a:extLst>
                <a:ext uri="{FF2B5EF4-FFF2-40B4-BE49-F238E27FC236}">
                  <a16:creationId xmlns:a16="http://schemas.microsoft.com/office/drawing/2014/main" id="{DAF4FB8F-CBB9-8943-94AD-A0C048970C03}"/>
                </a:ext>
              </a:extLst>
            </p:cNvPr>
            <p:cNvSpPr/>
            <p:nvPr/>
          </p:nvSpPr>
          <p:spPr>
            <a:xfrm>
              <a:off x="2621951" y="3500138"/>
              <a:ext cx="1084472" cy="85235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54" name="Connecteur droit avec flèche 26">
              <a:extLst>
                <a:ext uri="{FF2B5EF4-FFF2-40B4-BE49-F238E27FC236}">
                  <a16:creationId xmlns:a16="http://schemas.microsoft.com/office/drawing/2014/main" id="{847FE4ED-FAF6-164C-8BDD-CB50D6EE59AB}"/>
                </a:ext>
              </a:extLst>
            </p:cNvPr>
            <p:cNvCxnSpPr>
              <a:stCxn id="37" idx="2"/>
              <a:endCxn id="53" idx="0"/>
            </p:cNvCxnSpPr>
            <p:nvPr/>
          </p:nvCxnSpPr>
          <p:spPr>
            <a:xfrm flipH="1">
              <a:off x="3164187" y="3335198"/>
              <a:ext cx="1829798" cy="1649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droit avec flèche 27">
              <a:extLst>
                <a:ext uri="{FF2B5EF4-FFF2-40B4-BE49-F238E27FC236}">
                  <a16:creationId xmlns:a16="http://schemas.microsoft.com/office/drawing/2014/main" id="{FF5FB47E-3AE0-974B-9A7E-063B9F5951AD}"/>
                </a:ext>
              </a:extLst>
            </p:cNvPr>
            <p:cNvCxnSpPr>
              <a:stCxn id="40" idx="2"/>
              <a:endCxn id="48" idx="0"/>
            </p:cNvCxnSpPr>
            <p:nvPr/>
          </p:nvCxnSpPr>
          <p:spPr>
            <a:xfrm>
              <a:off x="7653688" y="1996614"/>
              <a:ext cx="2549254" cy="493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avec flèche 28">
              <a:extLst>
                <a:ext uri="{FF2B5EF4-FFF2-40B4-BE49-F238E27FC236}">
                  <a16:creationId xmlns:a16="http://schemas.microsoft.com/office/drawing/2014/main" id="{BE01C3BD-BF97-EE4C-B1DA-5FCCF7362674}"/>
                </a:ext>
              </a:extLst>
            </p:cNvPr>
            <p:cNvCxnSpPr>
              <a:stCxn id="41" idx="2"/>
              <a:endCxn id="48" idx="0"/>
            </p:cNvCxnSpPr>
            <p:nvPr/>
          </p:nvCxnSpPr>
          <p:spPr>
            <a:xfrm>
              <a:off x="9645765" y="1999611"/>
              <a:ext cx="557177" cy="49012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avec flèche 29">
              <a:extLst>
                <a:ext uri="{FF2B5EF4-FFF2-40B4-BE49-F238E27FC236}">
                  <a16:creationId xmlns:a16="http://schemas.microsoft.com/office/drawing/2014/main" id="{A41524F7-B0F5-6048-83A2-1AE4993570C8}"/>
                </a:ext>
              </a:extLst>
            </p:cNvPr>
            <p:cNvCxnSpPr>
              <a:stCxn id="40" idx="2"/>
              <a:endCxn id="37" idx="0"/>
            </p:cNvCxnSpPr>
            <p:nvPr/>
          </p:nvCxnSpPr>
          <p:spPr>
            <a:xfrm flipH="1">
              <a:off x="4993985" y="1996614"/>
              <a:ext cx="2659703" cy="35221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avec flèche 30">
              <a:extLst>
                <a:ext uri="{FF2B5EF4-FFF2-40B4-BE49-F238E27FC236}">
                  <a16:creationId xmlns:a16="http://schemas.microsoft.com/office/drawing/2014/main" id="{71811D0A-A9F0-8544-A16E-ED02CC632621}"/>
                </a:ext>
              </a:extLst>
            </p:cNvPr>
            <p:cNvCxnSpPr>
              <a:stCxn id="41" idx="2"/>
              <a:endCxn id="37" idx="0"/>
            </p:cNvCxnSpPr>
            <p:nvPr/>
          </p:nvCxnSpPr>
          <p:spPr>
            <a:xfrm flipH="1">
              <a:off x="4993985" y="1999611"/>
              <a:ext cx="4651780" cy="3492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2C24CB1-B4E1-DF48-BFAD-0A0DE8E7E0DF}"/>
                </a:ext>
              </a:extLst>
            </p:cNvPr>
            <p:cNvSpPr/>
            <p:nvPr/>
          </p:nvSpPr>
          <p:spPr>
            <a:xfrm>
              <a:off x="5401578" y="4761517"/>
              <a:ext cx="1844516" cy="61061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0" name="Multidocument 59">
              <a:extLst>
                <a:ext uri="{FF2B5EF4-FFF2-40B4-BE49-F238E27FC236}">
                  <a16:creationId xmlns:a16="http://schemas.microsoft.com/office/drawing/2014/main" id="{0FAF82ED-01CF-704B-B459-48B43829A800}"/>
                </a:ext>
              </a:extLst>
            </p:cNvPr>
            <p:cNvSpPr/>
            <p:nvPr/>
          </p:nvSpPr>
          <p:spPr>
            <a:xfrm>
              <a:off x="8575946" y="4364620"/>
              <a:ext cx="2401912" cy="1426580"/>
            </a:xfrm>
            <a:prstGeom prst="flowChartMultidocumen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Connecteur droit avec flèche 16">
              <a:extLst>
                <a:ext uri="{FF2B5EF4-FFF2-40B4-BE49-F238E27FC236}">
                  <a16:creationId xmlns:a16="http://schemas.microsoft.com/office/drawing/2014/main" id="{E6FC15CA-CCBE-8C47-8828-076085FAE42F}"/>
                </a:ext>
              </a:extLst>
            </p:cNvPr>
            <p:cNvCxnSpPr>
              <a:cxnSpLocks/>
              <a:stCxn id="59" idx="3"/>
              <a:endCxn id="60" idx="1"/>
            </p:cNvCxnSpPr>
            <p:nvPr/>
          </p:nvCxnSpPr>
          <p:spPr>
            <a:xfrm>
              <a:off x="7246095" y="5066823"/>
              <a:ext cx="1329851" cy="110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avec flèche 16">
              <a:extLst>
                <a:ext uri="{FF2B5EF4-FFF2-40B4-BE49-F238E27FC236}">
                  <a16:creationId xmlns:a16="http://schemas.microsoft.com/office/drawing/2014/main" id="{B7865B27-C525-BE41-BB6A-E0A011500D1E}"/>
                </a:ext>
              </a:extLst>
            </p:cNvPr>
            <p:cNvCxnSpPr>
              <a:cxnSpLocks/>
              <a:stCxn id="38" idx="2"/>
              <a:endCxn id="59" idx="0"/>
            </p:cNvCxnSpPr>
            <p:nvPr/>
          </p:nvCxnSpPr>
          <p:spPr>
            <a:xfrm>
              <a:off x="4997584" y="4392568"/>
              <a:ext cx="1326252" cy="36895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avec flèche 16">
              <a:extLst>
                <a:ext uri="{FF2B5EF4-FFF2-40B4-BE49-F238E27FC236}">
                  <a16:creationId xmlns:a16="http://schemas.microsoft.com/office/drawing/2014/main" id="{23BAF4B4-42E0-014E-9E62-D13FCD8D2AB2}"/>
                </a:ext>
              </a:extLst>
            </p:cNvPr>
            <p:cNvCxnSpPr>
              <a:cxnSpLocks/>
              <a:stCxn id="36" idx="3"/>
              <a:endCxn id="59" idx="0"/>
            </p:cNvCxnSpPr>
            <p:nvPr/>
          </p:nvCxnSpPr>
          <p:spPr>
            <a:xfrm flipH="1">
              <a:off x="6323837" y="4413620"/>
              <a:ext cx="1395988" cy="34789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65B2888-65BA-9047-BA13-DA88096F256E}"/>
                </a:ext>
              </a:extLst>
            </p:cNvPr>
            <p:cNvSpPr/>
            <p:nvPr/>
          </p:nvSpPr>
          <p:spPr>
            <a:xfrm>
              <a:off x="233808" y="4652281"/>
              <a:ext cx="2308096" cy="851257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Connecteur droit avec flèche 16">
              <a:extLst>
                <a:ext uri="{FF2B5EF4-FFF2-40B4-BE49-F238E27FC236}">
                  <a16:creationId xmlns:a16="http://schemas.microsoft.com/office/drawing/2014/main" id="{C3941375-0409-204C-91F6-63DCC13FE2E5}"/>
                </a:ext>
              </a:extLst>
            </p:cNvPr>
            <p:cNvCxnSpPr>
              <a:cxnSpLocks/>
              <a:stCxn id="64" idx="0"/>
              <a:endCxn id="35" idx="3"/>
            </p:cNvCxnSpPr>
            <p:nvPr/>
          </p:nvCxnSpPr>
          <p:spPr>
            <a:xfrm flipV="1">
              <a:off x="1387855" y="2362330"/>
              <a:ext cx="16715" cy="228995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avec flèche 16">
              <a:extLst>
                <a:ext uri="{FF2B5EF4-FFF2-40B4-BE49-F238E27FC236}">
                  <a16:creationId xmlns:a16="http://schemas.microsoft.com/office/drawing/2014/main" id="{635F55C5-D142-8E40-A652-60B50395FCB3}"/>
                </a:ext>
              </a:extLst>
            </p:cNvPr>
            <p:cNvCxnSpPr>
              <a:cxnSpLocks/>
              <a:stCxn id="64" idx="6"/>
              <a:endCxn id="59" idx="1"/>
            </p:cNvCxnSpPr>
            <p:nvPr/>
          </p:nvCxnSpPr>
          <p:spPr>
            <a:xfrm flipV="1">
              <a:off x="2541903" y="5066823"/>
              <a:ext cx="2859675" cy="110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eur droit 22">
              <a:extLst>
                <a:ext uri="{FF2B5EF4-FFF2-40B4-BE49-F238E27FC236}">
                  <a16:creationId xmlns:a16="http://schemas.microsoft.com/office/drawing/2014/main" id="{173D6F80-C16B-1B4D-AC2F-567A51E04F7A}"/>
                </a:ext>
              </a:extLst>
            </p:cNvPr>
            <p:cNvCxnSpPr>
              <a:cxnSpLocks/>
              <a:stCxn id="37" idx="1"/>
              <a:endCxn id="35" idx="4"/>
            </p:cNvCxnSpPr>
            <p:nvPr/>
          </p:nvCxnSpPr>
          <p:spPr>
            <a:xfrm flipH="1" flipV="1">
              <a:off x="2621951" y="1806898"/>
              <a:ext cx="1062427" cy="103511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eur droit avec flèche 16">
              <a:extLst>
                <a:ext uri="{FF2B5EF4-FFF2-40B4-BE49-F238E27FC236}">
                  <a16:creationId xmlns:a16="http://schemas.microsoft.com/office/drawing/2014/main" id="{F75FA2DB-E8A5-0D41-ADAD-745C0E9019A1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 flipH="1" flipV="1">
              <a:off x="5851811" y="3318054"/>
              <a:ext cx="945756" cy="62586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AC8412E-4AF9-0F4B-88FA-3790664B7015}"/>
              </a:ext>
            </a:extLst>
          </p:cNvPr>
          <p:cNvSpPr txBox="1"/>
          <p:nvPr/>
        </p:nvSpPr>
        <p:spPr>
          <a:xfrm>
            <a:off x="6061887" y="1732805"/>
            <a:ext cx="604425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O-ETB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8916F7-C9E2-5646-8650-22589C9BBBD5}"/>
              </a:ext>
            </a:extLst>
          </p:cNvPr>
          <p:cNvSpPr txBox="1"/>
          <p:nvPr/>
        </p:nvSpPr>
        <p:spPr>
          <a:xfrm>
            <a:off x="5011761" y="2732362"/>
            <a:ext cx="1004554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REPOSITORY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8C91243-5966-2142-871C-CEB7C898E5D5}"/>
              </a:ext>
            </a:extLst>
          </p:cNvPr>
          <p:cNvSpPr txBox="1"/>
          <p:nvPr/>
        </p:nvSpPr>
        <p:spPr>
          <a:xfrm>
            <a:off x="4280207" y="3973530"/>
            <a:ext cx="610196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CASES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E4D183-316F-C54D-87B7-AC4A385E5858}"/>
              </a:ext>
            </a:extLst>
          </p:cNvPr>
          <p:cNvSpPr txBox="1"/>
          <p:nvPr/>
        </p:nvSpPr>
        <p:spPr>
          <a:xfrm>
            <a:off x="5545849" y="3973530"/>
            <a:ext cx="848734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EVIDENCE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B00D6A-1288-C247-AAFF-C0209A75F532}"/>
              </a:ext>
            </a:extLst>
          </p:cNvPr>
          <p:cNvCxnSpPr>
            <a:cxnSpLocks/>
            <a:stCxn id="5" idx="2"/>
            <a:endCxn id="69" idx="0"/>
          </p:cNvCxnSpPr>
          <p:nvPr/>
        </p:nvCxnSpPr>
        <p:spPr>
          <a:xfrm flipH="1">
            <a:off x="5514039" y="2127789"/>
            <a:ext cx="850061" cy="604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0943C24-9AB8-4D40-97CC-38EB93872D1B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 flipH="1">
            <a:off x="4585306" y="3127346"/>
            <a:ext cx="928733" cy="84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ADC7AE2-D1BB-3840-B8BA-181C41B56AD9}"/>
              </a:ext>
            </a:extLst>
          </p:cNvPr>
          <p:cNvCxnSpPr>
            <a:cxnSpLocks/>
            <a:stCxn id="69" idx="2"/>
            <a:endCxn id="71" idx="0"/>
          </p:cNvCxnSpPr>
          <p:nvPr/>
        </p:nvCxnSpPr>
        <p:spPr>
          <a:xfrm>
            <a:off x="5514039" y="3127346"/>
            <a:ext cx="456177" cy="84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EF730F6-9616-514D-8330-818F9FB296DB}"/>
              </a:ext>
            </a:extLst>
          </p:cNvPr>
          <p:cNvCxnSpPr>
            <a:cxnSpLocks/>
            <a:stCxn id="70" idx="2"/>
            <a:endCxn id="80" idx="0"/>
          </p:cNvCxnSpPr>
          <p:nvPr/>
        </p:nvCxnSpPr>
        <p:spPr>
          <a:xfrm flipH="1">
            <a:off x="3306165" y="4368514"/>
            <a:ext cx="1279141" cy="1073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EEA330B-1B68-044A-8198-139774EF3E5D}"/>
              </a:ext>
            </a:extLst>
          </p:cNvPr>
          <p:cNvCxnSpPr>
            <a:cxnSpLocks/>
            <a:stCxn id="70" idx="2"/>
            <a:endCxn id="81" idx="0"/>
          </p:cNvCxnSpPr>
          <p:nvPr/>
        </p:nvCxnSpPr>
        <p:spPr>
          <a:xfrm flipH="1">
            <a:off x="4159911" y="4368514"/>
            <a:ext cx="425395" cy="1073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E20A180-6343-A749-927C-9FF32094E57D}"/>
              </a:ext>
            </a:extLst>
          </p:cNvPr>
          <p:cNvCxnSpPr>
            <a:cxnSpLocks/>
            <a:stCxn id="71" idx="2"/>
            <a:endCxn id="83" idx="0"/>
          </p:cNvCxnSpPr>
          <p:nvPr/>
        </p:nvCxnSpPr>
        <p:spPr>
          <a:xfrm>
            <a:off x="5970216" y="4368514"/>
            <a:ext cx="4947" cy="1117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1030EC2-91CF-294B-9600-4EDC51F10DFE}"/>
              </a:ext>
            </a:extLst>
          </p:cNvPr>
          <p:cNvCxnSpPr>
            <a:cxnSpLocks/>
            <a:stCxn id="71" idx="2"/>
            <a:endCxn id="84" idx="0"/>
          </p:cNvCxnSpPr>
          <p:nvPr/>
        </p:nvCxnSpPr>
        <p:spPr>
          <a:xfrm>
            <a:off x="5970216" y="4368514"/>
            <a:ext cx="645057" cy="1117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9CDBAE3-D00B-2845-B978-7A9EACB8735D}"/>
              </a:ext>
            </a:extLst>
          </p:cNvPr>
          <p:cNvCxnSpPr>
            <a:cxnSpLocks/>
            <a:stCxn id="71" idx="2"/>
            <a:endCxn id="85" idx="0"/>
          </p:cNvCxnSpPr>
          <p:nvPr/>
        </p:nvCxnSpPr>
        <p:spPr>
          <a:xfrm>
            <a:off x="5970216" y="4368514"/>
            <a:ext cx="1749933" cy="111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C2B224B-5E01-B14A-8A62-063813F479BB}"/>
              </a:ext>
            </a:extLst>
          </p:cNvPr>
          <p:cNvCxnSpPr>
            <a:cxnSpLocks/>
            <a:stCxn id="70" idx="2"/>
            <a:endCxn id="82" idx="0"/>
          </p:cNvCxnSpPr>
          <p:nvPr/>
        </p:nvCxnSpPr>
        <p:spPr>
          <a:xfrm>
            <a:off x="4585306" y="4368514"/>
            <a:ext cx="717408" cy="1111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DC9300B3-89EE-F94A-A7B3-E3776C6AF3E5}"/>
              </a:ext>
            </a:extLst>
          </p:cNvPr>
          <p:cNvSpPr txBox="1"/>
          <p:nvPr/>
        </p:nvSpPr>
        <p:spPr>
          <a:xfrm>
            <a:off x="3030884" y="5441587"/>
            <a:ext cx="550562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CID 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D7F5C1A-ED6C-AC47-A3F8-00CAA15313D6}"/>
              </a:ext>
            </a:extLst>
          </p:cNvPr>
          <p:cNvSpPr txBox="1"/>
          <p:nvPr/>
        </p:nvSpPr>
        <p:spPr>
          <a:xfrm>
            <a:off x="3884630" y="5441587"/>
            <a:ext cx="550562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CID 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CE5AD01-55D4-F448-9920-E54BBFB589C8}"/>
              </a:ext>
            </a:extLst>
          </p:cNvPr>
          <p:cNvSpPr txBox="1"/>
          <p:nvPr/>
        </p:nvSpPr>
        <p:spPr>
          <a:xfrm>
            <a:off x="5005310" y="5480261"/>
            <a:ext cx="594807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CID m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564E4F-78BF-B846-8D4B-D25AA5414BA2}"/>
              </a:ext>
            </a:extLst>
          </p:cNvPr>
          <p:cNvSpPr txBox="1"/>
          <p:nvPr/>
        </p:nvSpPr>
        <p:spPr>
          <a:xfrm>
            <a:off x="5728737" y="5486163"/>
            <a:ext cx="492851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EC 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CC8CD8A-346E-CB4A-B577-C3AD6D757D48}"/>
              </a:ext>
            </a:extLst>
          </p:cNvPr>
          <p:cNvSpPr txBox="1"/>
          <p:nvPr/>
        </p:nvSpPr>
        <p:spPr>
          <a:xfrm>
            <a:off x="6368847" y="5486163"/>
            <a:ext cx="492851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EC 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7DBFBB5-E136-2E4B-9812-C181173DDC4D}"/>
              </a:ext>
            </a:extLst>
          </p:cNvPr>
          <p:cNvSpPr txBox="1"/>
          <p:nvPr/>
        </p:nvSpPr>
        <p:spPr>
          <a:xfrm>
            <a:off x="7472762" y="5482671"/>
            <a:ext cx="494774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EC 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767F351-277C-8443-BA9C-ED3CCC1A9DCD}"/>
              </a:ext>
            </a:extLst>
          </p:cNvPr>
          <p:cNvSpPr txBox="1"/>
          <p:nvPr/>
        </p:nvSpPr>
        <p:spPr>
          <a:xfrm>
            <a:off x="7744148" y="2808464"/>
            <a:ext cx="471689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CAP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BCF5A42-7601-5943-BEB8-6E1BCFFC1BC4}"/>
              </a:ext>
            </a:extLst>
          </p:cNvPr>
          <p:cNvSpPr txBox="1"/>
          <p:nvPr/>
        </p:nvSpPr>
        <p:spPr>
          <a:xfrm>
            <a:off x="7008957" y="5373390"/>
            <a:ext cx="362040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…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20136E7-AD36-F743-AA97-7A944B1CCEC5}"/>
              </a:ext>
            </a:extLst>
          </p:cNvPr>
          <p:cNvSpPr txBox="1"/>
          <p:nvPr/>
        </p:nvSpPr>
        <p:spPr>
          <a:xfrm>
            <a:off x="4631406" y="5370013"/>
            <a:ext cx="362040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… 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3DD888A-066A-064A-B65E-AA1CB226E225}"/>
              </a:ext>
            </a:extLst>
          </p:cNvPr>
          <p:cNvCxnSpPr>
            <a:cxnSpLocks/>
            <a:stCxn id="5" idx="2"/>
            <a:endCxn id="86" idx="0"/>
          </p:cNvCxnSpPr>
          <p:nvPr/>
        </p:nvCxnSpPr>
        <p:spPr>
          <a:xfrm>
            <a:off x="6364100" y="2127789"/>
            <a:ext cx="1615892" cy="680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5C1B087-B749-E14A-95AF-1960B071FC6E}"/>
              </a:ext>
            </a:extLst>
          </p:cNvPr>
          <p:cNvCxnSpPr>
            <a:cxnSpLocks/>
            <a:stCxn id="86" idx="2"/>
            <a:endCxn id="103" idx="0"/>
          </p:cNvCxnSpPr>
          <p:nvPr/>
        </p:nvCxnSpPr>
        <p:spPr>
          <a:xfrm flipH="1">
            <a:off x="7244484" y="3203449"/>
            <a:ext cx="735508" cy="79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8407B3C-4507-8242-9120-51E08D215A04}"/>
              </a:ext>
            </a:extLst>
          </p:cNvPr>
          <p:cNvCxnSpPr>
            <a:cxnSpLocks/>
            <a:stCxn id="86" idx="2"/>
            <a:endCxn id="104" idx="0"/>
          </p:cNvCxnSpPr>
          <p:nvPr/>
        </p:nvCxnSpPr>
        <p:spPr>
          <a:xfrm>
            <a:off x="7979992" y="3203449"/>
            <a:ext cx="25082" cy="8158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B82B22D-C561-A44C-8071-E81FABCC72AF}"/>
              </a:ext>
            </a:extLst>
          </p:cNvPr>
          <p:cNvCxnSpPr>
            <a:cxnSpLocks/>
            <a:stCxn id="86" idx="2"/>
            <a:endCxn id="105" idx="0"/>
          </p:cNvCxnSpPr>
          <p:nvPr/>
        </p:nvCxnSpPr>
        <p:spPr>
          <a:xfrm>
            <a:off x="7979992" y="3203449"/>
            <a:ext cx="1282150" cy="790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12B47679-8D9C-7747-A374-BC384656C7C1}"/>
              </a:ext>
            </a:extLst>
          </p:cNvPr>
          <p:cNvSpPr txBox="1"/>
          <p:nvPr/>
        </p:nvSpPr>
        <p:spPr>
          <a:xfrm>
            <a:off x="6826069" y="3997544"/>
            <a:ext cx="836830" cy="39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CPI 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F709F7-8D2E-3843-AF25-634022C77E2C}"/>
              </a:ext>
            </a:extLst>
          </p:cNvPr>
          <p:cNvSpPr txBox="1"/>
          <p:nvPr/>
        </p:nvSpPr>
        <p:spPr>
          <a:xfrm>
            <a:off x="7557623" y="4019296"/>
            <a:ext cx="894902" cy="39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CPI 2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EF45381-DBD3-1F45-A362-17CD542C9C7D}"/>
              </a:ext>
            </a:extLst>
          </p:cNvPr>
          <p:cNvSpPr txBox="1"/>
          <p:nvPr/>
        </p:nvSpPr>
        <p:spPr>
          <a:xfrm>
            <a:off x="8814692" y="3994052"/>
            <a:ext cx="894901" cy="39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CPI p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CF6D8BF-7E7A-F444-B3DE-5E191F842692}"/>
              </a:ext>
            </a:extLst>
          </p:cNvPr>
          <p:cNvSpPr txBox="1"/>
          <p:nvPr/>
        </p:nvSpPr>
        <p:spPr>
          <a:xfrm>
            <a:off x="8350887" y="3884772"/>
            <a:ext cx="475537" cy="39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…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BC72AB4-0B0C-F844-AA34-82EA913A23AF}"/>
              </a:ext>
            </a:extLst>
          </p:cNvPr>
          <p:cNvSpPr txBox="1"/>
          <p:nvPr/>
        </p:nvSpPr>
        <p:spPr>
          <a:xfrm>
            <a:off x="2324029" y="2732362"/>
            <a:ext cx="387047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KB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998779E-977F-C34A-98E3-E68EF2286F92}"/>
              </a:ext>
            </a:extLst>
          </p:cNvPr>
          <p:cNvCxnSpPr>
            <a:cxnSpLocks/>
            <a:stCxn id="5" idx="2"/>
            <a:endCxn id="122" idx="0"/>
          </p:cNvCxnSpPr>
          <p:nvPr/>
        </p:nvCxnSpPr>
        <p:spPr>
          <a:xfrm flipH="1">
            <a:off x="2517553" y="2127789"/>
            <a:ext cx="3846547" cy="604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19D88DEC-EF43-2446-BE86-8A19F2B24A2F}"/>
              </a:ext>
            </a:extLst>
          </p:cNvPr>
          <p:cNvSpPr txBox="1"/>
          <p:nvPr/>
        </p:nvSpPr>
        <p:spPr>
          <a:xfrm>
            <a:off x="1279709" y="3958826"/>
            <a:ext cx="760244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MODELS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B088E0E-3EAB-9F48-9578-0D0A6D50FC16}"/>
              </a:ext>
            </a:extLst>
          </p:cNvPr>
          <p:cNvSpPr txBox="1"/>
          <p:nvPr/>
        </p:nvSpPr>
        <p:spPr>
          <a:xfrm>
            <a:off x="2802520" y="3979589"/>
            <a:ext cx="7072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EVIDENCE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CB29FDB-D136-4C49-89AC-939B748AA2DC}"/>
              </a:ext>
            </a:extLst>
          </p:cNvPr>
          <p:cNvCxnSpPr>
            <a:cxnSpLocks/>
            <a:stCxn id="122" idx="2"/>
            <a:endCxn id="127" idx="0"/>
          </p:cNvCxnSpPr>
          <p:nvPr/>
        </p:nvCxnSpPr>
        <p:spPr>
          <a:xfrm flipH="1">
            <a:off x="1659832" y="3127346"/>
            <a:ext cx="857721" cy="83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0627C16-DBD1-9F46-843A-4B3D0247619B}"/>
              </a:ext>
            </a:extLst>
          </p:cNvPr>
          <p:cNvCxnSpPr>
            <a:cxnSpLocks/>
            <a:stCxn id="122" idx="2"/>
            <a:endCxn id="128" idx="0"/>
          </p:cNvCxnSpPr>
          <p:nvPr/>
        </p:nvCxnSpPr>
        <p:spPr>
          <a:xfrm>
            <a:off x="2517553" y="3127346"/>
            <a:ext cx="638590" cy="852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E52B4DA4-3CCB-FE45-8E0B-E9F34A2E4DC6}"/>
              </a:ext>
            </a:extLst>
          </p:cNvPr>
          <p:cNvSpPr txBox="1"/>
          <p:nvPr/>
        </p:nvSpPr>
        <p:spPr>
          <a:xfrm>
            <a:off x="1994981" y="3958826"/>
            <a:ext cx="867971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PATTERNS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8A9D30B-C481-5C4C-AFA1-394E76816ADA}"/>
              </a:ext>
            </a:extLst>
          </p:cNvPr>
          <p:cNvCxnSpPr>
            <a:cxnSpLocks/>
            <a:stCxn id="122" idx="2"/>
            <a:endCxn id="137" idx="0"/>
          </p:cNvCxnSpPr>
          <p:nvPr/>
        </p:nvCxnSpPr>
        <p:spPr>
          <a:xfrm flipH="1">
            <a:off x="2428967" y="3127346"/>
            <a:ext cx="88586" cy="83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F1228FF-539E-034A-95AF-04C731DEF1BC}"/>
              </a:ext>
            </a:extLst>
          </p:cNvPr>
          <p:cNvSpPr txBox="1"/>
          <p:nvPr/>
        </p:nvSpPr>
        <p:spPr>
          <a:xfrm>
            <a:off x="2531924" y="3480679"/>
            <a:ext cx="362040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…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4883F6D-A2FA-D74E-865A-8AFDA591A5A7}"/>
              </a:ext>
            </a:extLst>
          </p:cNvPr>
          <p:cNvSpPr txBox="1"/>
          <p:nvPr/>
        </p:nvSpPr>
        <p:spPr>
          <a:xfrm>
            <a:off x="8380622" y="2814146"/>
            <a:ext cx="602501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BUILD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1859E31-2BD5-1140-8833-97CE2FF389AB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>
          <a:xfrm>
            <a:off x="6364100" y="2127789"/>
            <a:ext cx="2317773" cy="6863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701CDDF-80D4-524E-AE52-C5A709FE2EB2}"/>
              </a:ext>
            </a:extLst>
          </p:cNvPr>
          <p:cNvSpPr txBox="1"/>
          <p:nvPr/>
        </p:nvSpPr>
        <p:spPr>
          <a:xfrm>
            <a:off x="9935174" y="2814146"/>
            <a:ext cx="471689" cy="39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src</a:t>
            </a:r>
            <a:endParaRPr lang="en-US" sz="1000" dirty="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8BAF475-D83F-CA46-B9B1-9CE7A25A379A}"/>
              </a:ext>
            </a:extLst>
          </p:cNvPr>
          <p:cNvCxnSpPr>
            <a:cxnSpLocks/>
            <a:stCxn id="5" idx="2"/>
            <a:endCxn id="89" idx="0"/>
          </p:cNvCxnSpPr>
          <p:nvPr/>
        </p:nvCxnSpPr>
        <p:spPr>
          <a:xfrm>
            <a:off x="6364100" y="2127789"/>
            <a:ext cx="3806919" cy="6863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055FBF84-AE8B-3241-8EED-68BCFF9F0D8B}"/>
              </a:ext>
            </a:extLst>
          </p:cNvPr>
          <p:cNvSpPr txBox="1"/>
          <p:nvPr/>
        </p:nvSpPr>
        <p:spPr>
          <a:xfrm>
            <a:off x="10565635" y="2805947"/>
            <a:ext cx="471689" cy="39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doc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C96EE05-095C-4343-9CAA-FD2B294A3F0A}"/>
              </a:ext>
            </a:extLst>
          </p:cNvPr>
          <p:cNvCxnSpPr>
            <a:cxnSpLocks/>
            <a:stCxn id="5" idx="2"/>
            <a:endCxn id="93" idx="0"/>
          </p:cNvCxnSpPr>
          <p:nvPr/>
        </p:nvCxnSpPr>
        <p:spPr>
          <a:xfrm>
            <a:off x="6364100" y="2127789"/>
            <a:ext cx="4437379" cy="6781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E7D731D3-7497-8F46-B2FC-54CE385E240A}"/>
              </a:ext>
            </a:extLst>
          </p:cNvPr>
          <p:cNvSpPr txBox="1"/>
          <p:nvPr/>
        </p:nvSpPr>
        <p:spPr>
          <a:xfrm>
            <a:off x="9138894" y="2811957"/>
            <a:ext cx="517858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TEST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960119D-F6BD-D64F-95E5-7F1CC4C572A7}"/>
              </a:ext>
            </a:extLst>
          </p:cNvPr>
          <p:cNvCxnSpPr>
            <a:cxnSpLocks/>
            <a:stCxn id="5" idx="2"/>
            <a:endCxn id="96" idx="0"/>
          </p:cNvCxnSpPr>
          <p:nvPr/>
        </p:nvCxnSpPr>
        <p:spPr>
          <a:xfrm>
            <a:off x="6364100" y="2127789"/>
            <a:ext cx="3033723" cy="6841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373E6E41-AA00-8846-A5AD-CFEE285446B8}"/>
              </a:ext>
            </a:extLst>
          </p:cNvPr>
          <p:cNvSpPr txBox="1"/>
          <p:nvPr/>
        </p:nvSpPr>
        <p:spPr>
          <a:xfrm>
            <a:off x="2722490" y="4513795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categories.pl</a:t>
            </a:r>
            <a:endParaRPr lang="en-US" sz="1000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0B6837B-0189-3A49-BEFB-BBCA50983F2A}"/>
              </a:ext>
            </a:extLst>
          </p:cNvPr>
          <p:cNvCxnSpPr>
            <a:cxnSpLocks/>
            <a:stCxn id="128" idx="2"/>
            <a:endCxn id="98" idx="0"/>
          </p:cNvCxnSpPr>
          <p:nvPr/>
        </p:nvCxnSpPr>
        <p:spPr>
          <a:xfrm flipH="1">
            <a:off x="3148248" y="4225810"/>
            <a:ext cx="7895" cy="287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3710E6A-080A-7A4C-A873-9B48F21AA479}"/>
              </a:ext>
            </a:extLst>
          </p:cNvPr>
          <p:cNvCxnSpPr>
            <a:cxnSpLocks/>
            <a:stCxn id="122" idx="2"/>
            <a:endCxn id="109" idx="0"/>
          </p:cNvCxnSpPr>
          <p:nvPr/>
        </p:nvCxnSpPr>
        <p:spPr>
          <a:xfrm>
            <a:off x="2517553" y="3127346"/>
            <a:ext cx="1225139" cy="848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27498DCA-B8F0-2C4C-A19F-97BE163C4309}"/>
              </a:ext>
            </a:extLst>
          </p:cNvPr>
          <p:cNvSpPr txBox="1"/>
          <p:nvPr/>
        </p:nvSpPr>
        <p:spPr>
          <a:xfrm>
            <a:off x="3439564" y="3976308"/>
            <a:ext cx="6062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4275149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461" y="1275072"/>
            <a:ext cx="11821823" cy="1560275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GB" dirty="0"/>
              <a:t>CASES organised according to assurance case identifier</a:t>
            </a:r>
          </a:p>
          <a:p>
            <a:pPr lvl="1"/>
            <a:r>
              <a:rPr lang="en-GB" dirty="0"/>
              <a:t>EVIDENCE organised according to evidence category</a:t>
            </a:r>
          </a:p>
          <a:p>
            <a:pPr lvl="1"/>
            <a:r>
              <a:rPr lang="en-GB" dirty="0"/>
              <a:t>CAP organised according to certification project identifier or individual files/</a:t>
            </a:r>
            <a:r>
              <a:rPr lang="en-GB" dirty="0" err="1"/>
              <a:t>dirs</a:t>
            </a:r>
            <a:endParaRPr lang="en-GB" dirty="0"/>
          </a:p>
          <a:p>
            <a:pPr lvl="1"/>
            <a:r>
              <a:rPr lang="en-GB" dirty="0"/>
              <a:t>KB contains MODELS, PATTERNS, EVIDENCE, AGENTS …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624124"/>
            <a:ext cx="2844800" cy="233876"/>
          </a:xfrm>
        </p:spPr>
        <p:txBody>
          <a:bodyPr/>
          <a:lstStyle/>
          <a:p>
            <a:r>
              <a:rPr lang="en-US"/>
              <a:t>The Open Group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98800" y="6616998"/>
            <a:ext cx="6096000" cy="241002"/>
          </a:xfrm>
        </p:spPr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15600" y="6616998"/>
            <a:ext cx="1422400" cy="24100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Updated O-ETB Dynamic database structure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2114659-2B00-6F4A-ACA2-6671FB791E39}"/>
              </a:ext>
            </a:extLst>
          </p:cNvPr>
          <p:cNvGrpSpPr/>
          <p:nvPr/>
        </p:nvGrpSpPr>
        <p:grpSpPr>
          <a:xfrm>
            <a:off x="9885295" y="755959"/>
            <a:ext cx="2175010" cy="902721"/>
            <a:chOff x="187190" y="1251466"/>
            <a:chExt cx="10938010" cy="4539734"/>
          </a:xfrm>
        </p:grpSpPr>
        <p:cxnSp>
          <p:nvCxnSpPr>
            <p:cNvPr id="34" name="Connecteur droit avec flèche 6">
              <a:extLst>
                <a:ext uri="{FF2B5EF4-FFF2-40B4-BE49-F238E27FC236}">
                  <a16:creationId xmlns:a16="http://schemas.microsoft.com/office/drawing/2014/main" id="{30A1A268-EF67-0745-A880-88A5A322F89E}"/>
                </a:ext>
              </a:extLst>
            </p:cNvPr>
            <p:cNvCxnSpPr>
              <a:stCxn id="46" idx="3"/>
            </p:cNvCxnSpPr>
            <p:nvPr/>
          </p:nvCxnSpPr>
          <p:spPr>
            <a:xfrm>
              <a:off x="8723508" y="2795042"/>
              <a:ext cx="548386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rganigramme : Disque magnétique 7">
              <a:extLst>
                <a:ext uri="{FF2B5EF4-FFF2-40B4-BE49-F238E27FC236}">
                  <a16:creationId xmlns:a16="http://schemas.microsoft.com/office/drawing/2014/main" id="{A27B2B3A-523E-1A4A-AC1A-F7148CF982AB}"/>
                </a:ext>
              </a:extLst>
            </p:cNvPr>
            <p:cNvSpPr/>
            <p:nvPr/>
          </p:nvSpPr>
          <p:spPr>
            <a:xfrm>
              <a:off x="187190" y="1251466"/>
              <a:ext cx="2434761" cy="1110864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36" name="Organigramme : Disque magnétique 8">
              <a:extLst>
                <a:ext uri="{FF2B5EF4-FFF2-40B4-BE49-F238E27FC236}">
                  <a16:creationId xmlns:a16="http://schemas.microsoft.com/office/drawing/2014/main" id="{311213B4-14C5-6243-9653-C1306FBF65B0}"/>
                </a:ext>
              </a:extLst>
            </p:cNvPr>
            <p:cNvSpPr/>
            <p:nvPr/>
          </p:nvSpPr>
          <p:spPr>
            <a:xfrm>
              <a:off x="6797567" y="3474219"/>
              <a:ext cx="1844516" cy="939401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37" name="Organigramme : Processus 9">
              <a:extLst>
                <a:ext uri="{FF2B5EF4-FFF2-40B4-BE49-F238E27FC236}">
                  <a16:creationId xmlns:a16="http://schemas.microsoft.com/office/drawing/2014/main" id="{492D3A59-75FA-954B-9FC0-A900A315CCE0}"/>
                </a:ext>
              </a:extLst>
            </p:cNvPr>
            <p:cNvSpPr/>
            <p:nvPr/>
          </p:nvSpPr>
          <p:spPr>
            <a:xfrm>
              <a:off x="3684378" y="2348827"/>
              <a:ext cx="2619213" cy="986372"/>
            </a:xfrm>
            <a:prstGeom prst="flowChartProcess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Rectangle à coins arrondis 10">
              <a:extLst>
                <a:ext uri="{FF2B5EF4-FFF2-40B4-BE49-F238E27FC236}">
                  <a16:creationId xmlns:a16="http://schemas.microsoft.com/office/drawing/2014/main" id="{9C932C05-6200-0F40-968D-3609363E36BF}"/>
                </a:ext>
              </a:extLst>
            </p:cNvPr>
            <p:cNvSpPr/>
            <p:nvPr/>
          </p:nvSpPr>
          <p:spPr>
            <a:xfrm>
              <a:off x="4075326" y="3500137"/>
              <a:ext cx="1844516" cy="8924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à coins arrondis 11">
              <a:extLst>
                <a:ext uri="{FF2B5EF4-FFF2-40B4-BE49-F238E27FC236}">
                  <a16:creationId xmlns:a16="http://schemas.microsoft.com/office/drawing/2014/main" id="{3D8CE205-FA08-E945-9BB5-EE449C77226F}"/>
                </a:ext>
              </a:extLst>
            </p:cNvPr>
            <p:cNvSpPr/>
            <p:nvPr/>
          </p:nvSpPr>
          <p:spPr>
            <a:xfrm>
              <a:off x="4075326" y="1438178"/>
              <a:ext cx="1844516" cy="72819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à coins arrondis 12">
              <a:extLst>
                <a:ext uri="{FF2B5EF4-FFF2-40B4-BE49-F238E27FC236}">
                  <a16:creationId xmlns:a16="http://schemas.microsoft.com/office/drawing/2014/main" id="{74356A9B-E9FB-144D-B2EA-8E333D452E62}"/>
                </a:ext>
              </a:extLst>
            </p:cNvPr>
            <p:cNvSpPr/>
            <p:nvPr/>
          </p:nvSpPr>
          <p:spPr>
            <a:xfrm>
              <a:off x="6731430" y="1456459"/>
              <a:ext cx="1844516" cy="540155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à coins arrondis 13">
              <a:extLst>
                <a:ext uri="{FF2B5EF4-FFF2-40B4-BE49-F238E27FC236}">
                  <a16:creationId xmlns:a16="http://schemas.microsoft.com/office/drawing/2014/main" id="{7B2BFE61-5F85-C24F-AE62-95D308E72173}"/>
                </a:ext>
              </a:extLst>
            </p:cNvPr>
            <p:cNvSpPr/>
            <p:nvPr/>
          </p:nvSpPr>
          <p:spPr>
            <a:xfrm>
              <a:off x="8723507" y="1459456"/>
              <a:ext cx="1844516" cy="540155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Connecteur droit avec flèche 14">
              <a:extLst>
                <a:ext uri="{FF2B5EF4-FFF2-40B4-BE49-F238E27FC236}">
                  <a16:creationId xmlns:a16="http://schemas.microsoft.com/office/drawing/2014/main" id="{C6CA97D9-CCB1-6F41-85D8-395ED1D48F6F}"/>
                </a:ext>
              </a:extLst>
            </p:cNvPr>
            <p:cNvCxnSpPr>
              <a:stCxn id="39" idx="2"/>
              <a:endCxn id="37" idx="0"/>
            </p:cNvCxnSpPr>
            <p:nvPr/>
          </p:nvCxnSpPr>
          <p:spPr>
            <a:xfrm flipH="1">
              <a:off x="4993985" y="2166373"/>
              <a:ext cx="3599" cy="1824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15">
              <a:extLst>
                <a:ext uri="{FF2B5EF4-FFF2-40B4-BE49-F238E27FC236}">
                  <a16:creationId xmlns:a16="http://schemas.microsoft.com/office/drawing/2014/main" id="{BEAA06ED-57AA-9E44-A52E-A6C08E1C7EF7}"/>
                </a:ext>
              </a:extLst>
            </p:cNvPr>
            <p:cNvCxnSpPr>
              <a:stCxn id="37" idx="2"/>
              <a:endCxn id="38" idx="0"/>
            </p:cNvCxnSpPr>
            <p:nvPr/>
          </p:nvCxnSpPr>
          <p:spPr>
            <a:xfrm>
              <a:off x="4993985" y="3335198"/>
              <a:ext cx="3599" cy="1649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avec flèche 16">
              <a:extLst>
                <a:ext uri="{FF2B5EF4-FFF2-40B4-BE49-F238E27FC236}">
                  <a16:creationId xmlns:a16="http://schemas.microsoft.com/office/drawing/2014/main" id="{748C11FB-5C23-314E-844B-3D892FFFA0DA}"/>
                </a:ext>
              </a:extLst>
            </p:cNvPr>
            <p:cNvCxnSpPr>
              <a:stCxn id="47" idx="2"/>
              <a:endCxn id="36" idx="1"/>
            </p:cNvCxnSpPr>
            <p:nvPr/>
          </p:nvCxnSpPr>
          <p:spPr>
            <a:xfrm>
              <a:off x="7719825" y="3147319"/>
              <a:ext cx="0" cy="3269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avec flèche 17">
              <a:extLst>
                <a:ext uri="{FF2B5EF4-FFF2-40B4-BE49-F238E27FC236}">
                  <a16:creationId xmlns:a16="http://schemas.microsoft.com/office/drawing/2014/main" id="{3FD7160A-0F41-564F-8591-9400BF6C55F9}"/>
                </a:ext>
              </a:extLst>
            </p:cNvPr>
            <p:cNvCxnSpPr>
              <a:stCxn id="37" idx="3"/>
              <a:endCxn id="47" idx="1"/>
            </p:cNvCxnSpPr>
            <p:nvPr/>
          </p:nvCxnSpPr>
          <p:spPr>
            <a:xfrm>
              <a:off x="6303591" y="2842013"/>
              <a:ext cx="493976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478A3C5-E56A-914D-B0DD-17A512C752C5}"/>
                </a:ext>
              </a:extLst>
            </p:cNvPr>
            <p:cNvSpPr/>
            <p:nvPr/>
          </p:nvSpPr>
          <p:spPr>
            <a:xfrm>
              <a:off x="6878990" y="2489738"/>
              <a:ext cx="1844516" cy="61061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Organigramme : Processus 19">
              <a:extLst>
                <a:ext uri="{FF2B5EF4-FFF2-40B4-BE49-F238E27FC236}">
                  <a16:creationId xmlns:a16="http://schemas.microsoft.com/office/drawing/2014/main" id="{BA1D1BB6-DE82-644F-B653-1FFED2C883F4}"/>
                </a:ext>
              </a:extLst>
            </p:cNvPr>
            <p:cNvSpPr/>
            <p:nvPr/>
          </p:nvSpPr>
          <p:spPr>
            <a:xfrm>
              <a:off x="6797567" y="2536708"/>
              <a:ext cx="1844516" cy="610611"/>
            </a:xfrm>
            <a:prstGeom prst="flowChartProcess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4660EF0-C0E4-7542-B628-1F75AC749746}"/>
                </a:ext>
              </a:extLst>
            </p:cNvPr>
            <p:cNvSpPr/>
            <p:nvPr/>
          </p:nvSpPr>
          <p:spPr>
            <a:xfrm>
              <a:off x="9280684" y="2489738"/>
              <a:ext cx="1844516" cy="610611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Organigramme : Processus 21">
              <a:extLst>
                <a:ext uri="{FF2B5EF4-FFF2-40B4-BE49-F238E27FC236}">
                  <a16:creationId xmlns:a16="http://schemas.microsoft.com/office/drawing/2014/main" id="{D74C13F6-6E62-CE4B-9A7F-3CEB19B47811}"/>
                </a:ext>
              </a:extLst>
            </p:cNvPr>
            <p:cNvSpPr/>
            <p:nvPr/>
          </p:nvSpPr>
          <p:spPr>
            <a:xfrm>
              <a:off x="9198113" y="2536708"/>
              <a:ext cx="1844516" cy="610611"/>
            </a:xfrm>
            <a:prstGeom prst="flowChartProcess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Connecteur droit 22">
              <a:extLst>
                <a:ext uri="{FF2B5EF4-FFF2-40B4-BE49-F238E27FC236}">
                  <a16:creationId xmlns:a16="http://schemas.microsoft.com/office/drawing/2014/main" id="{9479F680-800E-2D4A-AD0B-D291CAD06D3A}"/>
                </a:ext>
              </a:extLst>
            </p:cNvPr>
            <p:cNvCxnSpPr>
              <a:cxnSpLocks/>
              <a:stCxn id="39" idx="1"/>
              <a:endCxn id="35" idx="4"/>
            </p:cNvCxnSpPr>
            <p:nvPr/>
          </p:nvCxnSpPr>
          <p:spPr>
            <a:xfrm flipH="1">
              <a:off x="2621951" y="1802276"/>
              <a:ext cx="1453375" cy="462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23">
              <a:extLst>
                <a:ext uri="{FF2B5EF4-FFF2-40B4-BE49-F238E27FC236}">
                  <a16:creationId xmlns:a16="http://schemas.microsoft.com/office/drawing/2014/main" id="{5FFAB7A5-D966-BD4E-9B0D-99F59CDB44B9}"/>
                </a:ext>
              </a:extLst>
            </p:cNvPr>
            <p:cNvCxnSpPr>
              <a:stCxn id="36" idx="2"/>
              <a:endCxn id="38" idx="3"/>
            </p:cNvCxnSpPr>
            <p:nvPr/>
          </p:nvCxnSpPr>
          <p:spPr>
            <a:xfrm flipH="1">
              <a:off x="5919842" y="3943921"/>
              <a:ext cx="877724" cy="243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avec flèche 24">
              <a:extLst>
                <a:ext uri="{FF2B5EF4-FFF2-40B4-BE49-F238E27FC236}">
                  <a16:creationId xmlns:a16="http://schemas.microsoft.com/office/drawing/2014/main" id="{A8FE51CF-0CEE-0C4A-8CFC-23ED6EA3C088}"/>
                </a:ext>
              </a:extLst>
            </p:cNvPr>
            <p:cNvCxnSpPr>
              <a:stCxn id="47" idx="3"/>
              <a:endCxn id="49" idx="1"/>
            </p:cNvCxnSpPr>
            <p:nvPr/>
          </p:nvCxnSpPr>
          <p:spPr>
            <a:xfrm>
              <a:off x="8642084" y="2842013"/>
              <a:ext cx="55603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à coins arrondis 25">
              <a:extLst>
                <a:ext uri="{FF2B5EF4-FFF2-40B4-BE49-F238E27FC236}">
                  <a16:creationId xmlns:a16="http://schemas.microsoft.com/office/drawing/2014/main" id="{DAF4FB8F-CBB9-8943-94AD-A0C048970C03}"/>
                </a:ext>
              </a:extLst>
            </p:cNvPr>
            <p:cNvSpPr/>
            <p:nvPr/>
          </p:nvSpPr>
          <p:spPr>
            <a:xfrm>
              <a:off x="2621951" y="3500138"/>
              <a:ext cx="1084472" cy="85235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54" name="Connecteur droit avec flèche 26">
              <a:extLst>
                <a:ext uri="{FF2B5EF4-FFF2-40B4-BE49-F238E27FC236}">
                  <a16:creationId xmlns:a16="http://schemas.microsoft.com/office/drawing/2014/main" id="{847FE4ED-FAF6-164C-8BDD-CB50D6EE59AB}"/>
                </a:ext>
              </a:extLst>
            </p:cNvPr>
            <p:cNvCxnSpPr>
              <a:stCxn id="37" idx="2"/>
              <a:endCxn id="53" idx="0"/>
            </p:cNvCxnSpPr>
            <p:nvPr/>
          </p:nvCxnSpPr>
          <p:spPr>
            <a:xfrm flipH="1">
              <a:off x="3164187" y="3335198"/>
              <a:ext cx="1829798" cy="1649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droit avec flèche 27">
              <a:extLst>
                <a:ext uri="{FF2B5EF4-FFF2-40B4-BE49-F238E27FC236}">
                  <a16:creationId xmlns:a16="http://schemas.microsoft.com/office/drawing/2014/main" id="{FF5FB47E-3AE0-974B-9A7E-063B9F5951AD}"/>
                </a:ext>
              </a:extLst>
            </p:cNvPr>
            <p:cNvCxnSpPr>
              <a:stCxn id="40" idx="2"/>
              <a:endCxn id="48" idx="0"/>
            </p:cNvCxnSpPr>
            <p:nvPr/>
          </p:nvCxnSpPr>
          <p:spPr>
            <a:xfrm>
              <a:off x="7653688" y="1996614"/>
              <a:ext cx="2549254" cy="493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avec flèche 28">
              <a:extLst>
                <a:ext uri="{FF2B5EF4-FFF2-40B4-BE49-F238E27FC236}">
                  <a16:creationId xmlns:a16="http://schemas.microsoft.com/office/drawing/2014/main" id="{BE01C3BD-BF97-EE4C-B1DA-5FCCF7362674}"/>
                </a:ext>
              </a:extLst>
            </p:cNvPr>
            <p:cNvCxnSpPr>
              <a:stCxn id="41" idx="2"/>
              <a:endCxn id="48" idx="0"/>
            </p:cNvCxnSpPr>
            <p:nvPr/>
          </p:nvCxnSpPr>
          <p:spPr>
            <a:xfrm>
              <a:off x="9645765" y="1999611"/>
              <a:ext cx="557177" cy="49012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avec flèche 29">
              <a:extLst>
                <a:ext uri="{FF2B5EF4-FFF2-40B4-BE49-F238E27FC236}">
                  <a16:creationId xmlns:a16="http://schemas.microsoft.com/office/drawing/2014/main" id="{A41524F7-B0F5-6048-83A2-1AE4993570C8}"/>
                </a:ext>
              </a:extLst>
            </p:cNvPr>
            <p:cNvCxnSpPr>
              <a:stCxn id="40" idx="2"/>
              <a:endCxn id="37" idx="0"/>
            </p:cNvCxnSpPr>
            <p:nvPr/>
          </p:nvCxnSpPr>
          <p:spPr>
            <a:xfrm flipH="1">
              <a:off x="4993985" y="1996614"/>
              <a:ext cx="2659703" cy="35221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avec flèche 30">
              <a:extLst>
                <a:ext uri="{FF2B5EF4-FFF2-40B4-BE49-F238E27FC236}">
                  <a16:creationId xmlns:a16="http://schemas.microsoft.com/office/drawing/2014/main" id="{71811D0A-A9F0-8544-A16E-ED02CC632621}"/>
                </a:ext>
              </a:extLst>
            </p:cNvPr>
            <p:cNvCxnSpPr>
              <a:stCxn id="41" idx="2"/>
              <a:endCxn id="37" idx="0"/>
            </p:cNvCxnSpPr>
            <p:nvPr/>
          </p:nvCxnSpPr>
          <p:spPr>
            <a:xfrm flipH="1">
              <a:off x="4993985" y="1999611"/>
              <a:ext cx="4651780" cy="3492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2C24CB1-B4E1-DF48-BFAD-0A0DE8E7E0DF}"/>
                </a:ext>
              </a:extLst>
            </p:cNvPr>
            <p:cNvSpPr/>
            <p:nvPr/>
          </p:nvSpPr>
          <p:spPr>
            <a:xfrm>
              <a:off x="5401578" y="4761517"/>
              <a:ext cx="1844516" cy="61061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0" name="Multidocument 59">
              <a:extLst>
                <a:ext uri="{FF2B5EF4-FFF2-40B4-BE49-F238E27FC236}">
                  <a16:creationId xmlns:a16="http://schemas.microsoft.com/office/drawing/2014/main" id="{0FAF82ED-01CF-704B-B459-48B43829A800}"/>
                </a:ext>
              </a:extLst>
            </p:cNvPr>
            <p:cNvSpPr/>
            <p:nvPr/>
          </p:nvSpPr>
          <p:spPr>
            <a:xfrm>
              <a:off x="8575946" y="4364620"/>
              <a:ext cx="2401912" cy="1426580"/>
            </a:xfrm>
            <a:prstGeom prst="flowChartMultidocumen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Connecteur droit avec flèche 16">
              <a:extLst>
                <a:ext uri="{FF2B5EF4-FFF2-40B4-BE49-F238E27FC236}">
                  <a16:creationId xmlns:a16="http://schemas.microsoft.com/office/drawing/2014/main" id="{E6FC15CA-CCBE-8C47-8828-076085FAE42F}"/>
                </a:ext>
              </a:extLst>
            </p:cNvPr>
            <p:cNvCxnSpPr>
              <a:cxnSpLocks/>
              <a:stCxn id="59" idx="3"/>
              <a:endCxn id="60" idx="1"/>
            </p:cNvCxnSpPr>
            <p:nvPr/>
          </p:nvCxnSpPr>
          <p:spPr>
            <a:xfrm>
              <a:off x="7246095" y="5066823"/>
              <a:ext cx="1329851" cy="110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avec flèche 16">
              <a:extLst>
                <a:ext uri="{FF2B5EF4-FFF2-40B4-BE49-F238E27FC236}">
                  <a16:creationId xmlns:a16="http://schemas.microsoft.com/office/drawing/2014/main" id="{B7865B27-C525-BE41-BB6A-E0A011500D1E}"/>
                </a:ext>
              </a:extLst>
            </p:cNvPr>
            <p:cNvCxnSpPr>
              <a:cxnSpLocks/>
              <a:stCxn id="38" idx="2"/>
              <a:endCxn id="59" idx="0"/>
            </p:cNvCxnSpPr>
            <p:nvPr/>
          </p:nvCxnSpPr>
          <p:spPr>
            <a:xfrm>
              <a:off x="4997584" y="4392568"/>
              <a:ext cx="1326252" cy="36895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avec flèche 16">
              <a:extLst>
                <a:ext uri="{FF2B5EF4-FFF2-40B4-BE49-F238E27FC236}">
                  <a16:creationId xmlns:a16="http://schemas.microsoft.com/office/drawing/2014/main" id="{23BAF4B4-42E0-014E-9E62-D13FCD8D2AB2}"/>
                </a:ext>
              </a:extLst>
            </p:cNvPr>
            <p:cNvCxnSpPr>
              <a:cxnSpLocks/>
              <a:stCxn id="36" idx="3"/>
              <a:endCxn id="59" idx="0"/>
            </p:cNvCxnSpPr>
            <p:nvPr/>
          </p:nvCxnSpPr>
          <p:spPr>
            <a:xfrm flipH="1">
              <a:off x="6323837" y="4413620"/>
              <a:ext cx="1395988" cy="34789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65B2888-65BA-9047-BA13-DA88096F256E}"/>
                </a:ext>
              </a:extLst>
            </p:cNvPr>
            <p:cNvSpPr/>
            <p:nvPr/>
          </p:nvSpPr>
          <p:spPr>
            <a:xfrm>
              <a:off x="233808" y="4652281"/>
              <a:ext cx="2308096" cy="851257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Connecteur droit avec flèche 16">
              <a:extLst>
                <a:ext uri="{FF2B5EF4-FFF2-40B4-BE49-F238E27FC236}">
                  <a16:creationId xmlns:a16="http://schemas.microsoft.com/office/drawing/2014/main" id="{C3941375-0409-204C-91F6-63DCC13FE2E5}"/>
                </a:ext>
              </a:extLst>
            </p:cNvPr>
            <p:cNvCxnSpPr>
              <a:cxnSpLocks/>
              <a:stCxn id="64" idx="0"/>
              <a:endCxn id="35" idx="3"/>
            </p:cNvCxnSpPr>
            <p:nvPr/>
          </p:nvCxnSpPr>
          <p:spPr>
            <a:xfrm flipV="1">
              <a:off x="1387855" y="2362330"/>
              <a:ext cx="16715" cy="228995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avec flèche 16">
              <a:extLst>
                <a:ext uri="{FF2B5EF4-FFF2-40B4-BE49-F238E27FC236}">
                  <a16:creationId xmlns:a16="http://schemas.microsoft.com/office/drawing/2014/main" id="{635F55C5-D142-8E40-A652-60B50395FCB3}"/>
                </a:ext>
              </a:extLst>
            </p:cNvPr>
            <p:cNvCxnSpPr>
              <a:cxnSpLocks/>
              <a:stCxn id="64" idx="6"/>
              <a:endCxn id="59" idx="1"/>
            </p:cNvCxnSpPr>
            <p:nvPr/>
          </p:nvCxnSpPr>
          <p:spPr>
            <a:xfrm flipV="1">
              <a:off x="2541903" y="5066823"/>
              <a:ext cx="2859675" cy="110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eur droit 22">
              <a:extLst>
                <a:ext uri="{FF2B5EF4-FFF2-40B4-BE49-F238E27FC236}">
                  <a16:creationId xmlns:a16="http://schemas.microsoft.com/office/drawing/2014/main" id="{173D6F80-C16B-1B4D-AC2F-567A51E04F7A}"/>
                </a:ext>
              </a:extLst>
            </p:cNvPr>
            <p:cNvCxnSpPr>
              <a:cxnSpLocks/>
              <a:stCxn id="37" idx="1"/>
              <a:endCxn id="35" idx="4"/>
            </p:cNvCxnSpPr>
            <p:nvPr/>
          </p:nvCxnSpPr>
          <p:spPr>
            <a:xfrm flipH="1" flipV="1">
              <a:off x="2621951" y="1806898"/>
              <a:ext cx="1062427" cy="103511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eur droit avec flèche 16">
              <a:extLst>
                <a:ext uri="{FF2B5EF4-FFF2-40B4-BE49-F238E27FC236}">
                  <a16:creationId xmlns:a16="http://schemas.microsoft.com/office/drawing/2014/main" id="{F75FA2DB-E8A5-0D41-ADAD-745C0E9019A1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 flipH="1" flipV="1">
              <a:off x="5851811" y="3318054"/>
              <a:ext cx="945756" cy="62586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AC8412E-4AF9-0F4B-88FA-3790664B7015}"/>
              </a:ext>
            </a:extLst>
          </p:cNvPr>
          <p:cNvSpPr txBox="1"/>
          <p:nvPr/>
        </p:nvSpPr>
        <p:spPr>
          <a:xfrm>
            <a:off x="6329736" y="297665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O-ETB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8916F7-C9E2-5646-8650-22589C9BBBD5}"/>
              </a:ext>
            </a:extLst>
          </p:cNvPr>
          <p:cNvSpPr txBox="1"/>
          <p:nvPr/>
        </p:nvSpPr>
        <p:spPr>
          <a:xfrm>
            <a:off x="5454672" y="3599744"/>
            <a:ext cx="134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REPOSITORY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8C91243-5966-2142-871C-CEB7C898E5D5}"/>
              </a:ext>
            </a:extLst>
          </p:cNvPr>
          <p:cNvSpPr txBox="1"/>
          <p:nvPr/>
        </p:nvSpPr>
        <p:spPr>
          <a:xfrm>
            <a:off x="4845072" y="4373450"/>
            <a:ext cx="76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E4D183-316F-C54D-87B7-AC4A385E5858}"/>
              </a:ext>
            </a:extLst>
          </p:cNvPr>
          <p:cNvSpPr txBox="1"/>
          <p:nvPr/>
        </p:nvSpPr>
        <p:spPr>
          <a:xfrm>
            <a:off x="6516765" y="4373450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EVIDENCE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B00D6A-1288-C247-AAFF-C0209A75F532}"/>
              </a:ext>
            </a:extLst>
          </p:cNvPr>
          <p:cNvCxnSpPr>
            <a:cxnSpLocks/>
            <a:stCxn id="5" idx="2"/>
            <a:endCxn id="69" idx="0"/>
          </p:cNvCxnSpPr>
          <p:nvPr/>
        </p:nvCxnSpPr>
        <p:spPr>
          <a:xfrm flipH="1">
            <a:off x="6128735" y="3345983"/>
            <a:ext cx="579470" cy="253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0943C24-9AB8-4D40-97CC-38EB93872D1B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 flipH="1">
            <a:off x="5226427" y="3969076"/>
            <a:ext cx="902308" cy="404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ADC7AE2-D1BB-3840-B8BA-181C41B56AD9}"/>
              </a:ext>
            </a:extLst>
          </p:cNvPr>
          <p:cNvCxnSpPr>
            <a:cxnSpLocks/>
            <a:stCxn id="69" idx="2"/>
            <a:endCxn id="71" idx="0"/>
          </p:cNvCxnSpPr>
          <p:nvPr/>
        </p:nvCxnSpPr>
        <p:spPr>
          <a:xfrm>
            <a:off x="6128735" y="3969076"/>
            <a:ext cx="950845" cy="404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EF730F6-9616-514D-8330-818F9FB296DB}"/>
              </a:ext>
            </a:extLst>
          </p:cNvPr>
          <p:cNvCxnSpPr>
            <a:cxnSpLocks/>
            <a:stCxn id="70" idx="2"/>
            <a:endCxn id="80" idx="0"/>
          </p:cNvCxnSpPr>
          <p:nvPr/>
        </p:nvCxnSpPr>
        <p:spPr>
          <a:xfrm flipH="1">
            <a:off x="4625246" y="4742782"/>
            <a:ext cx="601181" cy="1080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EEA330B-1B68-044A-8198-139774EF3E5D}"/>
              </a:ext>
            </a:extLst>
          </p:cNvPr>
          <p:cNvCxnSpPr>
            <a:cxnSpLocks/>
            <a:stCxn id="70" idx="2"/>
            <a:endCxn id="81" idx="0"/>
          </p:cNvCxnSpPr>
          <p:nvPr/>
        </p:nvCxnSpPr>
        <p:spPr>
          <a:xfrm>
            <a:off x="5226427" y="4742782"/>
            <a:ext cx="110241" cy="1080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E20A180-6343-A749-927C-9FF32094E57D}"/>
              </a:ext>
            </a:extLst>
          </p:cNvPr>
          <p:cNvCxnSpPr>
            <a:cxnSpLocks/>
            <a:stCxn id="71" idx="2"/>
            <a:endCxn id="83" idx="0"/>
          </p:cNvCxnSpPr>
          <p:nvPr/>
        </p:nvCxnSpPr>
        <p:spPr>
          <a:xfrm>
            <a:off x="7079580" y="4742782"/>
            <a:ext cx="726259" cy="1074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1030EC2-91CF-294B-9600-4EDC51F10DFE}"/>
              </a:ext>
            </a:extLst>
          </p:cNvPr>
          <p:cNvCxnSpPr>
            <a:cxnSpLocks/>
            <a:stCxn id="71" idx="2"/>
            <a:endCxn id="84" idx="0"/>
          </p:cNvCxnSpPr>
          <p:nvPr/>
        </p:nvCxnSpPr>
        <p:spPr>
          <a:xfrm>
            <a:off x="7079580" y="4742782"/>
            <a:ext cx="1709980" cy="1074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9CDBAE3-D00B-2845-B978-7A9EACB8735D}"/>
              </a:ext>
            </a:extLst>
          </p:cNvPr>
          <p:cNvCxnSpPr>
            <a:cxnSpLocks/>
            <a:stCxn id="71" idx="2"/>
            <a:endCxn id="85" idx="0"/>
          </p:cNvCxnSpPr>
          <p:nvPr/>
        </p:nvCxnSpPr>
        <p:spPr>
          <a:xfrm>
            <a:off x="7079580" y="4742782"/>
            <a:ext cx="2862263" cy="1072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C2B224B-5E01-B14A-8A62-063813F479BB}"/>
              </a:ext>
            </a:extLst>
          </p:cNvPr>
          <p:cNvCxnSpPr>
            <a:cxnSpLocks/>
            <a:stCxn id="70" idx="2"/>
            <a:endCxn id="82" idx="0"/>
          </p:cNvCxnSpPr>
          <p:nvPr/>
        </p:nvCxnSpPr>
        <p:spPr>
          <a:xfrm>
            <a:off x="5226427" y="4742782"/>
            <a:ext cx="1363104" cy="11043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DC9300B3-89EE-F94A-A7B3-E3776C6AF3E5}"/>
              </a:ext>
            </a:extLst>
          </p:cNvPr>
          <p:cNvSpPr txBox="1"/>
          <p:nvPr/>
        </p:nvSpPr>
        <p:spPr>
          <a:xfrm>
            <a:off x="4286050" y="5823073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CID 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D7F5C1A-ED6C-AC47-A3F8-00CAA15313D6}"/>
              </a:ext>
            </a:extLst>
          </p:cNvPr>
          <p:cNvSpPr txBox="1"/>
          <p:nvPr/>
        </p:nvSpPr>
        <p:spPr>
          <a:xfrm>
            <a:off x="4997472" y="5823073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CID 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CE5AD01-55D4-F448-9920-E54BBFB589C8}"/>
              </a:ext>
            </a:extLst>
          </p:cNvPr>
          <p:cNvSpPr txBox="1"/>
          <p:nvPr/>
        </p:nvSpPr>
        <p:spPr>
          <a:xfrm>
            <a:off x="6216672" y="5847181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CID m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564E4F-78BF-B846-8D4B-D25AA5414BA2}"/>
              </a:ext>
            </a:extLst>
          </p:cNvPr>
          <p:cNvSpPr txBox="1"/>
          <p:nvPr/>
        </p:nvSpPr>
        <p:spPr>
          <a:xfrm>
            <a:off x="7512072" y="5817015"/>
            <a:ext cx="587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 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CC8CD8A-346E-CB4A-B577-C3AD6D757D48}"/>
              </a:ext>
            </a:extLst>
          </p:cNvPr>
          <p:cNvSpPr txBox="1"/>
          <p:nvPr/>
        </p:nvSpPr>
        <p:spPr>
          <a:xfrm>
            <a:off x="8495793" y="5817015"/>
            <a:ext cx="587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 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7DBFBB5-E136-2E4B-9812-C181173DDC4D}"/>
              </a:ext>
            </a:extLst>
          </p:cNvPr>
          <p:cNvSpPr txBox="1"/>
          <p:nvPr/>
        </p:nvSpPr>
        <p:spPr>
          <a:xfrm>
            <a:off x="9645672" y="5814838"/>
            <a:ext cx="592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 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767F351-277C-8443-BA9C-ED3CCC1A9DCD}"/>
              </a:ext>
            </a:extLst>
          </p:cNvPr>
          <p:cNvSpPr txBox="1"/>
          <p:nvPr/>
        </p:nvSpPr>
        <p:spPr>
          <a:xfrm>
            <a:off x="9544314" y="3647184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CAP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BCF5A42-7601-5943-BEB8-6E1BCFFC1BC4}"/>
              </a:ext>
            </a:extLst>
          </p:cNvPr>
          <p:cNvSpPr txBox="1"/>
          <p:nvPr/>
        </p:nvSpPr>
        <p:spPr>
          <a:xfrm>
            <a:off x="9259186" y="574671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20136E7-AD36-F743-AA97-7A944B1CCEC5}"/>
              </a:ext>
            </a:extLst>
          </p:cNvPr>
          <p:cNvSpPr txBox="1"/>
          <p:nvPr/>
        </p:nvSpPr>
        <p:spPr>
          <a:xfrm>
            <a:off x="5905100" y="577845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3DD888A-066A-064A-B65E-AA1CB226E225}"/>
              </a:ext>
            </a:extLst>
          </p:cNvPr>
          <p:cNvCxnSpPr>
            <a:cxnSpLocks/>
            <a:stCxn id="5" idx="2"/>
            <a:endCxn id="86" idx="0"/>
          </p:cNvCxnSpPr>
          <p:nvPr/>
        </p:nvCxnSpPr>
        <p:spPr>
          <a:xfrm>
            <a:off x="6708205" y="3345983"/>
            <a:ext cx="3115994" cy="301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5C1B087-B749-E14A-95AF-1960B071FC6E}"/>
              </a:ext>
            </a:extLst>
          </p:cNvPr>
          <p:cNvCxnSpPr>
            <a:cxnSpLocks/>
            <a:stCxn id="86" idx="2"/>
            <a:endCxn id="103" idx="0"/>
          </p:cNvCxnSpPr>
          <p:nvPr/>
        </p:nvCxnSpPr>
        <p:spPr>
          <a:xfrm flipH="1">
            <a:off x="9356547" y="4016516"/>
            <a:ext cx="467652" cy="719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8407B3C-4507-8242-9120-51E08D215A04}"/>
              </a:ext>
            </a:extLst>
          </p:cNvPr>
          <p:cNvCxnSpPr>
            <a:cxnSpLocks/>
            <a:stCxn id="86" idx="2"/>
            <a:endCxn id="104" idx="0"/>
          </p:cNvCxnSpPr>
          <p:nvPr/>
        </p:nvCxnSpPr>
        <p:spPr>
          <a:xfrm>
            <a:off x="9824199" y="4016516"/>
            <a:ext cx="343322" cy="732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B82B22D-C561-A44C-8071-E81FABCC72AF}"/>
              </a:ext>
            </a:extLst>
          </p:cNvPr>
          <p:cNvCxnSpPr>
            <a:cxnSpLocks/>
            <a:stCxn id="86" idx="2"/>
            <a:endCxn id="105" idx="0"/>
          </p:cNvCxnSpPr>
          <p:nvPr/>
        </p:nvCxnSpPr>
        <p:spPr>
          <a:xfrm>
            <a:off x="9824199" y="4016516"/>
            <a:ext cx="1690143" cy="717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12B47679-8D9C-7747-A374-BC384656C7C1}"/>
              </a:ext>
            </a:extLst>
          </p:cNvPr>
          <p:cNvSpPr txBox="1"/>
          <p:nvPr/>
        </p:nvSpPr>
        <p:spPr>
          <a:xfrm>
            <a:off x="9007884" y="4735793"/>
            <a:ext cx="697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CPI 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F709F7-8D2E-3843-AF25-634022C77E2C}"/>
              </a:ext>
            </a:extLst>
          </p:cNvPr>
          <p:cNvSpPr txBox="1"/>
          <p:nvPr/>
        </p:nvSpPr>
        <p:spPr>
          <a:xfrm>
            <a:off x="9794662" y="4749352"/>
            <a:ext cx="74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CPI 2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EF45381-DBD3-1F45-A362-17CD542C9C7D}"/>
              </a:ext>
            </a:extLst>
          </p:cNvPr>
          <p:cNvSpPr txBox="1"/>
          <p:nvPr/>
        </p:nvSpPr>
        <p:spPr>
          <a:xfrm>
            <a:off x="11141484" y="4733616"/>
            <a:ext cx="74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CPI p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CF6D8BF-7E7A-F444-B3DE-5E191F842692}"/>
              </a:ext>
            </a:extLst>
          </p:cNvPr>
          <p:cNvSpPr txBox="1"/>
          <p:nvPr/>
        </p:nvSpPr>
        <p:spPr>
          <a:xfrm>
            <a:off x="10754998" y="4665494"/>
            <a:ext cx="39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BC72AB4-0B0C-F844-AA34-82EA913A23AF}"/>
              </a:ext>
            </a:extLst>
          </p:cNvPr>
          <p:cNvSpPr txBox="1"/>
          <p:nvPr/>
        </p:nvSpPr>
        <p:spPr>
          <a:xfrm>
            <a:off x="2167011" y="3599744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KB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998779E-977F-C34A-98E3-E68EF2286F92}"/>
              </a:ext>
            </a:extLst>
          </p:cNvPr>
          <p:cNvCxnSpPr>
            <a:cxnSpLocks/>
            <a:stCxn id="5" idx="2"/>
            <a:endCxn id="122" idx="0"/>
          </p:cNvCxnSpPr>
          <p:nvPr/>
        </p:nvCxnSpPr>
        <p:spPr>
          <a:xfrm flipH="1">
            <a:off x="2381974" y="3345983"/>
            <a:ext cx="4326231" cy="253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19D88DEC-EF43-2446-BE86-8A19F2B24A2F}"/>
              </a:ext>
            </a:extLst>
          </p:cNvPr>
          <p:cNvSpPr txBox="1"/>
          <p:nvPr/>
        </p:nvSpPr>
        <p:spPr>
          <a:xfrm>
            <a:off x="304800" y="4364284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B088E0E-3EAB-9F48-9578-0D0A6D50FC16}"/>
              </a:ext>
            </a:extLst>
          </p:cNvPr>
          <p:cNvSpPr txBox="1"/>
          <p:nvPr/>
        </p:nvSpPr>
        <p:spPr>
          <a:xfrm>
            <a:off x="2519376" y="4377227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EVIDENCE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CB29FDB-D136-4C49-89AC-939B748AA2DC}"/>
              </a:ext>
            </a:extLst>
          </p:cNvPr>
          <p:cNvCxnSpPr>
            <a:cxnSpLocks/>
            <a:stCxn id="122" idx="2"/>
            <a:endCxn id="127" idx="0"/>
          </p:cNvCxnSpPr>
          <p:nvPr/>
        </p:nvCxnSpPr>
        <p:spPr>
          <a:xfrm flipH="1">
            <a:off x="801090" y="3969076"/>
            <a:ext cx="1580884" cy="395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0627C16-DBD1-9F46-843A-4B3D0247619B}"/>
              </a:ext>
            </a:extLst>
          </p:cNvPr>
          <p:cNvCxnSpPr>
            <a:cxnSpLocks/>
            <a:stCxn id="122" idx="2"/>
            <a:endCxn id="128" idx="0"/>
          </p:cNvCxnSpPr>
          <p:nvPr/>
        </p:nvCxnSpPr>
        <p:spPr>
          <a:xfrm>
            <a:off x="2381974" y="3969076"/>
            <a:ext cx="700217" cy="408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E52B4DA4-3CCB-FE45-8E0B-E9F34A2E4DC6}"/>
              </a:ext>
            </a:extLst>
          </p:cNvPr>
          <p:cNvSpPr txBox="1"/>
          <p:nvPr/>
        </p:nvSpPr>
        <p:spPr>
          <a:xfrm>
            <a:off x="1334390" y="4364284"/>
            <a:ext cx="1121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PATTERNS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8A9D30B-C481-5C4C-AFA1-394E76816ADA}"/>
              </a:ext>
            </a:extLst>
          </p:cNvPr>
          <p:cNvCxnSpPr>
            <a:cxnSpLocks/>
            <a:stCxn id="122" idx="2"/>
            <a:endCxn id="137" idx="0"/>
          </p:cNvCxnSpPr>
          <p:nvPr/>
        </p:nvCxnSpPr>
        <p:spPr>
          <a:xfrm flipH="1">
            <a:off x="1894897" y="3969076"/>
            <a:ext cx="487077" cy="395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F1228FF-539E-034A-95AF-04C731DEF1BC}"/>
              </a:ext>
            </a:extLst>
          </p:cNvPr>
          <p:cNvSpPr txBox="1"/>
          <p:nvPr/>
        </p:nvSpPr>
        <p:spPr>
          <a:xfrm>
            <a:off x="2140028" y="406622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89BFFFE-15C8-4C4F-9BC3-F7C526619EB1}"/>
              </a:ext>
            </a:extLst>
          </p:cNvPr>
          <p:cNvCxnSpPr>
            <a:cxnSpLocks/>
            <a:stCxn id="128" idx="2"/>
            <a:endCxn id="88" idx="0"/>
          </p:cNvCxnSpPr>
          <p:nvPr/>
        </p:nvCxnSpPr>
        <p:spPr>
          <a:xfrm flipH="1">
            <a:off x="3082190" y="4746559"/>
            <a:ext cx="1" cy="306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5B75448-2E3D-CC4F-9F1C-A87EB68B28C2}"/>
              </a:ext>
            </a:extLst>
          </p:cNvPr>
          <p:cNvSpPr txBox="1"/>
          <p:nvPr/>
        </p:nvSpPr>
        <p:spPr>
          <a:xfrm>
            <a:off x="2383066" y="5052661"/>
            <a:ext cx="139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categories.pl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3EB512E-E1B3-2545-B524-0E2F91DB288A}"/>
              </a:ext>
            </a:extLst>
          </p:cNvPr>
          <p:cNvSpPr txBox="1"/>
          <p:nvPr/>
        </p:nvSpPr>
        <p:spPr>
          <a:xfrm>
            <a:off x="3708134" y="4387592"/>
            <a:ext cx="94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AGENTS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D64AE1D-24CC-4746-81CD-6F5CEABE8603}"/>
              </a:ext>
            </a:extLst>
          </p:cNvPr>
          <p:cNvCxnSpPr>
            <a:cxnSpLocks/>
            <a:stCxn id="122" idx="2"/>
            <a:endCxn id="89" idx="0"/>
          </p:cNvCxnSpPr>
          <p:nvPr/>
        </p:nvCxnSpPr>
        <p:spPr>
          <a:xfrm>
            <a:off x="2381974" y="3969076"/>
            <a:ext cx="1796193" cy="4185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6849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787A5-1FC9-2F45-AB23-933A2890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2C9BB-D497-164E-8DAB-484B7F54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AA508-C4AE-6549-AF7F-ECA47C2F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73886B-DEC6-614B-BBE5-313FB233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34137"/>
            <a:ext cx="10363200" cy="856525"/>
          </a:xfrm>
        </p:spPr>
        <p:txBody>
          <a:bodyPr/>
          <a:lstStyle/>
          <a:p>
            <a:r>
              <a:rPr lang="en-US" dirty="0"/>
              <a:t>KB: Evidence Categories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99BBF3-FDA0-FE4C-AA0E-1CD7A7D61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57200" y="1219620"/>
            <a:ext cx="5105400" cy="5105400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 sz="1400" dirty="0"/>
              <a:t>	To define a new category:</a:t>
            </a:r>
          </a:p>
          <a:p>
            <a:pPr lvl="2"/>
            <a:r>
              <a:rPr lang="en-US" sz="1200" dirty="0"/>
              <a:t>Add to KB/EVIDENCE/</a:t>
            </a:r>
            <a:r>
              <a:rPr lang="en-US" sz="1200" dirty="0" err="1"/>
              <a:t>categories.pl</a:t>
            </a:r>
            <a:endParaRPr lang="en-US" sz="1200" dirty="0"/>
          </a:p>
          <a:p>
            <a:pPr lvl="3"/>
            <a:r>
              <a:rPr lang="en-US" sz="1100" dirty="0" err="1"/>
              <a:t>evidence_category</a:t>
            </a:r>
            <a:r>
              <a:rPr lang="en-US" sz="1100" dirty="0"/>
              <a:t>(</a:t>
            </a:r>
            <a:r>
              <a:rPr lang="en-US" sz="1100" dirty="0" err="1"/>
              <a:t>CatName</a:t>
            </a:r>
            <a:r>
              <a:rPr lang="en-US" sz="1100" dirty="0"/>
              <a:t>, </a:t>
            </a:r>
            <a:r>
              <a:rPr lang="en-US" sz="1100" dirty="0" err="1"/>
              <a:t>CatDesc</a:t>
            </a:r>
            <a:r>
              <a:rPr lang="en-US" sz="1100" dirty="0"/>
              <a:t>, </a:t>
            </a:r>
            <a:r>
              <a:rPr lang="en-US" sz="1100" dirty="0" err="1"/>
              <a:t>CatType</a:t>
            </a:r>
            <a:r>
              <a:rPr lang="en-US" sz="1100" dirty="0"/>
              <a:t>, </a:t>
            </a:r>
            <a:r>
              <a:rPr lang="en-US" sz="1100" dirty="0" err="1"/>
              <a:t>CatValidationMethod</a:t>
            </a:r>
            <a:r>
              <a:rPr lang="en-US" sz="1100" dirty="0"/>
              <a:t>).</a:t>
            </a:r>
          </a:p>
          <a:p>
            <a:pPr lvl="4"/>
            <a:r>
              <a:rPr lang="en-US" sz="900" dirty="0" err="1"/>
              <a:t>CatDesc</a:t>
            </a:r>
            <a:r>
              <a:rPr lang="en-US" sz="900" dirty="0"/>
              <a:t> is an atom</a:t>
            </a:r>
          </a:p>
          <a:p>
            <a:pPr lvl="4"/>
            <a:r>
              <a:rPr lang="en-US" sz="900" dirty="0" err="1"/>
              <a:t>CatType</a:t>
            </a:r>
            <a:r>
              <a:rPr lang="en-US" sz="900" dirty="0"/>
              <a:t> is reserved for future formal type-checking and inference purposes</a:t>
            </a:r>
          </a:p>
          <a:p>
            <a:pPr lvl="4"/>
            <a:r>
              <a:rPr lang="en-US" sz="900" dirty="0" err="1"/>
              <a:t>CatValidationMethod</a:t>
            </a:r>
            <a:r>
              <a:rPr lang="en-US" sz="900" dirty="0"/>
              <a:t> is an atom referencing …</a:t>
            </a:r>
          </a:p>
          <a:p>
            <a:pPr lvl="3"/>
            <a:r>
              <a:rPr lang="en-US" sz="1100" dirty="0" err="1"/>
              <a:t>validation_method</a:t>
            </a:r>
            <a:r>
              <a:rPr lang="en-US" sz="1100" dirty="0"/>
              <a:t>(</a:t>
            </a:r>
            <a:r>
              <a:rPr lang="en-US" sz="1100" dirty="0" err="1"/>
              <a:t>ValName</a:t>
            </a:r>
            <a:r>
              <a:rPr lang="en-US" sz="1100" dirty="0"/>
              <a:t>, </a:t>
            </a:r>
            <a:r>
              <a:rPr lang="en-US" sz="1100" dirty="0" err="1"/>
              <a:t>ValDesc</a:t>
            </a:r>
            <a:r>
              <a:rPr lang="en-US" sz="1100" dirty="0"/>
              <a:t>, </a:t>
            </a:r>
            <a:r>
              <a:rPr lang="en-US" sz="1100" dirty="0" err="1"/>
              <a:t>ValidationAgent</a:t>
            </a:r>
            <a:r>
              <a:rPr lang="en-US" sz="1100" dirty="0"/>
              <a:t>).</a:t>
            </a:r>
          </a:p>
          <a:p>
            <a:pPr lvl="4"/>
            <a:r>
              <a:rPr lang="en-US" sz="900" dirty="0" err="1"/>
              <a:t>ValName</a:t>
            </a:r>
            <a:r>
              <a:rPr lang="en-US" sz="900" dirty="0"/>
              <a:t> is an atom</a:t>
            </a:r>
          </a:p>
          <a:p>
            <a:pPr lvl="4"/>
            <a:r>
              <a:rPr lang="en-US" sz="900" dirty="0" err="1"/>
              <a:t>ValDesc</a:t>
            </a:r>
            <a:r>
              <a:rPr lang="en-US" sz="900" dirty="0"/>
              <a:t> is a single-quoted string (an atom)</a:t>
            </a:r>
          </a:p>
          <a:p>
            <a:pPr lvl="4"/>
            <a:r>
              <a:rPr lang="en-US" sz="900" dirty="0" err="1"/>
              <a:t>ValidationAgent</a:t>
            </a:r>
            <a:r>
              <a:rPr lang="en-US" sz="900" dirty="0"/>
              <a:t> is an atom</a:t>
            </a:r>
          </a:p>
          <a:p>
            <a:pPr lvl="3"/>
            <a:r>
              <a:rPr lang="en-US" sz="1100" dirty="0" err="1"/>
              <a:t>validation_agent</a:t>
            </a:r>
            <a:r>
              <a:rPr lang="en-US" sz="1100" dirty="0"/>
              <a:t>(</a:t>
            </a:r>
            <a:r>
              <a:rPr lang="en-US" sz="1100" dirty="0" err="1"/>
              <a:t>AgentName</a:t>
            </a:r>
            <a:r>
              <a:rPr lang="en-US" sz="1100" dirty="0"/>
              <a:t>, </a:t>
            </a:r>
            <a:r>
              <a:rPr lang="en-US" sz="1100" dirty="0" err="1"/>
              <a:t>AgentArgs</a:t>
            </a:r>
            <a:r>
              <a:rPr lang="en-US" sz="1100" dirty="0"/>
              <a:t>, </a:t>
            </a:r>
            <a:r>
              <a:rPr lang="en-US" sz="1100" dirty="0" err="1"/>
              <a:t>AgentResult</a:t>
            </a:r>
            <a:r>
              <a:rPr lang="en-US" sz="1100" dirty="0"/>
              <a:t>).</a:t>
            </a:r>
          </a:p>
          <a:p>
            <a:pPr lvl="4"/>
            <a:r>
              <a:rPr lang="en-US" sz="900" dirty="0" err="1"/>
              <a:t>AgentName</a:t>
            </a:r>
            <a:r>
              <a:rPr lang="en-US" sz="900" dirty="0"/>
              <a:t> is an atom</a:t>
            </a:r>
          </a:p>
          <a:p>
            <a:pPr lvl="4"/>
            <a:r>
              <a:rPr lang="en-US" sz="900" dirty="0" err="1"/>
              <a:t>AgentArgs</a:t>
            </a:r>
            <a:r>
              <a:rPr lang="en-US" sz="900" dirty="0"/>
              <a:t> is a term</a:t>
            </a:r>
          </a:p>
          <a:p>
            <a:pPr lvl="4"/>
            <a:r>
              <a:rPr lang="en-US" sz="900" dirty="0" err="1"/>
              <a:t>AgentResult</a:t>
            </a:r>
            <a:r>
              <a:rPr lang="en-US" sz="900" dirty="0"/>
              <a:t> is a term</a:t>
            </a:r>
            <a:br>
              <a:rPr lang="en-US" sz="900" dirty="0"/>
            </a:br>
            <a:r>
              <a:rPr lang="en-US" sz="900" dirty="0"/>
              <a:t>Where term is an atom, compound or list</a:t>
            </a:r>
            <a:br>
              <a:rPr lang="en-US" sz="900" dirty="0"/>
            </a:br>
            <a:r>
              <a:rPr lang="en-US" sz="900" dirty="0"/>
              <a:t>E.g. compound is name( term, term, … )</a:t>
            </a:r>
            <a:br>
              <a:rPr lang="en-US" sz="900" dirty="0"/>
            </a:br>
            <a:endParaRPr lang="en-US" sz="900" dirty="0"/>
          </a:p>
          <a:p>
            <a:pPr lvl="2"/>
            <a:r>
              <a:rPr lang="en-US" sz="1200" dirty="0"/>
              <a:t>Provide an Agent in </a:t>
            </a:r>
            <a:r>
              <a:rPr lang="en-US" sz="1200" dirty="0" err="1"/>
              <a:t>src</a:t>
            </a:r>
            <a:r>
              <a:rPr lang="en-US" sz="1200" dirty="0"/>
              <a:t>/agents (to be changed to KB/AGENTS) for the tool/process that performs method</a:t>
            </a:r>
          </a:p>
          <a:p>
            <a:pPr lvl="3"/>
            <a:r>
              <a:rPr lang="en-US" sz="1100" dirty="0"/>
              <a:t>Using existing agents as examples, create a Prolog file with name &lt;tool name&gt;_</a:t>
            </a:r>
            <a:r>
              <a:rPr lang="en-US" sz="1100" dirty="0" err="1"/>
              <a:t>agent.pl</a:t>
            </a:r>
            <a:endParaRPr lang="en-US" sz="1100" dirty="0"/>
          </a:p>
          <a:p>
            <a:pPr lvl="3"/>
            <a:r>
              <a:rPr lang="en-US" sz="1100" dirty="0"/>
              <a:t>OR if preferred to write the full agent in another language, make &lt;tool name&gt;_</a:t>
            </a:r>
            <a:r>
              <a:rPr lang="en-US" sz="1100" dirty="0" err="1"/>
              <a:t>agent.pl</a:t>
            </a:r>
            <a:r>
              <a:rPr lang="en-US" sz="1100" dirty="0"/>
              <a:t> a minimal Prolog file to launch the actual agent (again following existing examples)</a:t>
            </a:r>
          </a:p>
          <a:p>
            <a:pPr lvl="2"/>
            <a:r>
              <a:rPr lang="en-US" sz="1200" dirty="0"/>
              <a:t>O-ETB uses </a:t>
            </a:r>
            <a:r>
              <a:rPr lang="en-US" sz="1200" dirty="0" err="1"/>
              <a:t>validation_agent</a:t>
            </a:r>
            <a:r>
              <a:rPr lang="en-US" sz="1200" dirty="0"/>
              <a:t> declarations to dynamically load agent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AA9090-CDA9-594D-B738-B798E8BF1670}"/>
              </a:ext>
            </a:extLst>
          </p:cNvPr>
          <p:cNvSpPr txBox="1"/>
          <p:nvPr/>
        </p:nvSpPr>
        <p:spPr>
          <a:xfrm>
            <a:off x="4953000" y="1371180"/>
            <a:ext cx="7086600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% Knowledge base of evidence categories, validation methods and validation agents</a:t>
            </a:r>
          </a:p>
          <a:p>
            <a:endParaRPr lang="en-US" sz="1200" dirty="0"/>
          </a:p>
          <a:p>
            <a:r>
              <a:rPr lang="en-US" sz="1200" dirty="0"/>
              <a:t>%	</a:t>
            </a:r>
            <a:r>
              <a:rPr lang="en-US" sz="1200" dirty="0" err="1"/>
              <a:t>evidence_category</a:t>
            </a:r>
            <a:r>
              <a:rPr lang="en-US" sz="1200" dirty="0"/>
              <a:t>(</a:t>
            </a:r>
            <a:r>
              <a:rPr lang="en-US" sz="1200" dirty="0" err="1"/>
              <a:t>CatName</a:t>
            </a:r>
            <a:r>
              <a:rPr lang="en-US" sz="1200" dirty="0"/>
              <a:t>, </a:t>
            </a:r>
            <a:r>
              <a:rPr lang="en-US" sz="1200" dirty="0" err="1"/>
              <a:t>CatDescription</a:t>
            </a:r>
            <a:r>
              <a:rPr lang="en-US" sz="1200" dirty="0"/>
              <a:t>, </a:t>
            </a:r>
            <a:r>
              <a:rPr lang="en-US" sz="1200" dirty="0" err="1"/>
              <a:t>CatType</a:t>
            </a:r>
            <a:r>
              <a:rPr lang="en-US" sz="1200" dirty="0"/>
              <a:t>, </a:t>
            </a:r>
            <a:r>
              <a:rPr lang="en-US" sz="1200" dirty="0" err="1"/>
              <a:t>CatValidationMethod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 err="1"/>
              <a:t>evidence_category</a:t>
            </a:r>
            <a:r>
              <a:rPr lang="en-US" sz="1200" dirty="0"/>
              <a:t>(axiom, _, _, </a:t>
            </a:r>
            <a:r>
              <a:rPr lang="en-US" sz="1200" dirty="0" err="1"/>
              <a:t>fact_check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evidence_category</a:t>
            </a:r>
            <a:r>
              <a:rPr lang="en-US" sz="1200" dirty="0"/>
              <a:t>(certificate, _, _, </a:t>
            </a:r>
            <a:r>
              <a:rPr lang="en-US" sz="1200" dirty="0" err="1"/>
              <a:t>cert_check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evidence_category</a:t>
            </a:r>
            <a:r>
              <a:rPr lang="en-US" sz="1200" dirty="0"/>
              <a:t>(</a:t>
            </a:r>
            <a:r>
              <a:rPr lang="en-US" sz="1200" dirty="0" err="1"/>
              <a:t>ichecker</a:t>
            </a:r>
            <a:r>
              <a:rPr lang="en-US" sz="1200" dirty="0"/>
              <a:t>, _, _, </a:t>
            </a:r>
            <a:r>
              <a:rPr lang="en-US" sz="1200" dirty="0" err="1"/>
              <a:t>invariant_check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evidence_category</a:t>
            </a:r>
            <a:r>
              <a:rPr lang="en-US" sz="1200" dirty="0"/>
              <a:t>(contract, _, _, </a:t>
            </a:r>
            <a:r>
              <a:rPr lang="en-US" sz="1200" dirty="0" err="1"/>
              <a:t>contract_check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evidence_category</a:t>
            </a:r>
            <a:r>
              <a:rPr lang="en-US" sz="1200" dirty="0"/>
              <a:t>(property, _, _, </a:t>
            </a:r>
            <a:r>
              <a:rPr lang="en-US" sz="1200" dirty="0" err="1"/>
              <a:t>property_check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evidence_category</a:t>
            </a:r>
            <a:r>
              <a:rPr lang="en-US" sz="1200" dirty="0"/>
              <a:t>(unknown, _, _, _).</a:t>
            </a:r>
          </a:p>
          <a:p>
            <a:endParaRPr lang="en-US" sz="1200" dirty="0"/>
          </a:p>
          <a:p>
            <a:r>
              <a:rPr lang="en-US" sz="1200" dirty="0"/>
              <a:t>%	</a:t>
            </a:r>
            <a:r>
              <a:rPr lang="en-US" sz="1200" dirty="0" err="1"/>
              <a:t>validation_method</a:t>
            </a:r>
            <a:r>
              <a:rPr lang="en-US" sz="1200" dirty="0"/>
              <a:t>(</a:t>
            </a:r>
            <a:r>
              <a:rPr lang="en-US" sz="1200" dirty="0" err="1"/>
              <a:t>ValName</a:t>
            </a:r>
            <a:r>
              <a:rPr lang="en-US" sz="1200" dirty="0"/>
              <a:t>, </a:t>
            </a:r>
            <a:r>
              <a:rPr lang="en-US" sz="1200" dirty="0" err="1"/>
              <a:t>ValDescription</a:t>
            </a:r>
            <a:r>
              <a:rPr lang="en-US" sz="1200" dirty="0"/>
              <a:t>, </a:t>
            </a:r>
            <a:r>
              <a:rPr lang="en-US" sz="1200" dirty="0" err="1"/>
              <a:t>ValidationAgent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 err="1"/>
              <a:t>validation_method</a:t>
            </a:r>
            <a:r>
              <a:rPr lang="en-US" sz="1200" dirty="0"/>
              <a:t>(</a:t>
            </a:r>
            <a:r>
              <a:rPr lang="en-US" sz="1200" dirty="0" err="1"/>
              <a:t>fact_check</a:t>
            </a:r>
            <a:r>
              <a:rPr lang="en-US" sz="1200" dirty="0"/>
              <a:t>, 'Evidence is validated by declared premises', </a:t>
            </a:r>
            <a:r>
              <a:rPr lang="en-US" sz="1200" dirty="0" err="1"/>
              <a:t>axiom_agent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validation_method</a:t>
            </a:r>
            <a:r>
              <a:rPr lang="en-US" sz="1200" dirty="0"/>
              <a:t>(</a:t>
            </a:r>
            <a:r>
              <a:rPr lang="en-US" sz="1200" dirty="0" err="1"/>
              <a:t>cert_check</a:t>
            </a:r>
            <a:r>
              <a:rPr lang="en-US" sz="1200" dirty="0"/>
              <a:t>, 'Certificate exists and is valid', </a:t>
            </a:r>
            <a:r>
              <a:rPr lang="en-US" sz="1200" dirty="0" err="1"/>
              <a:t>certificate_agent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validation_method</a:t>
            </a:r>
            <a:r>
              <a:rPr lang="en-US" sz="1200" dirty="0"/>
              <a:t>(</a:t>
            </a:r>
            <a:r>
              <a:rPr lang="en-US" sz="1200" dirty="0" err="1"/>
              <a:t>invariant_check</a:t>
            </a:r>
            <a:r>
              <a:rPr lang="en-US" sz="1200" dirty="0"/>
              <a:t>, 'Invariant is valid for artefact', </a:t>
            </a:r>
            <a:r>
              <a:rPr lang="en-US" sz="1200" dirty="0" err="1"/>
              <a:t>ichecker_agent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validation_method</a:t>
            </a:r>
            <a:r>
              <a:rPr lang="en-US" sz="1200" dirty="0"/>
              <a:t>(</a:t>
            </a:r>
            <a:r>
              <a:rPr lang="en-US" sz="1200" dirty="0" err="1"/>
              <a:t>contract_check</a:t>
            </a:r>
            <a:r>
              <a:rPr lang="en-US" sz="1200" dirty="0"/>
              <a:t>, 'Contract consistency and refinement is valid', </a:t>
            </a:r>
            <a:r>
              <a:rPr lang="en-US" sz="1200" dirty="0" err="1"/>
              <a:t>ocra_agent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validation_method</a:t>
            </a:r>
            <a:r>
              <a:rPr lang="en-US" sz="1200" dirty="0"/>
              <a:t>(</a:t>
            </a:r>
            <a:r>
              <a:rPr lang="en-US" sz="1200" dirty="0" err="1"/>
              <a:t>property_check</a:t>
            </a:r>
            <a:r>
              <a:rPr lang="en-US" sz="1200" dirty="0"/>
              <a:t>, 'Behavior property is valid for artefact', </a:t>
            </a:r>
            <a:r>
              <a:rPr lang="en-US" sz="1200" dirty="0" err="1"/>
              <a:t>nusmv_agent</a:t>
            </a:r>
            <a:r>
              <a:rPr lang="en-US" sz="1200" dirty="0"/>
              <a:t>).</a:t>
            </a:r>
          </a:p>
          <a:p>
            <a:endParaRPr lang="en-US" sz="1200" dirty="0"/>
          </a:p>
          <a:p>
            <a:r>
              <a:rPr lang="en-US" sz="1200" dirty="0"/>
              <a:t>%	</a:t>
            </a:r>
            <a:r>
              <a:rPr lang="en-US" sz="1200" dirty="0" err="1"/>
              <a:t>validation_agent</a:t>
            </a:r>
            <a:r>
              <a:rPr lang="en-US" sz="1200" dirty="0"/>
              <a:t>(</a:t>
            </a:r>
            <a:r>
              <a:rPr lang="en-US" sz="1200" dirty="0" err="1"/>
              <a:t>AgentName</a:t>
            </a:r>
            <a:r>
              <a:rPr lang="en-US" sz="1200" dirty="0"/>
              <a:t>, </a:t>
            </a:r>
            <a:r>
              <a:rPr lang="en-US" sz="1200" dirty="0" err="1"/>
              <a:t>AgentArgs</a:t>
            </a:r>
            <a:r>
              <a:rPr lang="en-US" sz="1200" dirty="0"/>
              <a:t>, </a:t>
            </a:r>
            <a:r>
              <a:rPr lang="en-US" sz="1200" dirty="0" err="1"/>
              <a:t>AgentResult</a:t>
            </a:r>
            <a:r>
              <a:rPr lang="en-US" sz="1200" dirty="0"/>
              <a:t>)</a:t>
            </a:r>
          </a:p>
          <a:p>
            <a:r>
              <a:rPr lang="en-US" sz="1200" dirty="0"/>
              <a:t>%		</a:t>
            </a:r>
            <a:r>
              <a:rPr lang="en-US" sz="1200" dirty="0" err="1"/>
              <a:t>AgentArgs</a:t>
            </a:r>
            <a:r>
              <a:rPr lang="en-US" sz="1200" dirty="0"/>
              <a:t> / </a:t>
            </a:r>
            <a:r>
              <a:rPr lang="en-US" sz="1200" dirty="0" err="1"/>
              <a:t>AgentResult</a:t>
            </a:r>
            <a:r>
              <a:rPr lang="en-US" sz="1200" dirty="0"/>
              <a:t> are: &lt;term&gt; ::= &lt;atom&gt; | &lt;compound term&gt; | &lt;list&gt;</a:t>
            </a:r>
          </a:p>
          <a:p>
            <a:endParaRPr lang="en-US" sz="1200" dirty="0"/>
          </a:p>
          <a:p>
            <a:r>
              <a:rPr lang="en-US" sz="1200" dirty="0" err="1"/>
              <a:t>validation_agent</a:t>
            </a:r>
            <a:r>
              <a:rPr lang="en-US" sz="1200" dirty="0"/>
              <a:t>(</a:t>
            </a:r>
            <a:r>
              <a:rPr lang="en-US" sz="1200" dirty="0" err="1"/>
              <a:t>axiom_agent</a:t>
            </a:r>
            <a:r>
              <a:rPr lang="en-US" sz="1200" dirty="0"/>
              <a:t>, _, _).</a:t>
            </a:r>
          </a:p>
          <a:p>
            <a:r>
              <a:rPr lang="en-US" sz="1200" dirty="0" err="1"/>
              <a:t>validation_agent</a:t>
            </a:r>
            <a:r>
              <a:rPr lang="en-US" sz="1200" dirty="0"/>
              <a:t>(</a:t>
            </a:r>
            <a:r>
              <a:rPr lang="en-US" sz="1200" dirty="0" err="1"/>
              <a:t>certificate_agent</a:t>
            </a:r>
            <a:r>
              <a:rPr lang="en-US" sz="1200" dirty="0"/>
              <a:t>, _, _).</a:t>
            </a:r>
          </a:p>
          <a:p>
            <a:r>
              <a:rPr lang="en-US" sz="1200" dirty="0" err="1"/>
              <a:t>validation_agent</a:t>
            </a:r>
            <a:r>
              <a:rPr lang="en-US" sz="1200" dirty="0"/>
              <a:t>(</a:t>
            </a:r>
            <a:r>
              <a:rPr lang="en-US" sz="1200" dirty="0" err="1"/>
              <a:t>ichecker_agent</a:t>
            </a:r>
            <a:r>
              <a:rPr lang="en-US" sz="1200" dirty="0"/>
              <a:t>, _, _).</a:t>
            </a:r>
          </a:p>
          <a:p>
            <a:r>
              <a:rPr lang="en-US" sz="1200" dirty="0" err="1"/>
              <a:t>validation_agent</a:t>
            </a:r>
            <a:r>
              <a:rPr lang="en-US" sz="1200" dirty="0"/>
              <a:t>(</a:t>
            </a:r>
            <a:r>
              <a:rPr lang="en-US" sz="1200" dirty="0" err="1"/>
              <a:t>ocra_agent</a:t>
            </a:r>
            <a:r>
              <a:rPr lang="en-US" sz="1200" dirty="0"/>
              <a:t>, _, _).</a:t>
            </a:r>
          </a:p>
          <a:p>
            <a:r>
              <a:rPr lang="en-US" sz="1200" dirty="0" err="1"/>
              <a:t>validation_agent</a:t>
            </a:r>
            <a:r>
              <a:rPr lang="en-US" sz="1200" dirty="0"/>
              <a:t>(</a:t>
            </a:r>
            <a:r>
              <a:rPr lang="en-US" sz="1200" dirty="0" err="1"/>
              <a:t>nusmv_agent</a:t>
            </a:r>
            <a:r>
              <a:rPr lang="en-US" sz="1200" dirty="0"/>
              <a:t>, _, _).</a:t>
            </a:r>
          </a:p>
          <a:p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05F0AB-07AF-E64D-8BA4-0B037DFA9847}"/>
              </a:ext>
            </a:extLst>
          </p:cNvPr>
          <p:cNvSpPr txBox="1"/>
          <p:nvPr/>
        </p:nvSpPr>
        <p:spPr>
          <a:xfrm>
            <a:off x="4882773" y="1143000"/>
            <a:ext cx="2329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O-ETB/KB/EVIDENCE/</a:t>
            </a:r>
            <a:r>
              <a:rPr lang="en-US" sz="1200" dirty="0" err="1"/>
              <a:t>categories.pl</a:t>
            </a:r>
            <a:endParaRPr lang="en-US" sz="12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53426B-09C4-7A43-A3D3-DE32ACD0A771}"/>
              </a:ext>
            </a:extLst>
          </p:cNvPr>
          <p:cNvCxnSpPr/>
          <p:nvPr/>
        </p:nvCxnSpPr>
        <p:spPr>
          <a:xfrm>
            <a:off x="3886200" y="1981200"/>
            <a:ext cx="1295400" cy="152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D4B1F3-AB3D-4449-AF03-405E66C0B64B}"/>
              </a:ext>
            </a:extLst>
          </p:cNvPr>
          <p:cNvCxnSpPr>
            <a:cxnSpLocks/>
          </p:cNvCxnSpPr>
          <p:nvPr/>
        </p:nvCxnSpPr>
        <p:spPr>
          <a:xfrm>
            <a:off x="3892826" y="2790931"/>
            <a:ext cx="1212574" cy="9813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02EF45-ED54-624A-98FB-B9F798840C45}"/>
              </a:ext>
            </a:extLst>
          </p:cNvPr>
          <p:cNvCxnSpPr>
            <a:cxnSpLocks/>
          </p:cNvCxnSpPr>
          <p:nvPr/>
        </p:nvCxnSpPr>
        <p:spPr>
          <a:xfrm>
            <a:off x="3886200" y="3581400"/>
            <a:ext cx="1219200" cy="1828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231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0CC6B-64A0-D04D-A09E-F25990329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O-ETB Database and </a:t>
            </a:r>
            <a:r>
              <a:rPr lang="en-US" dirty="0" err="1"/>
              <a:t>MedSecurance</a:t>
            </a:r>
            <a:r>
              <a:rPr lang="en-US" dirty="0"/>
              <a:t> Information Exchange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BBC46-AEB3-554D-9103-DC69F8B2E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F7505-F347-5C4D-9AD4-57B184090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B160D-0E1F-A344-9FAA-EC180EC26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0F411-12E9-9945-AA92-1DE8A978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822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O-ETB Source Repository structure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2114659-2B00-6F4A-ACA2-6671FB791E39}"/>
              </a:ext>
            </a:extLst>
          </p:cNvPr>
          <p:cNvGrpSpPr/>
          <p:nvPr/>
        </p:nvGrpSpPr>
        <p:grpSpPr>
          <a:xfrm>
            <a:off x="9885295" y="755959"/>
            <a:ext cx="2175010" cy="902721"/>
            <a:chOff x="187190" y="1251466"/>
            <a:chExt cx="10938010" cy="4539734"/>
          </a:xfrm>
        </p:grpSpPr>
        <p:cxnSp>
          <p:nvCxnSpPr>
            <p:cNvPr id="34" name="Connecteur droit avec flèche 6">
              <a:extLst>
                <a:ext uri="{FF2B5EF4-FFF2-40B4-BE49-F238E27FC236}">
                  <a16:creationId xmlns:a16="http://schemas.microsoft.com/office/drawing/2014/main" id="{30A1A268-EF67-0745-A880-88A5A322F89E}"/>
                </a:ext>
              </a:extLst>
            </p:cNvPr>
            <p:cNvCxnSpPr>
              <a:stCxn id="46" idx="3"/>
            </p:cNvCxnSpPr>
            <p:nvPr/>
          </p:nvCxnSpPr>
          <p:spPr>
            <a:xfrm>
              <a:off x="8723508" y="2795042"/>
              <a:ext cx="548386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rganigramme : Disque magnétique 7">
              <a:extLst>
                <a:ext uri="{FF2B5EF4-FFF2-40B4-BE49-F238E27FC236}">
                  <a16:creationId xmlns:a16="http://schemas.microsoft.com/office/drawing/2014/main" id="{A27B2B3A-523E-1A4A-AC1A-F7148CF982AB}"/>
                </a:ext>
              </a:extLst>
            </p:cNvPr>
            <p:cNvSpPr/>
            <p:nvPr/>
          </p:nvSpPr>
          <p:spPr>
            <a:xfrm>
              <a:off x="187190" y="1251466"/>
              <a:ext cx="2434761" cy="1110864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36" name="Organigramme : Disque magnétique 8">
              <a:extLst>
                <a:ext uri="{FF2B5EF4-FFF2-40B4-BE49-F238E27FC236}">
                  <a16:creationId xmlns:a16="http://schemas.microsoft.com/office/drawing/2014/main" id="{311213B4-14C5-6243-9653-C1306FBF65B0}"/>
                </a:ext>
              </a:extLst>
            </p:cNvPr>
            <p:cNvSpPr/>
            <p:nvPr/>
          </p:nvSpPr>
          <p:spPr>
            <a:xfrm>
              <a:off x="6797567" y="3474219"/>
              <a:ext cx="1844516" cy="939401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37" name="Organigramme : Processus 9">
              <a:extLst>
                <a:ext uri="{FF2B5EF4-FFF2-40B4-BE49-F238E27FC236}">
                  <a16:creationId xmlns:a16="http://schemas.microsoft.com/office/drawing/2014/main" id="{492D3A59-75FA-954B-9FC0-A900A315CCE0}"/>
                </a:ext>
              </a:extLst>
            </p:cNvPr>
            <p:cNvSpPr/>
            <p:nvPr/>
          </p:nvSpPr>
          <p:spPr>
            <a:xfrm>
              <a:off x="3684378" y="2348827"/>
              <a:ext cx="2619213" cy="986372"/>
            </a:xfrm>
            <a:prstGeom prst="flowChartProcess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Rectangle à coins arrondis 10">
              <a:extLst>
                <a:ext uri="{FF2B5EF4-FFF2-40B4-BE49-F238E27FC236}">
                  <a16:creationId xmlns:a16="http://schemas.microsoft.com/office/drawing/2014/main" id="{9C932C05-6200-0F40-968D-3609363E36BF}"/>
                </a:ext>
              </a:extLst>
            </p:cNvPr>
            <p:cNvSpPr/>
            <p:nvPr/>
          </p:nvSpPr>
          <p:spPr>
            <a:xfrm>
              <a:off x="4075326" y="3500137"/>
              <a:ext cx="1844516" cy="8924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à coins arrondis 11">
              <a:extLst>
                <a:ext uri="{FF2B5EF4-FFF2-40B4-BE49-F238E27FC236}">
                  <a16:creationId xmlns:a16="http://schemas.microsoft.com/office/drawing/2014/main" id="{3D8CE205-FA08-E945-9BB5-EE449C77226F}"/>
                </a:ext>
              </a:extLst>
            </p:cNvPr>
            <p:cNvSpPr/>
            <p:nvPr/>
          </p:nvSpPr>
          <p:spPr>
            <a:xfrm>
              <a:off x="4075326" y="1438178"/>
              <a:ext cx="1844516" cy="72819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à coins arrondis 12">
              <a:extLst>
                <a:ext uri="{FF2B5EF4-FFF2-40B4-BE49-F238E27FC236}">
                  <a16:creationId xmlns:a16="http://schemas.microsoft.com/office/drawing/2014/main" id="{74356A9B-E9FB-144D-B2EA-8E333D452E62}"/>
                </a:ext>
              </a:extLst>
            </p:cNvPr>
            <p:cNvSpPr/>
            <p:nvPr/>
          </p:nvSpPr>
          <p:spPr>
            <a:xfrm>
              <a:off x="6731430" y="1456459"/>
              <a:ext cx="1844516" cy="540155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à coins arrondis 13">
              <a:extLst>
                <a:ext uri="{FF2B5EF4-FFF2-40B4-BE49-F238E27FC236}">
                  <a16:creationId xmlns:a16="http://schemas.microsoft.com/office/drawing/2014/main" id="{7B2BFE61-5F85-C24F-AE62-95D308E72173}"/>
                </a:ext>
              </a:extLst>
            </p:cNvPr>
            <p:cNvSpPr/>
            <p:nvPr/>
          </p:nvSpPr>
          <p:spPr>
            <a:xfrm>
              <a:off x="8723507" y="1459456"/>
              <a:ext cx="1844516" cy="540155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Connecteur droit avec flèche 14">
              <a:extLst>
                <a:ext uri="{FF2B5EF4-FFF2-40B4-BE49-F238E27FC236}">
                  <a16:creationId xmlns:a16="http://schemas.microsoft.com/office/drawing/2014/main" id="{C6CA97D9-CCB1-6F41-85D8-395ED1D48F6F}"/>
                </a:ext>
              </a:extLst>
            </p:cNvPr>
            <p:cNvCxnSpPr>
              <a:stCxn id="39" idx="2"/>
              <a:endCxn id="37" idx="0"/>
            </p:cNvCxnSpPr>
            <p:nvPr/>
          </p:nvCxnSpPr>
          <p:spPr>
            <a:xfrm flipH="1">
              <a:off x="4993985" y="2166373"/>
              <a:ext cx="3599" cy="1824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15">
              <a:extLst>
                <a:ext uri="{FF2B5EF4-FFF2-40B4-BE49-F238E27FC236}">
                  <a16:creationId xmlns:a16="http://schemas.microsoft.com/office/drawing/2014/main" id="{BEAA06ED-57AA-9E44-A52E-A6C08E1C7EF7}"/>
                </a:ext>
              </a:extLst>
            </p:cNvPr>
            <p:cNvCxnSpPr>
              <a:stCxn id="37" idx="2"/>
              <a:endCxn id="38" idx="0"/>
            </p:cNvCxnSpPr>
            <p:nvPr/>
          </p:nvCxnSpPr>
          <p:spPr>
            <a:xfrm>
              <a:off x="4993985" y="3335198"/>
              <a:ext cx="3599" cy="1649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avec flèche 16">
              <a:extLst>
                <a:ext uri="{FF2B5EF4-FFF2-40B4-BE49-F238E27FC236}">
                  <a16:creationId xmlns:a16="http://schemas.microsoft.com/office/drawing/2014/main" id="{748C11FB-5C23-314E-844B-3D892FFFA0DA}"/>
                </a:ext>
              </a:extLst>
            </p:cNvPr>
            <p:cNvCxnSpPr>
              <a:stCxn id="47" idx="2"/>
              <a:endCxn id="36" idx="1"/>
            </p:cNvCxnSpPr>
            <p:nvPr/>
          </p:nvCxnSpPr>
          <p:spPr>
            <a:xfrm>
              <a:off x="7719825" y="3147319"/>
              <a:ext cx="0" cy="3269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avec flèche 17">
              <a:extLst>
                <a:ext uri="{FF2B5EF4-FFF2-40B4-BE49-F238E27FC236}">
                  <a16:creationId xmlns:a16="http://schemas.microsoft.com/office/drawing/2014/main" id="{3FD7160A-0F41-564F-8591-9400BF6C55F9}"/>
                </a:ext>
              </a:extLst>
            </p:cNvPr>
            <p:cNvCxnSpPr>
              <a:stCxn id="37" idx="3"/>
              <a:endCxn id="47" idx="1"/>
            </p:cNvCxnSpPr>
            <p:nvPr/>
          </p:nvCxnSpPr>
          <p:spPr>
            <a:xfrm>
              <a:off x="6303591" y="2842013"/>
              <a:ext cx="493976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478A3C5-E56A-914D-B0DD-17A512C752C5}"/>
                </a:ext>
              </a:extLst>
            </p:cNvPr>
            <p:cNvSpPr/>
            <p:nvPr/>
          </p:nvSpPr>
          <p:spPr>
            <a:xfrm>
              <a:off x="6878990" y="2489738"/>
              <a:ext cx="1844516" cy="61061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Organigramme : Processus 19">
              <a:extLst>
                <a:ext uri="{FF2B5EF4-FFF2-40B4-BE49-F238E27FC236}">
                  <a16:creationId xmlns:a16="http://schemas.microsoft.com/office/drawing/2014/main" id="{BA1D1BB6-DE82-644F-B653-1FFED2C883F4}"/>
                </a:ext>
              </a:extLst>
            </p:cNvPr>
            <p:cNvSpPr/>
            <p:nvPr/>
          </p:nvSpPr>
          <p:spPr>
            <a:xfrm>
              <a:off x="6797567" y="2536708"/>
              <a:ext cx="1844516" cy="610611"/>
            </a:xfrm>
            <a:prstGeom prst="flowChartProcess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4660EF0-C0E4-7542-B628-1F75AC749746}"/>
                </a:ext>
              </a:extLst>
            </p:cNvPr>
            <p:cNvSpPr/>
            <p:nvPr/>
          </p:nvSpPr>
          <p:spPr>
            <a:xfrm>
              <a:off x="9280684" y="2489738"/>
              <a:ext cx="1844516" cy="610611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Organigramme : Processus 21">
              <a:extLst>
                <a:ext uri="{FF2B5EF4-FFF2-40B4-BE49-F238E27FC236}">
                  <a16:creationId xmlns:a16="http://schemas.microsoft.com/office/drawing/2014/main" id="{D74C13F6-6E62-CE4B-9A7F-3CEB19B47811}"/>
                </a:ext>
              </a:extLst>
            </p:cNvPr>
            <p:cNvSpPr/>
            <p:nvPr/>
          </p:nvSpPr>
          <p:spPr>
            <a:xfrm>
              <a:off x="9198113" y="2536708"/>
              <a:ext cx="1844516" cy="610611"/>
            </a:xfrm>
            <a:prstGeom prst="flowChartProcess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Connecteur droit 22">
              <a:extLst>
                <a:ext uri="{FF2B5EF4-FFF2-40B4-BE49-F238E27FC236}">
                  <a16:creationId xmlns:a16="http://schemas.microsoft.com/office/drawing/2014/main" id="{9479F680-800E-2D4A-AD0B-D291CAD06D3A}"/>
                </a:ext>
              </a:extLst>
            </p:cNvPr>
            <p:cNvCxnSpPr>
              <a:cxnSpLocks/>
              <a:stCxn id="39" idx="1"/>
              <a:endCxn id="35" idx="4"/>
            </p:cNvCxnSpPr>
            <p:nvPr/>
          </p:nvCxnSpPr>
          <p:spPr>
            <a:xfrm flipH="1">
              <a:off x="2621951" y="1802276"/>
              <a:ext cx="1453375" cy="462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23">
              <a:extLst>
                <a:ext uri="{FF2B5EF4-FFF2-40B4-BE49-F238E27FC236}">
                  <a16:creationId xmlns:a16="http://schemas.microsoft.com/office/drawing/2014/main" id="{5FFAB7A5-D966-BD4E-9B0D-99F59CDB44B9}"/>
                </a:ext>
              </a:extLst>
            </p:cNvPr>
            <p:cNvCxnSpPr>
              <a:stCxn id="36" idx="2"/>
              <a:endCxn id="38" idx="3"/>
            </p:cNvCxnSpPr>
            <p:nvPr/>
          </p:nvCxnSpPr>
          <p:spPr>
            <a:xfrm flipH="1">
              <a:off x="5919842" y="3943921"/>
              <a:ext cx="877724" cy="243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avec flèche 24">
              <a:extLst>
                <a:ext uri="{FF2B5EF4-FFF2-40B4-BE49-F238E27FC236}">
                  <a16:creationId xmlns:a16="http://schemas.microsoft.com/office/drawing/2014/main" id="{A8FE51CF-0CEE-0C4A-8CFC-23ED6EA3C088}"/>
                </a:ext>
              </a:extLst>
            </p:cNvPr>
            <p:cNvCxnSpPr>
              <a:stCxn id="47" idx="3"/>
              <a:endCxn id="49" idx="1"/>
            </p:cNvCxnSpPr>
            <p:nvPr/>
          </p:nvCxnSpPr>
          <p:spPr>
            <a:xfrm>
              <a:off x="8642084" y="2842013"/>
              <a:ext cx="55603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à coins arrondis 25">
              <a:extLst>
                <a:ext uri="{FF2B5EF4-FFF2-40B4-BE49-F238E27FC236}">
                  <a16:creationId xmlns:a16="http://schemas.microsoft.com/office/drawing/2014/main" id="{DAF4FB8F-CBB9-8943-94AD-A0C048970C03}"/>
                </a:ext>
              </a:extLst>
            </p:cNvPr>
            <p:cNvSpPr/>
            <p:nvPr/>
          </p:nvSpPr>
          <p:spPr>
            <a:xfrm>
              <a:off x="2621951" y="3500138"/>
              <a:ext cx="1084472" cy="85235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54" name="Connecteur droit avec flèche 26">
              <a:extLst>
                <a:ext uri="{FF2B5EF4-FFF2-40B4-BE49-F238E27FC236}">
                  <a16:creationId xmlns:a16="http://schemas.microsoft.com/office/drawing/2014/main" id="{847FE4ED-FAF6-164C-8BDD-CB50D6EE59AB}"/>
                </a:ext>
              </a:extLst>
            </p:cNvPr>
            <p:cNvCxnSpPr>
              <a:stCxn id="37" idx="2"/>
              <a:endCxn id="53" idx="0"/>
            </p:cNvCxnSpPr>
            <p:nvPr/>
          </p:nvCxnSpPr>
          <p:spPr>
            <a:xfrm flipH="1">
              <a:off x="3164187" y="3335198"/>
              <a:ext cx="1829798" cy="1649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droit avec flèche 27">
              <a:extLst>
                <a:ext uri="{FF2B5EF4-FFF2-40B4-BE49-F238E27FC236}">
                  <a16:creationId xmlns:a16="http://schemas.microsoft.com/office/drawing/2014/main" id="{FF5FB47E-3AE0-974B-9A7E-063B9F5951AD}"/>
                </a:ext>
              </a:extLst>
            </p:cNvPr>
            <p:cNvCxnSpPr>
              <a:stCxn id="40" idx="2"/>
              <a:endCxn id="48" idx="0"/>
            </p:cNvCxnSpPr>
            <p:nvPr/>
          </p:nvCxnSpPr>
          <p:spPr>
            <a:xfrm>
              <a:off x="7653688" y="1996614"/>
              <a:ext cx="2549254" cy="493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avec flèche 28">
              <a:extLst>
                <a:ext uri="{FF2B5EF4-FFF2-40B4-BE49-F238E27FC236}">
                  <a16:creationId xmlns:a16="http://schemas.microsoft.com/office/drawing/2014/main" id="{BE01C3BD-BF97-EE4C-B1DA-5FCCF7362674}"/>
                </a:ext>
              </a:extLst>
            </p:cNvPr>
            <p:cNvCxnSpPr>
              <a:stCxn id="41" idx="2"/>
              <a:endCxn id="48" idx="0"/>
            </p:cNvCxnSpPr>
            <p:nvPr/>
          </p:nvCxnSpPr>
          <p:spPr>
            <a:xfrm>
              <a:off x="9645765" y="1999611"/>
              <a:ext cx="557177" cy="49012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avec flèche 29">
              <a:extLst>
                <a:ext uri="{FF2B5EF4-FFF2-40B4-BE49-F238E27FC236}">
                  <a16:creationId xmlns:a16="http://schemas.microsoft.com/office/drawing/2014/main" id="{A41524F7-B0F5-6048-83A2-1AE4993570C8}"/>
                </a:ext>
              </a:extLst>
            </p:cNvPr>
            <p:cNvCxnSpPr>
              <a:stCxn id="40" idx="2"/>
              <a:endCxn id="37" idx="0"/>
            </p:cNvCxnSpPr>
            <p:nvPr/>
          </p:nvCxnSpPr>
          <p:spPr>
            <a:xfrm flipH="1">
              <a:off x="4993985" y="1996614"/>
              <a:ext cx="2659703" cy="35221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avec flèche 30">
              <a:extLst>
                <a:ext uri="{FF2B5EF4-FFF2-40B4-BE49-F238E27FC236}">
                  <a16:creationId xmlns:a16="http://schemas.microsoft.com/office/drawing/2014/main" id="{71811D0A-A9F0-8544-A16E-ED02CC632621}"/>
                </a:ext>
              </a:extLst>
            </p:cNvPr>
            <p:cNvCxnSpPr>
              <a:stCxn id="41" idx="2"/>
              <a:endCxn id="37" idx="0"/>
            </p:cNvCxnSpPr>
            <p:nvPr/>
          </p:nvCxnSpPr>
          <p:spPr>
            <a:xfrm flipH="1">
              <a:off x="4993985" y="1999611"/>
              <a:ext cx="4651780" cy="3492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2C24CB1-B4E1-DF48-BFAD-0A0DE8E7E0DF}"/>
                </a:ext>
              </a:extLst>
            </p:cNvPr>
            <p:cNvSpPr/>
            <p:nvPr/>
          </p:nvSpPr>
          <p:spPr>
            <a:xfrm>
              <a:off x="5401578" y="4761517"/>
              <a:ext cx="1844516" cy="61061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0" name="Multidocument 59">
              <a:extLst>
                <a:ext uri="{FF2B5EF4-FFF2-40B4-BE49-F238E27FC236}">
                  <a16:creationId xmlns:a16="http://schemas.microsoft.com/office/drawing/2014/main" id="{0FAF82ED-01CF-704B-B459-48B43829A800}"/>
                </a:ext>
              </a:extLst>
            </p:cNvPr>
            <p:cNvSpPr/>
            <p:nvPr/>
          </p:nvSpPr>
          <p:spPr>
            <a:xfrm>
              <a:off x="8575946" y="4364620"/>
              <a:ext cx="2401912" cy="1426580"/>
            </a:xfrm>
            <a:prstGeom prst="flowChartMultidocumen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Connecteur droit avec flèche 16">
              <a:extLst>
                <a:ext uri="{FF2B5EF4-FFF2-40B4-BE49-F238E27FC236}">
                  <a16:creationId xmlns:a16="http://schemas.microsoft.com/office/drawing/2014/main" id="{E6FC15CA-CCBE-8C47-8828-076085FAE42F}"/>
                </a:ext>
              </a:extLst>
            </p:cNvPr>
            <p:cNvCxnSpPr>
              <a:cxnSpLocks/>
              <a:stCxn id="59" idx="3"/>
              <a:endCxn id="60" idx="1"/>
            </p:cNvCxnSpPr>
            <p:nvPr/>
          </p:nvCxnSpPr>
          <p:spPr>
            <a:xfrm>
              <a:off x="7246095" y="5066823"/>
              <a:ext cx="1329851" cy="110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avec flèche 16">
              <a:extLst>
                <a:ext uri="{FF2B5EF4-FFF2-40B4-BE49-F238E27FC236}">
                  <a16:creationId xmlns:a16="http://schemas.microsoft.com/office/drawing/2014/main" id="{B7865B27-C525-BE41-BB6A-E0A011500D1E}"/>
                </a:ext>
              </a:extLst>
            </p:cNvPr>
            <p:cNvCxnSpPr>
              <a:cxnSpLocks/>
              <a:stCxn id="38" idx="2"/>
              <a:endCxn id="59" idx="0"/>
            </p:cNvCxnSpPr>
            <p:nvPr/>
          </p:nvCxnSpPr>
          <p:spPr>
            <a:xfrm>
              <a:off x="4997584" y="4392568"/>
              <a:ext cx="1326252" cy="36895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avec flèche 16">
              <a:extLst>
                <a:ext uri="{FF2B5EF4-FFF2-40B4-BE49-F238E27FC236}">
                  <a16:creationId xmlns:a16="http://schemas.microsoft.com/office/drawing/2014/main" id="{23BAF4B4-42E0-014E-9E62-D13FCD8D2AB2}"/>
                </a:ext>
              </a:extLst>
            </p:cNvPr>
            <p:cNvCxnSpPr>
              <a:cxnSpLocks/>
              <a:stCxn id="36" idx="3"/>
              <a:endCxn id="59" idx="0"/>
            </p:cNvCxnSpPr>
            <p:nvPr/>
          </p:nvCxnSpPr>
          <p:spPr>
            <a:xfrm flipH="1">
              <a:off x="6323837" y="4413620"/>
              <a:ext cx="1395988" cy="34789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65B2888-65BA-9047-BA13-DA88096F256E}"/>
                </a:ext>
              </a:extLst>
            </p:cNvPr>
            <p:cNvSpPr/>
            <p:nvPr/>
          </p:nvSpPr>
          <p:spPr>
            <a:xfrm>
              <a:off x="233808" y="4652281"/>
              <a:ext cx="2308096" cy="851257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Connecteur droit avec flèche 16">
              <a:extLst>
                <a:ext uri="{FF2B5EF4-FFF2-40B4-BE49-F238E27FC236}">
                  <a16:creationId xmlns:a16="http://schemas.microsoft.com/office/drawing/2014/main" id="{C3941375-0409-204C-91F6-63DCC13FE2E5}"/>
                </a:ext>
              </a:extLst>
            </p:cNvPr>
            <p:cNvCxnSpPr>
              <a:cxnSpLocks/>
              <a:stCxn id="64" idx="0"/>
              <a:endCxn id="35" idx="3"/>
            </p:cNvCxnSpPr>
            <p:nvPr/>
          </p:nvCxnSpPr>
          <p:spPr>
            <a:xfrm flipV="1">
              <a:off x="1387855" y="2362330"/>
              <a:ext cx="16715" cy="228995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avec flèche 16">
              <a:extLst>
                <a:ext uri="{FF2B5EF4-FFF2-40B4-BE49-F238E27FC236}">
                  <a16:creationId xmlns:a16="http://schemas.microsoft.com/office/drawing/2014/main" id="{635F55C5-D142-8E40-A652-60B50395FCB3}"/>
                </a:ext>
              </a:extLst>
            </p:cNvPr>
            <p:cNvCxnSpPr>
              <a:cxnSpLocks/>
              <a:stCxn id="64" idx="6"/>
              <a:endCxn id="59" idx="1"/>
            </p:cNvCxnSpPr>
            <p:nvPr/>
          </p:nvCxnSpPr>
          <p:spPr>
            <a:xfrm flipV="1">
              <a:off x="2541903" y="5066823"/>
              <a:ext cx="2859675" cy="110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eur droit 22">
              <a:extLst>
                <a:ext uri="{FF2B5EF4-FFF2-40B4-BE49-F238E27FC236}">
                  <a16:creationId xmlns:a16="http://schemas.microsoft.com/office/drawing/2014/main" id="{173D6F80-C16B-1B4D-AC2F-567A51E04F7A}"/>
                </a:ext>
              </a:extLst>
            </p:cNvPr>
            <p:cNvCxnSpPr>
              <a:cxnSpLocks/>
              <a:stCxn id="37" idx="1"/>
              <a:endCxn id="35" idx="4"/>
            </p:cNvCxnSpPr>
            <p:nvPr/>
          </p:nvCxnSpPr>
          <p:spPr>
            <a:xfrm flipH="1" flipV="1">
              <a:off x="2621951" y="1806898"/>
              <a:ext cx="1062427" cy="103511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eur droit avec flèche 16">
              <a:extLst>
                <a:ext uri="{FF2B5EF4-FFF2-40B4-BE49-F238E27FC236}">
                  <a16:creationId xmlns:a16="http://schemas.microsoft.com/office/drawing/2014/main" id="{F75FA2DB-E8A5-0D41-ADAD-745C0E9019A1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 flipH="1" flipV="1">
              <a:off x="5851811" y="3318054"/>
              <a:ext cx="945756" cy="62586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AC8412E-4AF9-0F4B-88FA-3790664B7015}"/>
              </a:ext>
            </a:extLst>
          </p:cNvPr>
          <p:cNvSpPr txBox="1"/>
          <p:nvPr/>
        </p:nvSpPr>
        <p:spPr>
          <a:xfrm>
            <a:off x="6061887" y="1732805"/>
            <a:ext cx="604425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O-ETB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8916F7-C9E2-5646-8650-22589C9BBBD5}"/>
              </a:ext>
            </a:extLst>
          </p:cNvPr>
          <p:cNvSpPr txBox="1"/>
          <p:nvPr/>
        </p:nvSpPr>
        <p:spPr>
          <a:xfrm>
            <a:off x="5011761" y="2732362"/>
            <a:ext cx="1004554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REPOSITORY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8C91243-5966-2142-871C-CEB7C898E5D5}"/>
              </a:ext>
            </a:extLst>
          </p:cNvPr>
          <p:cNvSpPr txBox="1"/>
          <p:nvPr/>
        </p:nvSpPr>
        <p:spPr>
          <a:xfrm>
            <a:off x="4280207" y="3973530"/>
            <a:ext cx="610196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CASES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E4D183-316F-C54D-87B7-AC4A385E5858}"/>
              </a:ext>
            </a:extLst>
          </p:cNvPr>
          <p:cNvSpPr txBox="1"/>
          <p:nvPr/>
        </p:nvSpPr>
        <p:spPr>
          <a:xfrm>
            <a:off x="5545849" y="3973530"/>
            <a:ext cx="848734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EVIDENCE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B00D6A-1288-C247-AAFF-C0209A75F532}"/>
              </a:ext>
            </a:extLst>
          </p:cNvPr>
          <p:cNvCxnSpPr>
            <a:cxnSpLocks/>
            <a:stCxn id="5" idx="2"/>
            <a:endCxn id="69" idx="0"/>
          </p:cNvCxnSpPr>
          <p:nvPr/>
        </p:nvCxnSpPr>
        <p:spPr>
          <a:xfrm flipH="1">
            <a:off x="5514039" y="2127789"/>
            <a:ext cx="850061" cy="604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0943C24-9AB8-4D40-97CC-38EB93872D1B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 flipH="1">
            <a:off x="4585306" y="3127346"/>
            <a:ext cx="928733" cy="84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ADC7AE2-D1BB-3840-B8BA-181C41B56AD9}"/>
              </a:ext>
            </a:extLst>
          </p:cNvPr>
          <p:cNvCxnSpPr>
            <a:cxnSpLocks/>
            <a:stCxn id="69" idx="2"/>
            <a:endCxn id="71" idx="0"/>
          </p:cNvCxnSpPr>
          <p:nvPr/>
        </p:nvCxnSpPr>
        <p:spPr>
          <a:xfrm>
            <a:off x="5514039" y="3127346"/>
            <a:ext cx="456177" cy="84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EF730F6-9616-514D-8330-818F9FB296DB}"/>
              </a:ext>
            </a:extLst>
          </p:cNvPr>
          <p:cNvCxnSpPr>
            <a:cxnSpLocks/>
            <a:stCxn id="70" idx="2"/>
            <a:endCxn id="80" idx="0"/>
          </p:cNvCxnSpPr>
          <p:nvPr/>
        </p:nvCxnSpPr>
        <p:spPr>
          <a:xfrm flipH="1">
            <a:off x="3306165" y="4368514"/>
            <a:ext cx="1279141" cy="1073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EEA330B-1B68-044A-8198-139774EF3E5D}"/>
              </a:ext>
            </a:extLst>
          </p:cNvPr>
          <p:cNvCxnSpPr>
            <a:cxnSpLocks/>
            <a:stCxn id="70" idx="2"/>
            <a:endCxn id="81" idx="0"/>
          </p:cNvCxnSpPr>
          <p:nvPr/>
        </p:nvCxnSpPr>
        <p:spPr>
          <a:xfrm flipH="1">
            <a:off x="4159911" y="4368514"/>
            <a:ext cx="425395" cy="10730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E20A180-6343-A749-927C-9FF32094E57D}"/>
              </a:ext>
            </a:extLst>
          </p:cNvPr>
          <p:cNvCxnSpPr>
            <a:cxnSpLocks/>
            <a:stCxn id="71" idx="2"/>
            <a:endCxn id="83" idx="0"/>
          </p:cNvCxnSpPr>
          <p:nvPr/>
        </p:nvCxnSpPr>
        <p:spPr>
          <a:xfrm>
            <a:off x="5970216" y="4368514"/>
            <a:ext cx="4947" cy="1117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1030EC2-91CF-294B-9600-4EDC51F10DFE}"/>
              </a:ext>
            </a:extLst>
          </p:cNvPr>
          <p:cNvCxnSpPr>
            <a:cxnSpLocks/>
            <a:stCxn id="71" idx="2"/>
            <a:endCxn id="84" idx="0"/>
          </p:cNvCxnSpPr>
          <p:nvPr/>
        </p:nvCxnSpPr>
        <p:spPr>
          <a:xfrm>
            <a:off x="5970216" y="4368514"/>
            <a:ext cx="645057" cy="1117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9CDBAE3-D00B-2845-B978-7A9EACB8735D}"/>
              </a:ext>
            </a:extLst>
          </p:cNvPr>
          <p:cNvCxnSpPr>
            <a:cxnSpLocks/>
            <a:stCxn id="71" idx="2"/>
            <a:endCxn id="85" idx="0"/>
          </p:cNvCxnSpPr>
          <p:nvPr/>
        </p:nvCxnSpPr>
        <p:spPr>
          <a:xfrm>
            <a:off x="5970216" y="4368514"/>
            <a:ext cx="1749933" cy="1114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C2B224B-5E01-B14A-8A62-063813F479BB}"/>
              </a:ext>
            </a:extLst>
          </p:cNvPr>
          <p:cNvCxnSpPr>
            <a:cxnSpLocks/>
            <a:stCxn id="70" idx="2"/>
            <a:endCxn id="82" idx="0"/>
          </p:cNvCxnSpPr>
          <p:nvPr/>
        </p:nvCxnSpPr>
        <p:spPr>
          <a:xfrm>
            <a:off x="4585306" y="4368514"/>
            <a:ext cx="717408" cy="11117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DC9300B3-89EE-F94A-A7B3-E3776C6AF3E5}"/>
              </a:ext>
            </a:extLst>
          </p:cNvPr>
          <p:cNvSpPr txBox="1"/>
          <p:nvPr/>
        </p:nvSpPr>
        <p:spPr>
          <a:xfrm>
            <a:off x="3030884" y="5441587"/>
            <a:ext cx="550562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CID 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D7F5C1A-ED6C-AC47-A3F8-00CAA15313D6}"/>
              </a:ext>
            </a:extLst>
          </p:cNvPr>
          <p:cNvSpPr txBox="1"/>
          <p:nvPr/>
        </p:nvSpPr>
        <p:spPr>
          <a:xfrm>
            <a:off x="3884630" y="5441587"/>
            <a:ext cx="550562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CID 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CE5AD01-55D4-F448-9920-E54BBFB589C8}"/>
              </a:ext>
            </a:extLst>
          </p:cNvPr>
          <p:cNvSpPr txBox="1"/>
          <p:nvPr/>
        </p:nvSpPr>
        <p:spPr>
          <a:xfrm>
            <a:off x="5005310" y="5480261"/>
            <a:ext cx="594807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CID m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564E4F-78BF-B846-8D4B-D25AA5414BA2}"/>
              </a:ext>
            </a:extLst>
          </p:cNvPr>
          <p:cNvSpPr txBox="1"/>
          <p:nvPr/>
        </p:nvSpPr>
        <p:spPr>
          <a:xfrm>
            <a:off x="5728737" y="5486163"/>
            <a:ext cx="492851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EC 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CC8CD8A-346E-CB4A-B577-C3AD6D757D48}"/>
              </a:ext>
            </a:extLst>
          </p:cNvPr>
          <p:cNvSpPr txBox="1"/>
          <p:nvPr/>
        </p:nvSpPr>
        <p:spPr>
          <a:xfrm>
            <a:off x="6368847" y="5486163"/>
            <a:ext cx="492851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EC 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7DBFBB5-E136-2E4B-9812-C181173DDC4D}"/>
              </a:ext>
            </a:extLst>
          </p:cNvPr>
          <p:cNvSpPr txBox="1"/>
          <p:nvPr/>
        </p:nvSpPr>
        <p:spPr>
          <a:xfrm>
            <a:off x="7472762" y="5482671"/>
            <a:ext cx="494774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EC 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767F351-277C-8443-BA9C-ED3CCC1A9DCD}"/>
              </a:ext>
            </a:extLst>
          </p:cNvPr>
          <p:cNvSpPr txBox="1"/>
          <p:nvPr/>
        </p:nvSpPr>
        <p:spPr>
          <a:xfrm>
            <a:off x="7744148" y="2808464"/>
            <a:ext cx="471689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CAP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BCF5A42-7601-5943-BEB8-6E1BCFFC1BC4}"/>
              </a:ext>
            </a:extLst>
          </p:cNvPr>
          <p:cNvSpPr txBox="1"/>
          <p:nvPr/>
        </p:nvSpPr>
        <p:spPr>
          <a:xfrm>
            <a:off x="7008957" y="5373390"/>
            <a:ext cx="362040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…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20136E7-AD36-F743-AA97-7A944B1CCEC5}"/>
              </a:ext>
            </a:extLst>
          </p:cNvPr>
          <p:cNvSpPr txBox="1"/>
          <p:nvPr/>
        </p:nvSpPr>
        <p:spPr>
          <a:xfrm>
            <a:off x="4631406" y="5370013"/>
            <a:ext cx="362040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… 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3DD888A-066A-064A-B65E-AA1CB226E225}"/>
              </a:ext>
            </a:extLst>
          </p:cNvPr>
          <p:cNvCxnSpPr>
            <a:cxnSpLocks/>
            <a:stCxn id="5" idx="2"/>
            <a:endCxn id="86" idx="0"/>
          </p:cNvCxnSpPr>
          <p:nvPr/>
        </p:nvCxnSpPr>
        <p:spPr>
          <a:xfrm>
            <a:off x="6364100" y="2127789"/>
            <a:ext cx="1615892" cy="680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5C1B087-B749-E14A-95AF-1960B071FC6E}"/>
              </a:ext>
            </a:extLst>
          </p:cNvPr>
          <p:cNvCxnSpPr>
            <a:cxnSpLocks/>
            <a:stCxn id="86" idx="2"/>
            <a:endCxn id="103" idx="0"/>
          </p:cNvCxnSpPr>
          <p:nvPr/>
        </p:nvCxnSpPr>
        <p:spPr>
          <a:xfrm flipH="1">
            <a:off x="7244484" y="3203449"/>
            <a:ext cx="735508" cy="7940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8407B3C-4507-8242-9120-51E08D215A04}"/>
              </a:ext>
            </a:extLst>
          </p:cNvPr>
          <p:cNvCxnSpPr>
            <a:cxnSpLocks/>
            <a:stCxn id="86" idx="2"/>
            <a:endCxn id="104" idx="0"/>
          </p:cNvCxnSpPr>
          <p:nvPr/>
        </p:nvCxnSpPr>
        <p:spPr>
          <a:xfrm>
            <a:off x="7979992" y="3203449"/>
            <a:ext cx="25082" cy="8158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B82B22D-C561-A44C-8071-E81FABCC72AF}"/>
              </a:ext>
            </a:extLst>
          </p:cNvPr>
          <p:cNvCxnSpPr>
            <a:cxnSpLocks/>
            <a:stCxn id="86" idx="2"/>
            <a:endCxn id="105" idx="0"/>
          </p:cNvCxnSpPr>
          <p:nvPr/>
        </p:nvCxnSpPr>
        <p:spPr>
          <a:xfrm>
            <a:off x="7979992" y="3203449"/>
            <a:ext cx="1282150" cy="790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12B47679-8D9C-7747-A374-BC384656C7C1}"/>
              </a:ext>
            </a:extLst>
          </p:cNvPr>
          <p:cNvSpPr txBox="1"/>
          <p:nvPr/>
        </p:nvSpPr>
        <p:spPr>
          <a:xfrm>
            <a:off x="6826069" y="3997544"/>
            <a:ext cx="836830" cy="39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CPI 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F709F7-8D2E-3843-AF25-634022C77E2C}"/>
              </a:ext>
            </a:extLst>
          </p:cNvPr>
          <p:cNvSpPr txBox="1"/>
          <p:nvPr/>
        </p:nvSpPr>
        <p:spPr>
          <a:xfrm>
            <a:off x="7557623" y="4019296"/>
            <a:ext cx="894902" cy="39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CPI 2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EF45381-DBD3-1F45-A362-17CD542C9C7D}"/>
              </a:ext>
            </a:extLst>
          </p:cNvPr>
          <p:cNvSpPr txBox="1"/>
          <p:nvPr/>
        </p:nvSpPr>
        <p:spPr>
          <a:xfrm>
            <a:off x="8814692" y="3994052"/>
            <a:ext cx="894901" cy="39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CPI p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CF6D8BF-7E7A-F444-B3DE-5E191F842692}"/>
              </a:ext>
            </a:extLst>
          </p:cNvPr>
          <p:cNvSpPr txBox="1"/>
          <p:nvPr/>
        </p:nvSpPr>
        <p:spPr>
          <a:xfrm>
            <a:off x="8350887" y="3884772"/>
            <a:ext cx="475537" cy="39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…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BC72AB4-0B0C-F844-AA34-82EA913A23AF}"/>
              </a:ext>
            </a:extLst>
          </p:cNvPr>
          <p:cNvSpPr txBox="1"/>
          <p:nvPr/>
        </p:nvSpPr>
        <p:spPr>
          <a:xfrm>
            <a:off x="2324029" y="2732362"/>
            <a:ext cx="387047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KB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998779E-977F-C34A-98E3-E68EF2286F92}"/>
              </a:ext>
            </a:extLst>
          </p:cNvPr>
          <p:cNvCxnSpPr>
            <a:cxnSpLocks/>
            <a:stCxn id="5" idx="2"/>
            <a:endCxn id="122" idx="0"/>
          </p:cNvCxnSpPr>
          <p:nvPr/>
        </p:nvCxnSpPr>
        <p:spPr>
          <a:xfrm flipH="1">
            <a:off x="2517553" y="2127789"/>
            <a:ext cx="3846547" cy="604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19D88DEC-EF43-2446-BE86-8A19F2B24A2F}"/>
              </a:ext>
            </a:extLst>
          </p:cNvPr>
          <p:cNvSpPr txBox="1"/>
          <p:nvPr/>
        </p:nvSpPr>
        <p:spPr>
          <a:xfrm>
            <a:off x="1279709" y="3958826"/>
            <a:ext cx="760244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MODELS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B088E0E-3EAB-9F48-9578-0D0A6D50FC16}"/>
              </a:ext>
            </a:extLst>
          </p:cNvPr>
          <p:cNvSpPr txBox="1"/>
          <p:nvPr/>
        </p:nvSpPr>
        <p:spPr>
          <a:xfrm>
            <a:off x="2802520" y="3979589"/>
            <a:ext cx="7072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EVIDENCE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CB29FDB-D136-4C49-89AC-939B748AA2DC}"/>
              </a:ext>
            </a:extLst>
          </p:cNvPr>
          <p:cNvCxnSpPr>
            <a:cxnSpLocks/>
            <a:stCxn id="122" idx="2"/>
            <a:endCxn id="127" idx="0"/>
          </p:cNvCxnSpPr>
          <p:nvPr/>
        </p:nvCxnSpPr>
        <p:spPr>
          <a:xfrm flipH="1">
            <a:off x="1659832" y="3127346"/>
            <a:ext cx="857721" cy="83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0627C16-DBD1-9F46-843A-4B3D0247619B}"/>
              </a:ext>
            </a:extLst>
          </p:cNvPr>
          <p:cNvCxnSpPr>
            <a:cxnSpLocks/>
            <a:stCxn id="122" idx="2"/>
            <a:endCxn id="128" idx="0"/>
          </p:cNvCxnSpPr>
          <p:nvPr/>
        </p:nvCxnSpPr>
        <p:spPr>
          <a:xfrm>
            <a:off x="2517553" y="3127346"/>
            <a:ext cx="638590" cy="8522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E52B4DA4-3CCB-FE45-8E0B-E9F34A2E4DC6}"/>
              </a:ext>
            </a:extLst>
          </p:cNvPr>
          <p:cNvSpPr txBox="1"/>
          <p:nvPr/>
        </p:nvSpPr>
        <p:spPr>
          <a:xfrm>
            <a:off x="1994981" y="3958826"/>
            <a:ext cx="867971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PATTERNS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8A9D30B-C481-5C4C-AFA1-394E76816ADA}"/>
              </a:ext>
            </a:extLst>
          </p:cNvPr>
          <p:cNvCxnSpPr>
            <a:cxnSpLocks/>
            <a:stCxn id="122" idx="2"/>
            <a:endCxn id="137" idx="0"/>
          </p:cNvCxnSpPr>
          <p:nvPr/>
        </p:nvCxnSpPr>
        <p:spPr>
          <a:xfrm flipH="1">
            <a:off x="2428967" y="3127346"/>
            <a:ext cx="88586" cy="8314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F1228FF-539E-034A-95AF-04C731DEF1BC}"/>
              </a:ext>
            </a:extLst>
          </p:cNvPr>
          <p:cNvSpPr txBox="1"/>
          <p:nvPr/>
        </p:nvSpPr>
        <p:spPr>
          <a:xfrm>
            <a:off x="2531924" y="3480679"/>
            <a:ext cx="362040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… 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4883F6D-A2FA-D74E-865A-8AFDA591A5A7}"/>
              </a:ext>
            </a:extLst>
          </p:cNvPr>
          <p:cNvSpPr txBox="1"/>
          <p:nvPr/>
        </p:nvSpPr>
        <p:spPr>
          <a:xfrm>
            <a:off x="8380622" y="2814146"/>
            <a:ext cx="602501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BUILD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1859E31-2BD5-1140-8833-97CE2FF389AB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>
          <a:xfrm>
            <a:off x="6364100" y="2127789"/>
            <a:ext cx="2317773" cy="6863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A701CDDF-80D4-524E-AE52-C5A709FE2EB2}"/>
              </a:ext>
            </a:extLst>
          </p:cNvPr>
          <p:cNvSpPr txBox="1"/>
          <p:nvPr/>
        </p:nvSpPr>
        <p:spPr>
          <a:xfrm>
            <a:off x="9935174" y="2814146"/>
            <a:ext cx="471689" cy="39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src</a:t>
            </a:r>
            <a:endParaRPr lang="en-US" sz="1000" dirty="0"/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8BAF475-D83F-CA46-B9B1-9CE7A25A379A}"/>
              </a:ext>
            </a:extLst>
          </p:cNvPr>
          <p:cNvCxnSpPr>
            <a:cxnSpLocks/>
            <a:stCxn id="5" idx="2"/>
            <a:endCxn id="89" idx="0"/>
          </p:cNvCxnSpPr>
          <p:nvPr/>
        </p:nvCxnSpPr>
        <p:spPr>
          <a:xfrm>
            <a:off x="6364100" y="2127789"/>
            <a:ext cx="3806919" cy="6863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055FBF84-AE8B-3241-8EED-68BCFF9F0D8B}"/>
              </a:ext>
            </a:extLst>
          </p:cNvPr>
          <p:cNvSpPr txBox="1"/>
          <p:nvPr/>
        </p:nvSpPr>
        <p:spPr>
          <a:xfrm>
            <a:off x="10565635" y="2805947"/>
            <a:ext cx="471689" cy="39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doc</a:t>
            </a: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C96EE05-095C-4343-9CAA-FD2B294A3F0A}"/>
              </a:ext>
            </a:extLst>
          </p:cNvPr>
          <p:cNvCxnSpPr>
            <a:cxnSpLocks/>
            <a:stCxn id="5" idx="2"/>
            <a:endCxn id="93" idx="0"/>
          </p:cNvCxnSpPr>
          <p:nvPr/>
        </p:nvCxnSpPr>
        <p:spPr>
          <a:xfrm>
            <a:off x="6364100" y="2127789"/>
            <a:ext cx="4437379" cy="67815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E7D731D3-7497-8F46-B2FC-54CE385E240A}"/>
              </a:ext>
            </a:extLst>
          </p:cNvPr>
          <p:cNvSpPr txBox="1"/>
          <p:nvPr/>
        </p:nvSpPr>
        <p:spPr>
          <a:xfrm>
            <a:off x="9138894" y="2811957"/>
            <a:ext cx="517858" cy="39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TEST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960119D-F6BD-D64F-95E5-7F1CC4C572A7}"/>
              </a:ext>
            </a:extLst>
          </p:cNvPr>
          <p:cNvCxnSpPr>
            <a:cxnSpLocks/>
            <a:stCxn id="5" idx="2"/>
            <a:endCxn id="96" idx="0"/>
          </p:cNvCxnSpPr>
          <p:nvPr/>
        </p:nvCxnSpPr>
        <p:spPr>
          <a:xfrm>
            <a:off x="6364100" y="2127789"/>
            <a:ext cx="3033723" cy="68416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373E6E41-AA00-8846-A5AD-CFEE285446B8}"/>
              </a:ext>
            </a:extLst>
          </p:cNvPr>
          <p:cNvSpPr txBox="1"/>
          <p:nvPr/>
        </p:nvSpPr>
        <p:spPr>
          <a:xfrm>
            <a:off x="2722490" y="4513795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categories.pl</a:t>
            </a:r>
            <a:endParaRPr lang="en-US" sz="1000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0B6837B-0189-3A49-BEFB-BBCA50983F2A}"/>
              </a:ext>
            </a:extLst>
          </p:cNvPr>
          <p:cNvCxnSpPr>
            <a:cxnSpLocks/>
            <a:stCxn id="128" idx="2"/>
            <a:endCxn id="98" idx="0"/>
          </p:cNvCxnSpPr>
          <p:nvPr/>
        </p:nvCxnSpPr>
        <p:spPr>
          <a:xfrm flipH="1">
            <a:off x="3148248" y="4225810"/>
            <a:ext cx="7895" cy="2879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3710E6A-080A-7A4C-A873-9B48F21AA479}"/>
              </a:ext>
            </a:extLst>
          </p:cNvPr>
          <p:cNvCxnSpPr>
            <a:cxnSpLocks/>
            <a:stCxn id="122" idx="2"/>
            <a:endCxn id="109" idx="0"/>
          </p:cNvCxnSpPr>
          <p:nvPr/>
        </p:nvCxnSpPr>
        <p:spPr>
          <a:xfrm>
            <a:off x="2517553" y="3127346"/>
            <a:ext cx="1225139" cy="8489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27498DCA-B8F0-2C4C-A19F-97BE163C4309}"/>
              </a:ext>
            </a:extLst>
          </p:cNvPr>
          <p:cNvSpPr txBox="1"/>
          <p:nvPr/>
        </p:nvSpPr>
        <p:spPr>
          <a:xfrm>
            <a:off x="3439564" y="3976308"/>
            <a:ext cx="6062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2692063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461" y="1275072"/>
            <a:ext cx="11450705" cy="1560275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GB" dirty="0"/>
              <a:t>CASES organised according to assurance case identifier</a:t>
            </a:r>
          </a:p>
          <a:p>
            <a:pPr lvl="1"/>
            <a:r>
              <a:rPr lang="en-GB" dirty="0"/>
              <a:t>EVIDENCE organised according to evidence category</a:t>
            </a:r>
          </a:p>
          <a:p>
            <a:pPr lvl="1"/>
            <a:r>
              <a:rPr lang="en-GB" dirty="0"/>
              <a:t>CAP organised according to certification project identifier</a:t>
            </a:r>
          </a:p>
          <a:p>
            <a:pPr lvl="1"/>
            <a:r>
              <a:rPr lang="en-GB" dirty="0"/>
              <a:t>KB contains MODELS, PATTERNS, EVIDENCE, AGENTS …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624124"/>
            <a:ext cx="2844800" cy="233876"/>
          </a:xfrm>
        </p:spPr>
        <p:txBody>
          <a:bodyPr/>
          <a:lstStyle/>
          <a:p>
            <a:r>
              <a:rPr lang="en-US"/>
              <a:t>The Open Group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98800" y="6616998"/>
            <a:ext cx="6096000" cy="241002"/>
          </a:xfrm>
        </p:spPr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15600" y="6616998"/>
            <a:ext cx="1422400" cy="24100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O-ETB Dynamic database structure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2114659-2B00-6F4A-ACA2-6671FB791E39}"/>
              </a:ext>
            </a:extLst>
          </p:cNvPr>
          <p:cNvGrpSpPr/>
          <p:nvPr/>
        </p:nvGrpSpPr>
        <p:grpSpPr>
          <a:xfrm>
            <a:off x="9885295" y="755959"/>
            <a:ext cx="2175010" cy="902721"/>
            <a:chOff x="187190" y="1251466"/>
            <a:chExt cx="10938010" cy="4539734"/>
          </a:xfrm>
        </p:grpSpPr>
        <p:cxnSp>
          <p:nvCxnSpPr>
            <p:cNvPr id="34" name="Connecteur droit avec flèche 6">
              <a:extLst>
                <a:ext uri="{FF2B5EF4-FFF2-40B4-BE49-F238E27FC236}">
                  <a16:creationId xmlns:a16="http://schemas.microsoft.com/office/drawing/2014/main" id="{30A1A268-EF67-0745-A880-88A5A322F89E}"/>
                </a:ext>
              </a:extLst>
            </p:cNvPr>
            <p:cNvCxnSpPr>
              <a:stCxn id="46" idx="3"/>
            </p:cNvCxnSpPr>
            <p:nvPr/>
          </p:nvCxnSpPr>
          <p:spPr>
            <a:xfrm>
              <a:off x="8723508" y="2795042"/>
              <a:ext cx="548386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rganigramme : Disque magnétique 7">
              <a:extLst>
                <a:ext uri="{FF2B5EF4-FFF2-40B4-BE49-F238E27FC236}">
                  <a16:creationId xmlns:a16="http://schemas.microsoft.com/office/drawing/2014/main" id="{A27B2B3A-523E-1A4A-AC1A-F7148CF982AB}"/>
                </a:ext>
              </a:extLst>
            </p:cNvPr>
            <p:cNvSpPr/>
            <p:nvPr/>
          </p:nvSpPr>
          <p:spPr>
            <a:xfrm>
              <a:off x="187190" y="1251466"/>
              <a:ext cx="2434761" cy="1110864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36" name="Organigramme : Disque magnétique 8">
              <a:extLst>
                <a:ext uri="{FF2B5EF4-FFF2-40B4-BE49-F238E27FC236}">
                  <a16:creationId xmlns:a16="http://schemas.microsoft.com/office/drawing/2014/main" id="{311213B4-14C5-6243-9653-C1306FBF65B0}"/>
                </a:ext>
              </a:extLst>
            </p:cNvPr>
            <p:cNvSpPr/>
            <p:nvPr/>
          </p:nvSpPr>
          <p:spPr>
            <a:xfrm>
              <a:off x="6797567" y="3474219"/>
              <a:ext cx="1844516" cy="939401"/>
            </a:xfrm>
            <a:prstGeom prst="flowChartMagneticDisk">
              <a:avLst/>
            </a:prstGeom>
            <a:solidFill>
              <a:schemeClr val="accent6">
                <a:lumMod val="60000"/>
                <a:lumOff val="4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37" name="Organigramme : Processus 9">
              <a:extLst>
                <a:ext uri="{FF2B5EF4-FFF2-40B4-BE49-F238E27FC236}">
                  <a16:creationId xmlns:a16="http://schemas.microsoft.com/office/drawing/2014/main" id="{492D3A59-75FA-954B-9FC0-A900A315CCE0}"/>
                </a:ext>
              </a:extLst>
            </p:cNvPr>
            <p:cNvSpPr/>
            <p:nvPr/>
          </p:nvSpPr>
          <p:spPr>
            <a:xfrm>
              <a:off x="3684378" y="2348827"/>
              <a:ext cx="2619213" cy="986372"/>
            </a:xfrm>
            <a:prstGeom prst="flowChartProcess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38" name="Rectangle à coins arrondis 10">
              <a:extLst>
                <a:ext uri="{FF2B5EF4-FFF2-40B4-BE49-F238E27FC236}">
                  <a16:creationId xmlns:a16="http://schemas.microsoft.com/office/drawing/2014/main" id="{9C932C05-6200-0F40-968D-3609363E36BF}"/>
                </a:ext>
              </a:extLst>
            </p:cNvPr>
            <p:cNvSpPr/>
            <p:nvPr/>
          </p:nvSpPr>
          <p:spPr>
            <a:xfrm>
              <a:off x="4075326" y="3500137"/>
              <a:ext cx="1844516" cy="89243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Rectangle à coins arrondis 11">
              <a:extLst>
                <a:ext uri="{FF2B5EF4-FFF2-40B4-BE49-F238E27FC236}">
                  <a16:creationId xmlns:a16="http://schemas.microsoft.com/office/drawing/2014/main" id="{3D8CE205-FA08-E945-9BB5-EE449C77226F}"/>
                </a:ext>
              </a:extLst>
            </p:cNvPr>
            <p:cNvSpPr/>
            <p:nvPr/>
          </p:nvSpPr>
          <p:spPr>
            <a:xfrm>
              <a:off x="4075326" y="1438178"/>
              <a:ext cx="1844516" cy="72819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40" name="Rectangle à coins arrondis 12">
              <a:extLst>
                <a:ext uri="{FF2B5EF4-FFF2-40B4-BE49-F238E27FC236}">
                  <a16:creationId xmlns:a16="http://schemas.microsoft.com/office/drawing/2014/main" id="{74356A9B-E9FB-144D-B2EA-8E333D452E62}"/>
                </a:ext>
              </a:extLst>
            </p:cNvPr>
            <p:cNvSpPr/>
            <p:nvPr/>
          </p:nvSpPr>
          <p:spPr>
            <a:xfrm>
              <a:off x="6731430" y="1456459"/>
              <a:ext cx="1844516" cy="540155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41" name="Rectangle à coins arrondis 13">
              <a:extLst>
                <a:ext uri="{FF2B5EF4-FFF2-40B4-BE49-F238E27FC236}">
                  <a16:creationId xmlns:a16="http://schemas.microsoft.com/office/drawing/2014/main" id="{7B2BFE61-5F85-C24F-AE62-95D308E72173}"/>
                </a:ext>
              </a:extLst>
            </p:cNvPr>
            <p:cNvSpPr/>
            <p:nvPr/>
          </p:nvSpPr>
          <p:spPr>
            <a:xfrm>
              <a:off x="8723507" y="1459456"/>
              <a:ext cx="1844516" cy="540155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42" name="Connecteur droit avec flèche 14">
              <a:extLst>
                <a:ext uri="{FF2B5EF4-FFF2-40B4-BE49-F238E27FC236}">
                  <a16:creationId xmlns:a16="http://schemas.microsoft.com/office/drawing/2014/main" id="{C6CA97D9-CCB1-6F41-85D8-395ED1D48F6F}"/>
                </a:ext>
              </a:extLst>
            </p:cNvPr>
            <p:cNvCxnSpPr>
              <a:stCxn id="39" idx="2"/>
              <a:endCxn id="37" idx="0"/>
            </p:cNvCxnSpPr>
            <p:nvPr/>
          </p:nvCxnSpPr>
          <p:spPr>
            <a:xfrm flipH="1">
              <a:off x="4993985" y="2166373"/>
              <a:ext cx="3599" cy="18245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15">
              <a:extLst>
                <a:ext uri="{FF2B5EF4-FFF2-40B4-BE49-F238E27FC236}">
                  <a16:creationId xmlns:a16="http://schemas.microsoft.com/office/drawing/2014/main" id="{BEAA06ED-57AA-9E44-A52E-A6C08E1C7EF7}"/>
                </a:ext>
              </a:extLst>
            </p:cNvPr>
            <p:cNvCxnSpPr>
              <a:stCxn id="37" idx="2"/>
              <a:endCxn id="38" idx="0"/>
            </p:cNvCxnSpPr>
            <p:nvPr/>
          </p:nvCxnSpPr>
          <p:spPr>
            <a:xfrm>
              <a:off x="4993985" y="3335198"/>
              <a:ext cx="3599" cy="1649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avec flèche 16">
              <a:extLst>
                <a:ext uri="{FF2B5EF4-FFF2-40B4-BE49-F238E27FC236}">
                  <a16:creationId xmlns:a16="http://schemas.microsoft.com/office/drawing/2014/main" id="{748C11FB-5C23-314E-844B-3D892FFFA0DA}"/>
                </a:ext>
              </a:extLst>
            </p:cNvPr>
            <p:cNvCxnSpPr>
              <a:stCxn id="47" idx="2"/>
              <a:endCxn id="36" idx="1"/>
            </p:cNvCxnSpPr>
            <p:nvPr/>
          </p:nvCxnSpPr>
          <p:spPr>
            <a:xfrm>
              <a:off x="7719825" y="3147319"/>
              <a:ext cx="0" cy="3269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avec flèche 17">
              <a:extLst>
                <a:ext uri="{FF2B5EF4-FFF2-40B4-BE49-F238E27FC236}">
                  <a16:creationId xmlns:a16="http://schemas.microsoft.com/office/drawing/2014/main" id="{3FD7160A-0F41-564F-8591-9400BF6C55F9}"/>
                </a:ext>
              </a:extLst>
            </p:cNvPr>
            <p:cNvCxnSpPr>
              <a:stCxn id="37" idx="3"/>
              <a:endCxn id="47" idx="1"/>
            </p:cNvCxnSpPr>
            <p:nvPr/>
          </p:nvCxnSpPr>
          <p:spPr>
            <a:xfrm>
              <a:off x="6303591" y="2842013"/>
              <a:ext cx="493976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478A3C5-E56A-914D-B0DD-17A512C752C5}"/>
                </a:ext>
              </a:extLst>
            </p:cNvPr>
            <p:cNvSpPr/>
            <p:nvPr/>
          </p:nvSpPr>
          <p:spPr>
            <a:xfrm>
              <a:off x="6878990" y="2489738"/>
              <a:ext cx="1844516" cy="61061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Organigramme : Processus 19">
              <a:extLst>
                <a:ext uri="{FF2B5EF4-FFF2-40B4-BE49-F238E27FC236}">
                  <a16:creationId xmlns:a16="http://schemas.microsoft.com/office/drawing/2014/main" id="{BA1D1BB6-DE82-644F-B653-1FFED2C883F4}"/>
                </a:ext>
              </a:extLst>
            </p:cNvPr>
            <p:cNvSpPr/>
            <p:nvPr/>
          </p:nvSpPr>
          <p:spPr>
            <a:xfrm>
              <a:off x="6797567" y="2536708"/>
              <a:ext cx="1844516" cy="610611"/>
            </a:xfrm>
            <a:prstGeom prst="flowChartProcess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4660EF0-C0E4-7542-B628-1F75AC749746}"/>
                </a:ext>
              </a:extLst>
            </p:cNvPr>
            <p:cNvSpPr/>
            <p:nvPr/>
          </p:nvSpPr>
          <p:spPr>
            <a:xfrm>
              <a:off x="9280684" y="2489738"/>
              <a:ext cx="1844516" cy="610611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Organigramme : Processus 21">
              <a:extLst>
                <a:ext uri="{FF2B5EF4-FFF2-40B4-BE49-F238E27FC236}">
                  <a16:creationId xmlns:a16="http://schemas.microsoft.com/office/drawing/2014/main" id="{D74C13F6-6E62-CE4B-9A7F-3CEB19B47811}"/>
                </a:ext>
              </a:extLst>
            </p:cNvPr>
            <p:cNvSpPr/>
            <p:nvPr/>
          </p:nvSpPr>
          <p:spPr>
            <a:xfrm>
              <a:off x="9198113" y="2536708"/>
              <a:ext cx="1844516" cy="610611"/>
            </a:xfrm>
            <a:prstGeom prst="flowChartProcess">
              <a:avLst/>
            </a:prstGeom>
            <a:solidFill>
              <a:schemeClr val="bg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Connecteur droit 22">
              <a:extLst>
                <a:ext uri="{FF2B5EF4-FFF2-40B4-BE49-F238E27FC236}">
                  <a16:creationId xmlns:a16="http://schemas.microsoft.com/office/drawing/2014/main" id="{9479F680-800E-2D4A-AD0B-D291CAD06D3A}"/>
                </a:ext>
              </a:extLst>
            </p:cNvPr>
            <p:cNvCxnSpPr>
              <a:cxnSpLocks/>
              <a:stCxn id="39" idx="1"/>
              <a:endCxn id="35" idx="4"/>
            </p:cNvCxnSpPr>
            <p:nvPr/>
          </p:nvCxnSpPr>
          <p:spPr>
            <a:xfrm flipH="1">
              <a:off x="2621951" y="1802276"/>
              <a:ext cx="1453375" cy="462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eur droit 23">
              <a:extLst>
                <a:ext uri="{FF2B5EF4-FFF2-40B4-BE49-F238E27FC236}">
                  <a16:creationId xmlns:a16="http://schemas.microsoft.com/office/drawing/2014/main" id="{5FFAB7A5-D966-BD4E-9B0D-99F59CDB44B9}"/>
                </a:ext>
              </a:extLst>
            </p:cNvPr>
            <p:cNvCxnSpPr>
              <a:stCxn id="36" idx="2"/>
              <a:endCxn id="38" idx="3"/>
            </p:cNvCxnSpPr>
            <p:nvPr/>
          </p:nvCxnSpPr>
          <p:spPr>
            <a:xfrm flipH="1">
              <a:off x="5919842" y="3943921"/>
              <a:ext cx="877724" cy="2433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avec flèche 24">
              <a:extLst>
                <a:ext uri="{FF2B5EF4-FFF2-40B4-BE49-F238E27FC236}">
                  <a16:creationId xmlns:a16="http://schemas.microsoft.com/office/drawing/2014/main" id="{A8FE51CF-0CEE-0C4A-8CFC-23ED6EA3C088}"/>
                </a:ext>
              </a:extLst>
            </p:cNvPr>
            <p:cNvCxnSpPr>
              <a:stCxn id="47" idx="3"/>
              <a:endCxn id="49" idx="1"/>
            </p:cNvCxnSpPr>
            <p:nvPr/>
          </p:nvCxnSpPr>
          <p:spPr>
            <a:xfrm>
              <a:off x="8642084" y="2842013"/>
              <a:ext cx="55603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à coins arrondis 25">
              <a:extLst>
                <a:ext uri="{FF2B5EF4-FFF2-40B4-BE49-F238E27FC236}">
                  <a16:creationId xmlns:a16="http://schemas.microsoft.com/office/drawing/2014/main" id="{DAF4FB8F-CBB9-8943-94AD-A0C048970C03}"/>
                </a:ext>
              </a:extLst>
            </p:cNvPr>
            <p:cNvSpPr/>
            <p:nvPr/>
          </p:nvSpPr>
          <p:spPr>
            <a:xfrm>
              <a:off x="2621951" y="3500138"/>
              <a:ext cx="1084472" cy="85235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cxnSp>
          <p:nvCxnSpPr>
            <p:cNvPr id="54" name="Connecteur droit avec flèche 26">
              <a:extLst>
                <a:ext uri="{FF2B5EF4-FFF2-40B4-BE49-F238E27FC236}">
                  <a16:creationId xmlns:a16="http://schemas.microsoft.com/office/drawing/2014/main" id="{847FE4ED-FAF6-164C-8BDD-CB50D6EE59AB}"/>
                </a:ext>
              </a:extLst>
            </p:cNvPr>
            <p:cNvCxnSpPr>
              <a:stCxn id="37" idx="2"/>
              <a:endCxn id="53" idx="0"/>
            </p:cNvCxnSpPr>
            <p:nvPr/>
          </p:nvCxnSpPr>
          <p:spPr>
            <a:xfrm flipH="1">
              <a:off x="3164187" y="3335198"/>
              <a:ext cx="1829798" cy="16493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droit avec flèche 27">
              <a:extLst>
                <a:ext uri="{FF2B5EF4-FFF2-40B4-BE49-F238E27FC236}">
                  <a16:creationId xmlns:a16="http://schemas.microsoft.com/office/drawing/2014/main" id="{FF5FB47E-3AE0-974B-9A7E-063B9F5951AD}"/>
                </a:ext>
              </a:extLst>
            </p:cNvPr>
            <p:cNvCxnSpPr>
              <a:stCxn id="40" idx="2"/>
              <a:endCxn id="48" idx="0"/>
            </p:cNvCxnSpPr>
            <p:nvPr/>
          </p:nvCxnSpPr>
          <p:spPr>
            <a:xfrm>
              <a:off x="7653688" y="1996614"/>
              <a:ext cx="2549254" cy="4931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avec flèche 28">
              <a:extLst>
                <a:ext uri="{FF2B5EF4-FFF2-40B4-BE49-F238E27FC236}">
                  <a16:creationId xmlns:a16="http://schemas.microsoft.com/office/drawing/2014/main" id="{BE01C3BD-BF97-EE4C-B1DA-5FCCF7362674}"/>
                </a:ext>
              </a:extLst>
            </p:cNvPr>
            <p:cNvCxnSpPr>
              <a:stCxn id="41" idx="2"/>
              <a:endCxn id="48" idx="0"/>
            </p:cNvCxnSpPr>
            <p:nvPr/>
          </p:nvCxnSpPr>
          <p:spPr>
            <a:xfrm>
              <a:off x="9645765" y="1999611"/>
              <a:ext cx="557177" cy="49012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avec flèche 29">
              <a:extLst>
                <a:ext uri="{FF2B5EF4-FFF2-40B4-BE49-F238E27FC236}">
                  <a16:creationId xmlns:a16="http://schemas.microsoft.com/office/drawing/2014/main" id="{A41524F7-B0F5-6048-83A2-1AE4993570C8}"/>
                </a:ext>
              </a:extLst>
            </p:cNvPr>
            <p:cNvCxnSpPr>
              <a:stCxn id="40" idx="2"/>
              <a:endCxn id="37" idx="0"/>
            </p:cNvCxnSpPr>
            <p:nvPr/>
          </p:nvCxnSpPr>
          <p:spPr>
            <a:xfrm flipH="1">
              <a:off x="4993985" y="1996614"/>
              <a:ext cx="2659703" cy="35221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avec flèche 30">
              <a:extLst>
                <a:ext uri="{FF2B5EF4-FFF2-40B4-BE49-F238E27FC236}">
                  <a16:creationId xmlns:a16="http://schemas.microsoft.com/office/drawing/2014/main" id="{71811D0A-A9F0-8544-A16E-ED02CC632621}"/>
                </a:ext>
              </a:extLst>
            </p:cNvPr>
            <p:cNvCxnSpPr>
              <a:stCxn id="41" idx="2"/>
              <a:endCxn id="37" idx="0"/>
            </p:cNvCxnSpPr>
            <p:nvPr/>
          </p:nvCxnSpPr>
          <p:spPr>
            <a:xfrm flipH="1">
              <a:off x="4993985" y="1999611"/>
              <a:ext cx="4651780" cy="34921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2C24CB1-B4E1-DF48-BFAD-0A0DE8E7E0DF}"/>
                </a:ext>
              </a:extLst>
            </p:cNvPr>
            <p:cNvSpPr/>
            <p:nvPr/>
          </p:nvSpPr>
          <p:spPr>
            <a:xfrm>
              <a:off x="5401578" y="4761517"/>
              <a:ext cx="1844516" cy="61061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60" name="Multidocument 59">
              <a:extLst>
                <a:ext uri="{FF2B5EF4-FFF2-40B4-BE49-F238E27FC236}">
                  <a16:creationId xmlns:a16="http://schemas.microsoft.com/office/drawing/2014/main" id="{0FAF82ED-01CF-704B-B459-48B43829A800}"/>
                </a:ext>
              </a:extLst>
            </p:cNvPr>
            <p:cNvSpPr/>
            <p:nvPr/>
          </p:nvSpPr>
          <p:spPr>
            <a:xfrm>
              <a:off x="8575946" y="4364620"/>
              <a:ext cx="2401912" cy="1426580"/>
            </a:xfrm>
            <a:prstGeom prst="flowChartMultidocumen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Connecteur droit avec flèche 16">
              <a:extLst>
                <a:ext uri="{FF2B5EF4-FFF2-40B4-BE49-F238E27FC236}">
                  <a16:creationId xmlns:a16="http://schemas.microsoft.com/office/drawing/2014/main" id="{E6FC15CA-CCBE-8C47-8828-076085FAE42F}"/>
                </a:ext>
              </a:extLst>
            </p:cNvPr>
            <p:cNvCxnSpPr>
              <a:cxnSpLocks/>
              <a:stCxn id="59" idx="3"/>
              <a:endCxn id="60" idx="1"/>
            </p:cNvCxnSpPr>
            <p:nvPr/>
          </p:nvCxnSpPr>
          <p:spPr>
            <a:xfrm>
              <a:off x="7246095" y="5066823"/>
              <a:ext cx="1329851" cy="1108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avec flèche 16">
              <a:extLst>
                <a:ext uri="{FF2B5EF4-FFF2-40B4-BE49-F238E27FC236}">
                  <a16:creationId xmlns:a16="http://schemas.microsoft.com/office/drawing/2014/main" id="{B7865B27-C525-BE41-BB6A-E0A011500D1E}"/>
                </a:ext>
              </a:extLst>
            </p:cNvPr>
            <p:cNvCxnSpPr>
              <a:cxnSpLocks/>
              <a:stCxn id="38" idx="2"/>
              <a:endCxn id="59" idx="0"/>
            </p:cNvCxnSpPr>
            <p:nvPr/>
          </p:nvCxnSpPr>
          <p:spPr>
            <a:xfrm>
              <a:off x="4997584" y="4392568"/>
              <a:ext cx="1326252" cy="36895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avec flèche 16">
              <a:extLst>
                <a:ext uri="{FF2B5EF4-FFF2-40B4-BE49-F238E27FC236}">
                  <a16:creationId xmlns:a16="http://schemas.microsoft.com/office/drawing/2014/main" id="{23BAF4B4-42E0-014E-9E62-D13FCD8D2AB2}"/>
                </a:ext>
              </a:extLst>
            </p:cNvPr>
            <p:cNvCxnSpPr>
              <a:cxnSpLocks/>
              <a:stCxn id="36" idx="3"/>
              <a:endCxn id="59" idx="0"/>
            </p:cNvCxnSpPr>
            <p:nvPr/>
          </p:nvCxnSpPr>
          <p:spPr>
            <a:xfrm flipH="1">
              <a:off x="6323837" y="4413620"/>
              <a:ext cx="1395988" cy="347897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65B2888-65BA-9047-BA13-DA88096F256E}"/>
                </a:ext>
              </a:extLst>
            </p:cNvPr>
            <p:cNvSpPr/>
            <p:nvPr/>
          </p:nvSpPr>
          <p:spPr>
            <a:xfrm>
              <a:off x="233808" y="4652281"/>
              <a:ext cx="2308096" cy="851257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5" name="Connecteur droit avec flèche 16">
              <a:extLst>
                <a:ext uri="{FF2B5EF4-FFF2-40B4-BE49-F238E27FC236}">
                  <a16:creationId xmlns:a16="http://schemas.microsoft.com/office/drawing/2014/main" id="{C3941375-0409-204C-91F6-63DCC13FE2E5}"/>
                </a:ext>
              </a:extLst>
            </p:cNvPr>
            <p:cNvCxnSpPr>
              <a:cxnSpLocks/>
              <a:stCxn id="64" idx="0"/>
              <a:endCxn id="35" idx="3"/>
            </p:cNvCxnSpPr>
            <p:nvPr/>
          </p:nvCxnSpPr>
          <p:spPr>
            <a:xfrm flipV="1">
              <a:off x="1387855" y="2362330"/>
              <a:ext cx="16715" cy="228995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avec flèche 16">
              <a:extLst>
                <a:ext uri="{FF2B5EF4-FFF2-40B4-BE49-F238E27FC236}">
                  <a16:creationId xmlns:a16="http://schemas.microsoft.com/office/drawing/2014/main" id="{635F55C5-D142-8E40-A652-60B50395FCB3}"/>
                </a:ext>
              </a:extLst>
            </p:cNvPr>
            <p:cNvCxnSpPr>
              <a:cxnSpLocks/>
              <a:stCxn id="64" idx="6"/>
              <a:endCxn id="59" idx="1"/>
            </p:cNvCxnSpPr>
            <p:nvPr/>
          </p:nvCxnSpPr>
          <p:spPr>
            <a:xfrm flipV="1">
              <a:off x="2541903" y="5066823"/>
              <a:ext cx="2859675" cy="11086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eur droit 22">
              <a:extLst>
                <a:ext uri="{FF2B5EF4-FFF2-40B4-BE49-F238E27FC236}">
                  <a16:creationId xmlns:a16="http://schemas.microsoft.com/office/drawing/2014/main" id="{173D6F80-C16B-1B4D-AC2F-567A51E04F7A}"/>
                </a:ext>
              </a:extLst>
            </p:cNvPr>
            <p:cNvCxnSpPr>
              <a:cxnSpLocks/>
              <a:stCxn id="37" idx="1"/>
              <a:endCxn id="35" idx="4"/>
            </p:cNvCxnSpPr>
            <p:nvPr/>
          </p:nvCxnSpPr>
          <p:spPr>
            <a:xfrm flipH="1" flipV="1">
              <a:off x="2621951" y="1806898"/>
              <a:ext cx="1062427" cy="103511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eur droit avec flèche 16">
              <a:extLst>
                <a:ext uri="{FF2B5EF4-FFF2-40B4-BE49-F238E27FC236}">
                  <a16:creationId xmlns:a16="http://schemas.microsoft.com/office/drawing/2014/main" id="{F75FA2DB-E8A5-0D41-ADAD-745C0E9019A1}"/>
                </a:ext>
              </a:extLst>
            </p:cNvPr>
            <p:cNvCxnSpPr>
              <a:cxnSpLocks/>
              <a:stCxn id="36" idx="2"/>
            </p:cNvCxnSpPr>
            <p:nvPr/>
          </p:nvCxnSpPr>
          <p:spPr>
            <a:xfrm flipH="1" flipV="1">
              <a:off x="5851811" y="3318054"/>
              <a:ext cx="945756" cy="62586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AC8412E-4AF9-0F4B-88FA-3790664B7015}"/>
              </a:ext>
            </a:extLst>
          </p:cNvPr>
          <p:cNvSpPr txBox="1"/>
          <p:nvPr/>
        </p:nvSpPr>
        <p:spPr>
          <a:xfrm>
            <a:off x="6329736" y="297665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O-ETB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98916F7-C9E2-5646-8650-22589C9BBBD5}"/>
              </a:ext>
            </a:extLst>
          </p:cNvPr>
          <p:cNvSpPr txBox="1"/>
          <p:nvPr/>
        </p:nvSpPr>
        <p:spPr>
          <a:xfrm>
            <a:off x="5454672" y="3599744"/>
            <a:ext cx="134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REPOSITORY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8C91243-5966-2142-871C-CEB7C898E5D5}"/>
              </a:ext>
            </a:extLst>
          </p:cNvPr>
          <p:cNvSpPr txBox="1"/>
          <p:nvPr/>
        </p:nvSpPr>
        <p:spPr>
          <a:xfrm>
            <a:off x="4845072" y="4373450"/>
            <a:ext cx="76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CASES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E4D183-316F-C54D-87B7-AC4A385E5858}"/>
              </a:ext>
            </a:extLst>
          </p:cNvPr>
          <p:cNvSpPr txBox="1"/>
          <p:nvPr/>
        </p:nvSpPr>
        <p:spPr>
          <a:xfrm>
            <a:off x="6516765" y="4373450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EVIDENCE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B00D6A-1288-C247-AAFF-C0209A75F532}"/>
              </a:ext>
            </a:extLst>
          </p:cNvPr>
          <p:cNvCxnSpPr>
            <a:cxnSpLocks/>
            <a:stCxn id="5" idx="2"/>
            <a:endCxn id="69" idx="0"/>
          </p:cNvCxnSpPr>
          <p:nvPr/>
        </p:nvCxnSpPr>
        <p:spPr>
          <a:xfrm flipH="1">
            <a:off x="6128735" y="3345983"/>
            <a:ext cx="579470" cy="253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0943C24-9AB8-4D40-97CC-38EB93872D1B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 flipH="1">
            <a:off x="5226427" y="3969076"/>
            <a:ext cx="902308" cy="404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BADC7AE2-D1BB-3840-B8BA-181C41B56AD9}"/>
              </a:ext>
            </a:extLst>
          </p:cNvPr>
          <p:cNvCxnSpPr>
            <a:cxnSpLocks/>
            <a:stCxn id="69" idx="2"/>
            <a:endCxn id="71" idx="0"/>
          </p:cNvCxnSpPr>
          <p:nvPr/>
        </p:nvCxnSpPr>
        <p:spPr>
          <a:xfrm>
            <a:off x="6128735" y="3969076"/>
            <a:ext cx="950845" cy="404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EF730F6-9616-514D-8330-818F9FB296DB}"/>
              </a:ext>
            </a:extLst>
          </p:cNvPr>
          <p:cNvCxnSpPr>
            <a:cxnSpLocks/>
            <a:stCxn id="70" idx="2"/>
            <a:endCxn id="80" idx="0"/>
          </p:cNvCxnSpPr>
          <p:nvPr/>
        </p:nvCxnSpPr>
        <p:spPr>
          <a:xfrm flipH="1">
            <a:off x="4625246" y="4742782"/>
            <a:ext cx="601181" cy="1080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EEA330B-1B68-044A-8198-139774EF3E5D}"/>
              </a:ext>
            </a:extLst>
          </p:cNvPr>
          <p:cNvCxnSpPr>
            <a:cxnSpLocks/>
            <a:stCxn id="70" idx="2"/>
            <a:endCxn id="81" idx="0"/>
          </p:cNvCxnSpPr>
          <p:nvPr/>
        </p:nvCxnSpPr>
        <p:spPr>
          <a:xfrm>
            <a:off x="5226427" y="4742782"/>
            <a:ext cx="110241" cy="1080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6E20A180-6343-A749-927C-9FF32094E57D}"/>
              </a:ext>
            </a:extLst>
          </p:cNvPr>
          <p:cNvCxnSpPr>
            <a:cxnSpLocks/>
            <a:stCxn id="71" idx="2"/>
            <a:endCxn id="83" idx="0"/>
          </p:cNvCxnSpPr>
          <p:nvPr/>
        </p:nvCxnSpPr>
        <p:spPr>
          <a:xfrm>
            <a:off x="7079580" y="4742782"/>
            <a:ext cx="726259" cy="1074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61030EC2-91CF-294B-9600-4EDC51F10DFE}"/>
              </a:ext>
            </a:extLst>
          </p:cNvPr>
          <p:cNvCxnSpPr>
            <a:cxnSpLocks/>
            <a:stCxn id="71" idx="2"/>
            <a:endCxn id="84" idx="0"/>
          </p:cNvCxnSpPr>
          <p:nvPr/>
        </p:nvCxnSpPr>
        <p:spPr>
          <a:xfrm>
            <a:off x="7079580" y="4742782"/>
            <a:ext cx="1709980" cy="1074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9CDBAE3-D00B-2845-B978-7A9EACB8735D}"/>
              </a:ext>
            </a:extLst>
          </p:cNvPr>
          <p:cNvCxnSpPr>
            <a:cxnSpLocks/>
            <a:stCxn id="71" idx="2"/>
            <a:endCxn id="85" idx="0"/>
          </p:cNvCxnSpPr>
          <p:nvPr/>
        </p:nvCxnSpPr>
        <p:spPr>
          <a:xfrm>
            <a:off x="7079580" y="4742782"/>
            <a:ext cx="2862263" cy="1072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C2B224B-5E01-B14A-8A62-063813F479BB}"/>
              </a:ext>
            </a:extLst>
          </p:cNvPr>
          <p:cNvCxnSpPr>
            <a:cxnSpLocks/>
            <a:stCxn id="70" idx="2"/>
            <a:endCxn id="82" idx="0"/>
          </p:cNvCxnSpPr>
          <p:nvPr/>
        </p:nvCxnSpPr>
        <p:spPr>
          <a:xfrm>
            <a:off x="5226427" y="4742782"/>
            <a:ext cx="1363104" cy="11043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DC9300B3-89EE-F94A-A7B3-E3776C6AF3E5}"/>
              </a:ext>
            </a:extLst>
          </p:cNvPr>
          <p:cNvSpPr txBox="1"/>
          <p:nvPr/>
        </p:nvSpPr>
        <p:spPr>
          <a:xfrm>
            <a:off x="4286050" y="5823073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CID 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D7F5C1A-ED6C-AC47-A3F8-00CAA15313D6}"/>
              </a:ext>
            </a:extLst>
          </p:cNvPr>
          <p:cNvSpPr txBox="1"/>
          <p:nvPr/>
        </p:nvSpPr>
        <p:spPr>
          <a:xfrm>
            <a:off x="4997472" y="5823073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CID 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CE5AD01-55D4-F448-9920-E54BBFB589C8}"/>
              </a:ext>
            </a:extLst>
          </p:cNvPr>
          <p:cNvSpPr txBox="1"/>
          <p:nvPr/>
        </p:nvSpPr>
        <p:spPr>
          <a:xfrm>
            <a:off x="6216672" y="5847181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CID m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564E4F-78BF-B846-8D4B-D25AA5414BA2}"/>
              </a:ext>
            </a:extLst>
          </p:cNvPr>
          <p:cNvSpPr txBox="1"/>
          <p:nvPr/>
        </p:nvSpPr>
        <p:spPr>
          <a:xfrm>
            <a:off x="7512072" y="5817015"/>
            <a:ext cx="587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 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CC8CD8A-346E-CB4A-B577-C3AD6D757D48}"/>
              </a:ext>
            </a:extLst>
          </p:cNvPr>
          <p:cNvSpPr txBox="1"/>
          <p:nvPr/>
        </p:nvSpPr>
        <p:spPr>
          <a:xfrm>
            <a:off x="8495793" y="5817015"/>
            <a:ext cx="587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 2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7DBFBB5-E136-2E4B-9812-C181173DDC4D}"/>
              </a:ext>
            </a:extLst>
          </p:cNvPr>
          <p:cNvSpPr txBox="1"/>
          <p:nvPr/>
        </p:nvSpPr>
        <p:spPr>
          <a:xfrm>
            <a:off x="9645672" y="5814838"/>
            <a:ext cx="592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 n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767F351-277C-8443-BA9C-ED3CCC1A9DCD}"/>
              </a:ext>
            </a:extLst>
          </p:cNvPr>
          <p:cNvSpPr txBox="1"/>
          <p:nvPr/>
        </p:nvSpPr>
        <p:spPr>
          <a:xfrm>
            <a:off x="9544314" y="3647184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CAP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BCF5A42-7601-5943-BEB8-6E1BCFFC1BC4}"/>
              </a:ext>
            </a:extLst>
          </p:cNvPr>
          <p:cNvSpPr txBox="1"/>
          <p:nvPr/>
        </p:nvSpPr>
        <p:spPr>
          <a:xfrm>
            <a:off x="9259186" y="574671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20136E7-AD36-F743-AA97-7A944B1CCEC5}"/>
              </a:ext>
            </a:extLst>
          </p:cNvPr>
          <p:cNvSpPr txBox="1"/>
          <p:nvPr/>
        </p:nvSpPr>
        <p:spPr>
          <a:xfrm>
            <a:off x="5905100" y="577845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</a:t>
            </a: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3DD888A-066A-064A-B65E-AA1CB226E225}"/>
              </a:ext>
            </a:extLst>
          </p:cNvPr>
          <p:cNvCxnSpPr>
            <a:cxnSpLocks/>
            <a:stCxn id="5" idx="2"/>
            <a:endCxn id="86" idx="0"/>
          </p:cNvCxnSpPr>
          <p:nvPr/>
        </p:nvCxnSpPr>
        <p:spPr>
          <a:xfrm>
            <a:off x="6708205" y="3345983"/>
            <a:ext cx="3115994" cy="301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5C1B087-B749-E14A-95AF-1960B071FC6E}"/>
              </a:ext>
            </a:extLst>
          </p:cNvPr>
          <p:cNvCxnSpPr>
            <a:cxnSpLocks/>
            <a:stCxn id="86" idx="2"/>
            <a:endCxn id="103" idx="0"/>
          </p:cNvCxnSpPr>
          <p:nvPr/>
        </p:nvCxnSpPr>
        <p:spPr>
          <a:xfrm flipH="1">
            <a:off x="9356547" y="4016516"/>
            <a:ext cx="467652" cy="7192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8407B3C-4507-8242-9120-51E08D215A04}"/>
              </a:ext>
            </a:extLst>
          </p:cNvPr>
          <p:cNvCxnSpPr>
            <a:cxnSpLocks/>
            <a:stCxn id="86" idx="2"/>
            <a:endCxn id="104" idx="0"/>
          </p:cNvCxnSpPr>
          <p:nvPr/>
        </p:nvCxnSpPr>
        <p:spPr>
          <a:xfrm>
            <a:off x="9824199" y="4016516"/>
            <a:ext cx="343322" cy="7328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B82B22D-C561-A44C-8071-E81FABCC72AF}"/>
              </a:ext>
            </a:extLst>
          </p:cNvPr>
          <p:cNvCxnSpPr>
            <a:cxnSpLocks/>
            <a:stCxn id="86" idx="2"/>
            <a:endCxn id="105" idx="0"/>
          </p:cNvCxnSpPr>
          <p:nvPr/>
        </p:nvCxnSpPr>
        <p:spPr>
          <a:xfrm>
            <a:off x="9824199" y="4016516"/>
            <a:ext cx="1690143" cy="717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12B47679-8D9C-7747-A374-BC384656C7C1}"/>
              </a:ext>
            </a:extLst>
          </p:cNvPr>
          <p:cNvSpPr txBox="1"/>
          <p:nvPr/>
        </p:nvSpPr>
        <p:spPr>
          <a:xfrm>
            <a:off x="9007884" y="4735793"/>
            <a:ext cx="697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CPI 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F709F7-8D2E-3843-AF25-634022C77E2C}"/>
              </a:ext>
            </a:extLst>
          </p:cNvPr>
          <p:cNvSpPr txBox="1"/>
          <p:nvPr/>
        </p:nvSpPr>
        <p:spPr>
          <a:xfrm>
            <a:off x="9794662" y="4749352"/>
            <a:ext cx="74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CPI 2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EF45381-DBD3-1F45-A362-17CD542C9C7D}"/>
              </a:ext>
            </a:extLst>
          </p:cNvPr>
          <p:cNvSpPr txBox="1"/>
          <p:nvPr/>
        </p:nvSpPr>
        <p:spPr>
          <a:xfrm>
            <a:off x="11141484" y="4733616"/>
            <a:ext cx="745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CPI p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CF6D8BF-7E7A-F444-B3DE-5E191F842692}"/>
              </a:ext>
            </a:extLst>
          </p:cNvPr>
          <p:cNvSpPr txBox="1"/>
          <p:nvPr/>
        </p:nvSpPr>
        <p:spPr>
          <a:xfrm>
            <a:off x="10754998" y="4665494"/>
            <a:ext cx="39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 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0BC72AB4-0B0C-F844-AA34-82EA913A23AF}"/>
              </a:ext>
            </a:extLst>
          </p:cNvPr>
          <p:cNvSpPr txBox="1"/>
          <p:nvPr/>
        </p:nvSpPr>
        <p:spPr>
          <a:xfrm>
            <a:off x="2167011" y="3599744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KB</a:t>
            </a:r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9998779E-977F-C34A-98E3-E68EF2286F92}"/>
              </a:ext>
            </a:extLst>
          </p:cNvPr>
          <p:cNvCxnSpPr>
            <a:cxnSpLocks/>
            <a:stCxn id="5" idx="2"/>
            <a:endCxn id="122" idx="0"/>
          </p:cNvCxnSpPr>
          <p:nvPr/>
        </p:nvCxnSpPr>
        <p:spPr>
          <a:xfrm flipH="1">
            <a:off x="2381974" y="3345983"/>
            <a:ext cx="4326231" cy="253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19D88DEC-EF43-2446-BE86-8A19F2B24A2F}"/>
              </a:ext>
            </a:extLst>
          </p:cNvPr>
          <p:cNvSpPr txBox="1"/>
          <p:nvPr/>
        </p:nvSpPr>
        <p:spPr>
          <a:xfrm>
            <a:off x="304800" y="4364284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B088E0E-3EAB-9F48-9578-0D0A6D50FC16}"/>
              </a:ext>
            </a:extLst>
          </p:cNvPr>
          <p:cNvSpPr txBox="1"/>
          <p:nvPr/>
        </p:nvSpPr>
        <p:spPr>
          <a:xfrm>
            <a:off x="2519376" y="4377227"/>
            <a:ext cx="11256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EVIDENCE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2CB29FDB-D136-4C49-89AC-939B748AA2DC}"/>
              </a:ext>
            </a:extLst>
          </p:cNvPr>
          <p:cNvCxnSpPr>
            <a:cxnSpLocks/>
            <a:stCxn id="122" idx="2"/>
            <a:endCxn id="127" idx="0"/>
          </p:cNvCxnSpPr>
          <p:nvPr/>
        </p:nvCxnSpPr>
        <p:spPr>
          <a:xfrm flipH="1">
            <a:off x="801090" y="3969076"/>
            <a:ext cx="1580884" cy="395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20627C16-DBD1-9F46-843A-4B3D0247619B}"/>
              </a:ext>
            </a:extLst>
          </p:cNvPr>
          <p:cNvCxnSpPr>
            <a:cxnSpLocks/>
            <a:stCxn id="122" idx="2"/>
            <a:endCxn id="128" idx="0"/>
          </p:cNvCxnSpPr>
          <p:nvPr/>
        </p:nvCxnSpPr>
        <p:spPr>
          <a:xfrm>
            <a:off x="2381974" y="3969076"/>
            <a:ext cx="700217" cy="408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E52B4DA4-3CCB-FE45-8E0B-E9F34A2E4DC6}"/>
              </a:ext>
            </a:extLst>
          </p:cNvPr>
          <p:cNvSpPr txBox="1"/>
          <p:nvPr/>
        </p:nvSpPr>
        <p:spPr>
          <a:xfrm>
            <a:off x="1334390" y="4364284"/>
            <a:ext cx="1121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PATTERNS</a:t>
            </a: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8A9D30B-C481-5C4C-AFA1-394E76816ADA}"/>
              </a:ext>
            </a:extLst>
          </p:cNvPr>
          <p:cNvCxnSpPr>
            <a:cxnSpLocks/>
            <a:stCxn id="122" idx="2"/>
            <a:endCxn id="137" idx="0"/>
          </p:cNvCxnSpPr>
          <p:nvPr/>
        </p:nvCxnSpPr>
        <p:spPr>
          <a:xfrm flipH="1">
            <a:off x="1894897" y="3969076"/>
            <a:ext cx="487077" cy="3952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AF1228FF-539E-034A-95AF-04C731DEF1BC}"/>
              </a:ext>
            </a:extLst>
          </p:cNvPr>
          <p:cNvSpPr txBox="1"/>
          <p:nvPr/>
        </p:nvSpPr>
        <p:spPr>
          <a:xfrm>
            <a:off x="2140028" y="406622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89BFFFE-15C8-4C4F-9BC3-F7C526619EB1}"/>
              </a:ext>
            </a:extLst>
          </p:cNvPr>
          <p:cNvCxnSpPr>
            <a:cxnSpLocks/>
            <a:stCxn id="128" idx="2"/>
            <a:endCxn id="88" idx="0"/>
          </p:cNvCxnSpPr>
          <p:nvPr/>
        </p:nvCxnSpPr>
        <p:spPr>
          <a:xfrm flipH="1">
            <a:off x="3082190" y="4746559"/>
            <a:ext cx="1" cy="306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D5B75448-2E3D-CC4F-9F1C-A87EB68B28C2}"/>
              </a:ext>
            </a:extLst>
          </p:cNvPr>
          <p:cNvSpPr txBox="1"/>
          <p:nvPr/>
        </p:nvSpPr>
        <p:spPr>
          <a:xfrm>
            <a:off x="2383066" y="5052661"/>
            <a:ext cx="1398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categories.pl</a:t>
            </a:r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3EB512E-E1B3-2545-B524-0E2F91DB288A}"/>
              </a:ext>
            </a:extLst>
          </p:cNvPr>
          <p:cNvSpPr txBox="1"/>
          <p:nvPr/>
        </p:nvSpPr>
        <p:spPr>
          <a:xfrm>
            <a:off x="3708134" y="4387592"/>
            <a:ext cx="940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AGENTS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D64AE1D-24CC-4746-81CD-6F5CEABE8603}"/>
              </a:ext>
            </a:extLst>
          </p:cNvPr>
          <p:cNvCxnSpPr>
            <a:cxnSpLocks/>
            <a:stCxn id="122" idx="2"/>
            <a:endCxn id="89" idx="0"/>
          </p:cNvCxnSpPr>
          <p:nvPr/>
        </p:nvCxnSpPr>
        <p:spPr>
          <a:xfrm>
            <a:off x="2381974" y="3969076"/>
            <a:ext cx="1796193" cy="4185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6042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B34D537-3DF1-9E44-A2F9-06ABA003A522}"/>
              </a:ext>
            </a:extLst>
          </p:cNvPr>
          <p:cNvCxnSpPr>
            <a:cxnSpLocks/>
          </p:cNvCxnSpPr>
          <p:nvPr/>
        </p:nvCxnSpPr>
        <p:spPr>
          <a:xfrm>
            <a:off x="1567070" y="5512183"/>
            <a:ext cx="60960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28211CC-A778-4344-809F-A069ED6266CB}"/>
              </a:ext>
            </a:extLst>
          </p:cNvPr>
          <p:cNvCxnSpPr>
            <a:cxnSpLocks/>
          </p:cNvCxnSpPr>
          <p:nvPr/>
        </p:nvCxnSpPr>
        <p:spPr>
          <a:xfrm>
            <a:off x="1537766" y="3711594"/>
            <a:ext cx="60960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3578C94-D147-B743-BEE4-E9120F4639CC}"/>
              </a:ext>
            </a:extLst>
          </p:cNvPr>
          <p:cNvCxnSpPr>
            <a:cxnSpLocks/>
          </p:cNvCxnSpPr>
          <p:nvPr/>
        </p:nvCxnSpPr>
        <p:spPr>
          <a:xfrm>
            <a:off x="1553440" y="4625994"/>
            <a:ext cx="60960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2D9E8EC-5C15-5947-BFC4-9A7CE9A5695B}"/>
              </a:ext>
            </a:extLst>
          </p:cNvPr>
          <p:cNvCxnSpPr>
            <a:cxnSpLocks/>
          </p:cNvCxnSpPr>
          <p:nvPr/>
        </p:nvCxnSpPr>
        <p:spPr>
          <a:xfrm>
            <a:off x="3200401" y="2905390"/>
            <a:ext cx="1870446" cy="667513"/>
          </a:xfrm>
          <a:prstGeom prst="straightConnector1">
            <a:avLst/>
          </a:prstGeom>
          <a:ln w="38100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AB45B7C-B2B7-F846-8760-33A0F509F32A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3200401" y="3097310"/>
            <a:ext cx="1834460" cy="1184827"/>
          </a:xfrm>
          <a:prstGeom prst="straightConnector1">
            <a:avLst/>
          </a:prstGeom>
          <a:ln w="38100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CA0A6E8-41B3-DB45-8A9F-80F33D20864D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3200401" y="3352800"/>
            <a:ext cx="1834460" cy="1670124"/>
          </a:xfrm>
          <a:prstGeom prst="straightConnector1">
            <a:avLst/>
          </a:prstGeom>
          <a:ln w="38100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C4936A-A8FC-D54E-9154-15EF7B5F8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8FEC6F-57B7-234F-85BA-1BE2D167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A8D89-C3AE-1F4E-9D95-40DBBC35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DB2A2F-27D5-B648-BD22-1578732F5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Structured Data Information Exchange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F1D54A-253F-FB4D-83C9-342CAE54F734}"/>
              </a:ext>
            </a:extLst>
          </p:cNvPr>
          <p:cNvSpPr/>
          <p:nvPr/>
        </p:nvSpPr>
        <p:spPr>
          <a:xfrm>
            <a:off x="562207" y="2395617"/>
            <a:ext cx="1066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System Model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33360D-863A-B34D-AEE4-18BC8D9DAA26}"/>
              </a:ext>
            </a:extLst>
          </p:cNvPr>
          <p:cNvCxnSpPr>
            <a:cxnSpLocks/>
          </p:cNvCxnSpPr>
          <p:nvPr/>
        </p:nvCxnSpPr>
        <p:spPr>
          <a:xfrm>
            <a:off x="3429000" y="2292626"/>
            <a:ext cx="0" cy="4184374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A23538-5268-214B-9383-A521A058B33F}"/>
              </a:ext>
            </a:extLst>
          </p:cNvPr>
          <p:cNvCxnSpPr>
            <a:cxnSpLocks/>
          </p:cNvCxnSpPr>
          <p:nvPr/>
        </p:nvCxnSpPr>
        <p:spPr>
          <a:xfrm>
            <a:off x="8305800" y="2286000"/>
            <a:ext cx="0" cy="4191000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13C92CE-FE5A-E64F-A37B-54B6672B4B6C}"/>
              </a:ext>
            </a:extLst>
          </p:cNvPr>
          <p:cNvSpPr txBox="1"/>
          <p:nvPr/>
        </p:nvSpPr>
        <p:spPr>
          <a:xfrm>
            <a:off x="8727105" y="1066800"/>
            <a:ext cx="31471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O-ETB KB Realm</a:t>
            </a:r>
            <a:br>
              <a:rPr lang="en-US" sz="2400" dirty="0"/>
            </a:br>
            <a:r>
              <a:rPr lang="en-US" sz="2400" dirty="0"/>
              <a:t>(Prolog Representation)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CCED9D-9CED-A649-BFD4-3A89DF844EF9}"/>
              </a:ext>
            </a:extLst>
          </p:cNvPr>
          <p:cNvSpPr txBox="1"/>
          <p:nvPr/>
        </p:nvSpPr>
        <p:spPr>
          <a:xfrm>
            <a:off x="273798" y="1066800"/>
            <a:ext cx="33264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/>
              <a:t>MedSecurance</a:t>
            </a:r>
            <a:r>
              <a:rPr lang="en-US" sz="2400" dirty="0"/>
              <a:t> Modeling</a:t>
            </a:r>
            <a:br>
              <a:rPr lang="en-US" sz="2400" dirty="0"/>
            </a:br>
            <a:r>
              <a:rPr lang="en-US" sz="2400" dirty="0"/>
              <a:t>Languages &amp; Tools Realm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9404B3-C32B-1343-9B88-EBCAEE015C62}"/>
              </a:ext>
            </a:extLst>
          </p:cNvPr>
          <p:cNvSpPr txBox="1"/>
          <p:nvPr/>
        </p:nvSpPr>
        <p:spPr>
          <a:xfrm>
            <a:off x="4551923" y="1058393"/>
            <a:ext cx="29466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Interchange</a:t>
            </a:r>
            <a:br>
              <a:rPr lang="en-US" sz="2400" dirty="0"/>
            </a:br>
            <a:r>
              <a:rPr lang="en-US" sz="2400" dirty="0"/>
              <a:t>and Translation Realm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F8453C-E150-3747-9BA9-AE54B5D79FAC}"/>
              </a:ext>
            </a:extLst>
          </p:cNvPr>
          <p:cNvSpPr/>
          <p:nvPr/>
        </p:nvSpPr>
        <p:spPr>
          <a:xfrm>
            <a:off x="9906000" y="2411509"/>
            <a:ext cx="1675215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policy.pl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4829AD-4CD5-BA4E-B04B-994396D30E28}"/>
              </a:ext>
            </a:extLst>
          </p:cNvPr>
          <p:cNvSpPr/>
          <p:nvPr/>
        </p:nvSpPr>
        <p:spPr>
          <a:xfrm>
            <a:off x="9907184" y="5181600"/>
            <a:ext cx="1675215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configuration.pl</a:t>
            </a:r>
            <a:br>
              <a:rPr lang="en-US" dirty="0"/>
            </a:br>
            <a:r>
              <a:rPr lang="en-US" dirty="0"/>
              <a:t>maybe “none”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22BF70-1EA8-1046-B2F8-26FAC0E1BABF}"/>
              </a:ext>
            </a:extLst>
          </p:cNvPr>
          <p:cNvSpPr/>
          <p:nvPr/>
        </p:nvSpPr>
        <p:spPr>
          <a:xfrm>
            <a:off x="9899266" y="4247641"/>
            <a:ext cx="1675215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platform.pl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A3459D-CE16-E842-94BC-21D90D4BC779}"/>
              </a:ext>
            </a:extLst>
          </p:cNvPr>
          <p:cNvSpPr/>
          <p:nvPr/>
        </p:nvSpPr>
        <p:spPr>
          <a:xfrm>
            <a:off x="9907184" y="3313682"/>
            <a:ext cx="1675215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&lt;</a:t>
            </a:r>
            <a:r>
              <a:rPr lang="en-US" dirty="0" err="1"/>
              <a:t>behaviour</a:t>
            </a:r>
            <a:r>
              <a:rPr lang="en-US" dirty="0"/>
              <a:t> model&gt;.pl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5D19DB-EF14-EA41-B252-6085C5B8E7E7}"/>
              </a:ext>
            </a:extLst>
          </p:cNvPr>
          <p:cNvSpPr/>
          <p:nvPr/>
        </p:nvSpPr>
        <p:spPr>
          <a:xfrm>
            <a:off x="2133601" y="2417445"/>
            <a:ext cx="1066800" cy="3449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 and render in agreed formats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A139FA-E87A-C445-8B28-0D1D831D297D}"/>
              </a:ext>
            </a:extLst>
          </p:cNvPr>
          <p:cNvSpPr/>
          <p:nvPr/>
        </p:nvSpPr>
        <p:spPr>
          <a:xfrm>
            <a:off x="8539302" y="2417445"/>
            <a:ext cx="1139273" cy="3449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Translate to Prolog format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138974C-4A4C-0546-8954-01DCD05FD1D3}"/>
              </a:ext>
            </a:extLst>
          </p:cNvPr>
          <p:cNvCxnSpPr>
            <a:cxnSpLocks/>
          </p:cNvCxnSpPr>
          <p:nvPr/>
        </p:nvCxnSpPr>
        <p:spPr>
          <a:xfrm>
            <a:off x="3200401" y="2667000"/>
            <a:ext cx="1560239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E89006E-E566-1A4D-9FE6-1A9D30BEBF9B}"/>
              </a:ext>
            </a:extLst>
          </p:cNvPr>
          <p:cNvGrpSpPr/>
          <p:nvPr/>
        </p:nvGrpSpPr>
        <p:grpSpPr>
          <a:xfrm>
            <a:off x="5039894" y="1964321"/>
            <a:ext cx="1605167" cy="1001243"/>
            <a:chOff x="4701717" y="3711884"/>
            <a:chExt cx="1605167" cy="1001243"/>
          </a:xfrm>
        </p:grpSpPr>
        <p:sp>
          <p:nvSpPr>
            <p:cNvPr id="25" name="Oval 15">
              <a:extLst>
                <a:ext uri="{FF2B5EF4-FFF2-40B4-BE49-F238E27FC236}">
                  <a16:creationId xmlns:a16="http://schemas.microsoft.com/office/drawing/2014/main" id="{7BD346F4-6D8A-494F-8B1B-93A818610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1717" y="4164827"/>
              <a:ext cx="286069" cy="119196"/>
            </a:xfrm>
            <a:prstGeom prst="ellipse">
              <a:avLst/>
            </a:prstGeom>
            <a:solidFill>
              <a:srgbClr val="47F40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b="0"/>
            </a:p>
          </p:txBody>
        </p:sp>
        <p:sp>
          <p:nvSpPr>
            <p:cNvPr id="26" name="Oval 16">
              <a:extLst>
                <a:ext uri="{FF2B5EF4-FFF2-40B4-BE49-F238E27FC236}">
                  <a16:creationId xmlns:a16="http://schemas.microsoft.com/office/drawing/2014/main" id="{C802B5B3-4B52-0447-B423-A0FF880FC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0108" y="4593931"/>
              <a:ext cx="286069" cy="1191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b="0"/>
            </a:p>
          </p:txBody>
        </p:sp>
        <p:sp>
          <p:nvSpPr>
            <p:cNvPr id="27" name="Oval 17">
              <a:extLst>
                <a:ext uri="{FF2B5EF4-FFF2-40B4-BE49-F238E27FC236}">
                  <a16:creationId xmlns:a16="http://schemas.microsoft.com/office/drawing/2014/main" id="{69B15947-4918-F94B-9F2B-28732AF1B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3764" y="4450896"/>
              <a:ext cx="286069" cy="1191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b="0"/>
            </a:p>
          </p:txBody>
        </p:sp>
        <p:sp>
          <p:nvSpPr>
            <p:cNvPr id="28" name="Oval 18">
              <a:extLst>
                <a:ext uri="{FF2B5EF4-FFF2-40B4-BE49-F238E27FC236}">
                  <a16:creationId xmlns:a16="http://schemas.microsoft.com/office/drawing/2014/main" id="{F2ACB767-32B8-9F41-9F6B-1AAC0E0F9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20815" y="4180719"/>
              <a:ext cx="286069" cy="1191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b="0"/>
            </a:p>
          </p:txBody>
        </p:sp>
        <p:sp>
          <p:nvSpPr>
            <p:cNvPr id="29" name="Oval 19">
              <a:extLst>
                <a:ext uri="{FF2B5EF4-FFF2-40B4-BE49-F238E27FC236}">
                  <a16:creationId xmlns:a16="http://schemas.microsoft.com/office/drawing/2014/main" id="{206DA2F0-4AC0-DD4E-B0D2-247C7E7EE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4032" y="3711884"/>
              <a:ext cx="286069" cy="1191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 sz="300" b="1">
                  <a:solidFill>
                    <a:schemeClr val="tx1"/>
                  </a:solidFill>
                  <a:latin typeface="Calibri" panose="020F050202020403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 sz="1800" b="0"/>
            </a:p>
          </p:txBody>
        </p:sp>
        <p:sp>
          <p:nvSpPr>
            <p:cNvPr id="30" name="Line 20">
              <a:extLst>
                <a:ext uri="{FF2B5EF4-FFF2-40B4-BE49-F238E27FC236}">
                  <a16:creationId xmlns:a16="http://schemas.microsoft.com/office/drawing/2014/main" id="{F03B5082-F319-9840-B21C-0ADC1C5C10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4216" y="3799294"/>
              <a:ext cx="627763" cy="3496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21">
              <a:extLst>
                <a:ext uri="{FF2B5EF4-FFF2-40B4-BE49-F238E27FC236}">
                  <a16:creationId xmlns:a16="http://schemas.microsoft.com/office/drawing/2014/main" id="{96B35204-6F24-9248-8F19-B7780547B8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11626" y="4220451"/>
              <a:ext cx="100918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22">
              <a:extLst>
                <a:ext uri="{FF2B5EF4-FFF2-40B4-BE49-F238E27FC236}">
                  <a16:creationId xmlns:a16="http://schemas.microsoft.com/office/drawing/2014/main" id="{B5BA9FC2-4942-084F-AB2B-E663D09BAC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860645" y="4268129"/>
              <a:ext cx="174820" cy="32580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23">
              <a:extLst>
                <a:ext uri="{FF2B5EF4-FFF2-40B4-BE49-F238E27FC236}">
                  <a16:creationId xmlns:a16="http://schemas.microsoft.com/office/drawing/2014/main" id="{F0992C2E-5C23-3349-9A76-4E20F6D154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42070" y="4522413"/>
              <a:ext cx="349640" cy="11124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64344C8-321A-9349-A481-7F68A9D72516}"/>
              </a:ext>
            </a:extLst>
          </p:cNvPr>
          <p:cNvCxnSpPr>
            <a:cxnSpLocks/>
          </p:cNvCxnSpPr>
          <p:nvPr/>
        </p:nvCxnSpPr>
        <p:spPr>
          <a:xfrm>
            <a:off x="8077200" y="2541143"/>
            <a:ext cx="46210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528CCC-F2AD-444C-9063-1EA797F76FB6}"/>
              </a:ext>
            </a:extLst>
          </p:cNvPr>
          <p:cNvCxnSpPr>
            <a:cxnSpLocks/>
          </p:cNvCxnSpPr>
          <p:nvPr/>
        </p:nvCxnSpPr>
        <p:spPr>
          <a:xfrm>
            <a:off x="1524000" y="2770974"/>
            <a:ext cx="60960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FF1E2E0-C100-E444-B045-110A567B20B2}"/>
              </a:ext>
            </a:extLst>
          </p:cNvPr>
          <p:cNvSpPr/>
          <p:nvPr/>
        </p:nvSpPr>
        <p:spPr>
          <a:xfrm>
            <a:off x="5034861" y="3939237"/>
            <a:ext cx="1518466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Platform Components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609F337-17EA-9643-BCEA-C90E5EDF9AA1}"/>
              </a:ext>
            </a:extLst>
          </p:cNvPr>
          <p:cNvSpPr/>
          <p:nvPr/>
        </p:nvSpPr>
        <p:spPr>
          <a:xfrm>
            <a:off x="5034861" y="4680024"/>
            <a:ext cx="1518466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Platform Configuration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6AFF206-D230-CD46-928C-1CE639F38164}"/>
              </a:ext>
            </a:extLst>
          </p:cNvPr>
          <p:cNvSpPr/>
          <p:nvPr/>
        </p:nvSpPr>
        <p:spPr>
          <a:xfrm>
            <a:off x="5039894" y="3191459"/>
            <a:ext cx="1518466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Behaviour</a:t>
            </a:r>
            <a:r>
              <a:rPr lang="en-US" dirty="0"/>
              <a:t> Model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C44DACC-C604-A94D-BB83-28A45673A700}"/>
              </a:ext>
            </a:extLst>
          </p:cNvPr>
          <p:cNvCxnSpPr>
            <a:cxnSpLocks/>
            <a:stCxn id="42" idx="3"/>
          </p:cNvCxnSpPr>
          <p:nvPr/>
        </p:nvCxnSpPr>
        <p:spPr>
          <a:xfrm>
            <a:off x="6558360" y="3534359"/>
            <a:ext cx="2002188" cy="1756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468DD08-E9C6-7B40-B760-3864B33152EF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6553327" y="4282137"/>
            <a:ext cx="2007221" cy="1555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026D50A-8033-A041-9BB0-321A0B869445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6553327" y="5022924"/>
            <a:ext cx="2007221" cy="2436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AE2FD510-3164-4949-BE38-3DEA88C7134D}"/>
              </a:ext>
            </a:extLst>
          </p:cNvPr>
          <p:cNvSpPr/>
          <p:nvPr/>
        </p:nvSpPr>
        <p:spPr>
          <a:xfrm>
            <a:off x="533400" y="5181600"/>
            <a:ext cx="1066800" cy="6858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Ontology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D68CAA7-005D-DC43-9A15-B949252CFEA9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9685310" y="2754409"/>
            <a:ext cx="220690" cy="1589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6875EE0-121C-B241-B7B9-B9234B9C5A7F}"/>
              </a:ext>
            </a:extLst>
          </p:cNvPr>
          <p:cNvCxnSpPr>
            <a:cxnSpLocks/>
          </p:cNvCxnSpPr>
          <p:nvPr/>
        </p:nvCxnSpPr>
        <p:spPr>
          <a:xfrm flipV="1">
            <a:off x="9665323" y="3742299"/>
            <a:ext cx="220690" cy="1589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3C949C8-B96F-4A46-A887-A70802E21C23}"/>
              </a:ext>
            </a:extLst>
          </p:cNvPr>
          <p:cNvCxnSpPr>
            <a:cxnSpLocks/>
          </p:cNvCxnSpPr>
          <p:nvPr/>
        </p:nvCxnSpPr>
        <p:spPr>
          <a:xfrm flipV="1">
            <a:off x="9837710" y="2906809"/>
            <a:ext cx="220690" cy="1589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DACEC00-9CBA-4B4E-B892-6BF636B47C59}"/>
              </a:ext>
            </a:extLst>
          </p:cNvPr>
          <p:cNvCxnSpPr>
            <a:cxnSpLocks/>
          </p:cNvCxnSpPr>
          <p:nvPr/>
        </p:nvCxnSpPr>
        <p:spPr>
          <a:xfrm flipV="1">
            <a:off x="9678575" y="4651228"/>
            <a:ext cx="220690" cy="1589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DA198C5-4A5B-EB4A-A0FC-617E3AB69A75}"/>
              </a:ext>
            </a:extLst>
          </p:cNvPr>
          <p:cNvCxnSpPr>
            <a:cxnSpLocks/>
          </p:cNvCxnSpPr>
          <p:nvPr/>
        </p:nvCxnSpPr>
        <p:spPr>
          <a:xfrm flipV="1">
            <a:off x="9677400" y="5517250"/>
            <a:ext cx="220690" cy="1589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FC9195F7-CB33-D94E-A6B9-7FCA7AD24637}"/>
              </a:ext>
            </a:extLst>
          </p:cNvPr>
          <p:cNvSpPr/>
          <p:nvPr/>
        </p:nvSpPr>
        <p:spPr>
          <a:xfrm>
            <a:off x="6728475" y="1855343"/>
            <a:ext cx="967725" cy="348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Arch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19505C3-69A2-F747-8E47-1EC80F8F85C4}"/>
              </a:ext>
            </a:extLst>
          </p:cNvPr>
          <p:cNvSpPr/>
          <p:nvPr/>
        </p:nvSpPr>
        <p:spPr>
          <a:xfrm>
            <a:off x="6726488" y="2355965"/>
            <a:ext cx="967725" cy="348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Props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CC96273-A1B8-3E4E-A70E-0F366D8B1E72}"/>
              </a:ext>
            </a:extLst>
          </p:cNvPr>
          <p:cNvSpPr/>
          <p:nvPr/>
        </p:nvSpPr>
        <p:spPr>
          <a:xfrm>
            <a:off x="551079" y="3352800"/>
            <a:ext cx="1066800" cy="6858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Analysis Tools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065B017-5886-F149-8414-BEBEADB32796}"/>
              </a:ext>
            </a:extLst>
          </p:cNvPr>
          <p:cNvSpPr/>
          <p:nvPr/>
        </p:nvSpPr>
        <p:spPr>
          <a:xfrm>
            <a:off x="3693840" y="4343400"/>
            <a:ext cx="1066800" cy="6858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 Agents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7DCD05B-4454-0B4B-AF7F-CE6BA7A487D5}"/>
              </a:ext>
            </a:extLst>
          </p:cNvPr>
          <p:cNvCxnSpPr>
            <a:cxnSpLocks/>
          </p:cNvCxnSpPr>
          <p:nvPr/>
        </p:nvCxnSpPr>
        <p:spPr>
          <a:xfrm>
            <a:off x="3124199" y="4580499"/>
            <a:ext cx="60960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7F193B5C-6791-2547-965E-2D09363053B1}"/>
              </a:ext>
            </a:extLst>
          </p:cNvPr>
          <p:cNvSpPr/>
          <p:nvPr/>
        </p:nvSpPr>
        <p:spPr>
          <a:xfrm>
            <a:off x="6726487" y="2856177"/>
            <a:ext cx="967725" cy="3482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Contracts</a:t>
            </a:r>
          </a:p>
        </p:txBody>
      </p:sp>
      <p:sp>
        <p:nvSpPr>
          <p:cNvPr id="65" name="Right Brace 64">
            <a:extLst>
              <a:ext uri="{FF2B5EF4-FFF2-40B4-BE49-F238E27FC236}">
                <a16:creationId xmlns:a16="http://schemas.microsoft.com/office/drawing/2014/main" id="{8FF854D2-2A83-1343-B325-35D500409E2D}"/>
              </a:ext>
            </a:extLst>
          </p:cNvPr>
          <p:cNvSpPr/>
          <p:nvPr/>
        </p:nvSpPr>
        <p:spPr>
          <a:xfrm>
            <a:off x="7772400" y="1828800"/>
            <a:ext cx="154341" cy="139814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6BAE17E-E041-0B4A-B054-CB532BFEC3C6}"/>
              </a:ext>
            </a:extLst>
          </p:cNvPr>
          <p:cNvSpPr/>
          <p:nvPr/>
        </p:nvSpPr>
        <p:spPr>
          <a:xfrm>
            <a:off x="566753" y="4267200"/>
            <a:ext cx="1066800" cy="685800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A/G </a:t>
            </a:r>
            <a:r>
              <a:rPr lang="en-US" sz="1600" dirty="0" err="1"/>
              <a:t>Reas</a:t>
            </a:r>
            <a:r>
              <a:rPr lang="en-US" sz="1600" dirty="0"/>
              <a:t>. Tool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836447F-A9AA-2C49-B434-7ED0A1F5D7F7}"/>
              </a:ext>
            </a:extLst>
          </p:cNvPr>
          <p:cNvSpPr/>
          <p:nvPr/>
        </p:nvSpPr>
        <p:spPr>
          <a:xfrm>
            <a:off x="3666551" y="5223781"/>
            <a:ext cx="1066800" cy="6858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Recon-ciliation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5C8709B-CFA7-8549-A3EA-3CE914E96A8D}"/>
              </a:ext>
            </a:extLst>
          </p:cNvPr>
          <p:cNvCxnSpPr>
            <a:cxnSpLocks/>
          </p:cNvCxnSpPr>
          <p:nvPr/>
        </p:nvCxnSpPr>
        <p:spPr>
          <a:xfrm>
            <a:off x="3084239" y="5512183"/>
            <a:ext cx="609601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E9BEEB24-644A-4745-893F-D762D1680246}"/>
              </a:ext>
            </a:extLst>
          </p:cNvPr>
          <p:cNvSpPr/>
          <p:nvPr/>
        </p:nvSpPr>
        <p:spPr>
          <a:xfrm>
            <a:off x="6802804" y="5223781"/>
            <a:ext cx="1066800" cy="6858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O-ETB Glossary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AECF99E-C4A0-BB44-8F3A-582634587DFD}"/>
              </a:ext>
            </a:extLst>
          </p:cNvPr>
          <p:cNvCxnSpPr>
            <a:cxnSpLocks/>
            <a:endCxn id="76" idx="3"/>
          </p:cNvCxnSpPr>
          <p:nvPr/>
        </p:nvCxnSpPr>
        <p:spPr>
          <a:xfrm flipH="1">
            <a:off x="7869604" y="5563626"/>
            <a:ext cx="666964" cy="305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192040B-7FE4-D345-9016-D42E76E72AB8}"/>
              </a:ext>
            </a:extLst>
          </p:cNvPr>
          <p:cNvCxnSpPr>
            <a:cxnSpLocks/>
            <a:stCxn id="76" idx="1"/>
            <a:endCxn id="57" idx="3"/>
          </p:cNvCxnSpPr>
          <p:nvPr/>
        </p:nvCxnSpPr>
        <p:spPr>
          <a:xfrm flipH="1">
            <a:off x="4733351" y="5566681"/>
            <a:ext cx="2069453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505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C4936A-A8FC-D54E-9154-15EF7B5F8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8FEC6F-57B7-234F-85BA-1BE2D167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A8D89-C3AE-1F4E-9D95-40DBBC35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DB2A2F-27D5-B648-BD22-1578732F5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Methodology Information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F1D54A-253F-FB4D-83C9-342CAE54F734}"/>
              </a:ext>
            </a:extLst>
          </p:cNvPr>
          <p:cNvSpPr/>
          <p:nvPr/>
        </p:nvSpPr>
        <p:spPr>
          <a:xfrm>
            <a:off x="1066800" y="2362200"/>
            <a:ext cx="1803392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TVRA Method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33360D-863A-B34D-AEE4-18BC8D9DAA26}"/>
              </a:ext>
            </a:extLst>
          </p:cNvPr>
          <p:cNvCxnSpPr/>
          <p:nvPr/>
        </p:nvCxnSpPr>
        <p:spPr>
          <a:xfrm>
            <a:off x="3860792" y="2292626"/>
            <a:ext cx="0" cy="3733800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A23538-5268-214B-9383-A521A058B33F}"/>
              </a:ext>
            </a:extLst>
          </p:cNvPr>
          <p:cNvCxnSpPr/>
          <p:nvPr/>
        </p:nvCxnSpPr>
        <p:spPr>
          <a:xfrm>
            <a:off x="7823192" y="2362200"/>
            <a:ext cx="0" cy="3733800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13C92CE-FE5A-E64F-A37B-54B6672B4B6C}"/>
              </a:ext>
            </a:extLst>
          </p:cNvPr>
          <p:cNvSpPr txBox="1"/>
          <p:nvPr/>
        </p:nvSpPr>
        <p:spPr>
          <a:xfrm>
            <a:off x="9063659" y="1398321"/>
            <a:ext cx="2193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O-ETB KB AC Patterns</a:t>
            </a:r>
            <a:br>
              <a:rPr lang="en-US" dirty="0"/>
            </a:br>
            <a:r>
              <a:rPr lang="en-US" dirty="0"/>
              <a:t>and Workflows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CCED9D-9CED-A649-BFD4-3A89DF844EF9}"/>
              </a:ext>
            </a:extLst>
          </p:cNvPr>
          <p:cNvSpPr txBox="1"/>
          <p:nvPr/>
        </p:nvSpPr>
        <p:spPr>
          <a:xfrm>
            <a:off x="716947" y="1398321"/>
            <a:ext cx="2897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MedSecurance</a:t>
            </a:r>
            <a:r>
              <a:rPr lang="en-US" dirty="0"/>
              <a:t> Methodology</a:t>
            </a:r>
            <a:br>
              <a:rPr lang="en-US" dirty="0"/>
            </a:br>
            <a:r>
              <a:rPr lang="en-US" dirty="0"/>
              <a:t>Realm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9404B3-C32B-1343-9B88-EBCAEE015C62}"/>
              </a:ext>
            </a:extLst>
          </p:cNvPr>
          <p:cNvSpPr txBox="1"/>
          <p:nvPr/>
        </p:nvSpPr>
        <p:spPr>
          <a:xfrm>
            <a:off x="4754622" y="1398321"/>
            <a:ext cx="25144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Abstracted Methodology</a:t>
            </a:r>
            <a:br>
              <a:rPr lang="en-US" dirty="0"/>
            </a:br>
            <a:r>
              <a:rPr lang="en-US" dirty="0"/>
              <a:t> and Pattern Realm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22BF70-1EA8-1046-B2F8-26FAC0E1BABF}"/>
              </a:ext>
            </a:extLst>
          </p:cNvPr>
          <p:cNvSpPr/>
          <p:nvPr/>
        </p:nvSpPr>
        <p:spPr>
          <a:xfrm>
            <a:off x="8729681" y="3925115"/>
            <a:ext cx="2743181" cy="494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patterns_ISO_81001.pl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A3459D-CE16-E842-94BC-21D90D4BC779}"/>
              </a:ext>
            </a:extLst>
          </p:cNvPr>
          <p:cNvSpPr/>
          <p:nvPr/>
        </p:nvSpPr>
        <p:spPr>
          <a:xfrm>
            <a:off x="8737598" y="3239315"/>
            <a:ext cx="2743181" cy="494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patterns_MILS.pl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E43313-39DB-704E-963B-97BC27CED7EF}"/>
              </a:ext>
            </a:extLst>
          </p:cNvPr>
          <p:cNvSpPr txBox="1"/>
          <p:nvPr/>
        </p:nvSpPr>
        <p:spPr>
          <a:xfrm>
            <a:off x="7975593" y="2057400"/>
            <a:ext cx="326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 Patterns (hand-implemented)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64827B-1768-EC4A-8ECD-AD2B6324B60F}"/>
              </a:ext>
            </a:extLst>
          </p:cNvPr>
          <p:cNvSpPr txBox="1"/>
          <p:nvPr/>
        </p:nvSpPr>
        <p:spPr>
          <a:xfrm>
            <a:off x="7987616" y="4684296"/>
            <a:ext cx="3304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Workflows (hand-translated) TBD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4B8FED-8969-3344-8BDA-03BD3AB1171D}"/>
              </a:ext>
            </a:extLst>
          </p:cNvPr>
          <p:cNvSpPr/>
          <p:nvPr/>
        </p:nvSpPr>
        <p:spPr>
          <a:xfrm>
            <a:off x="1066800" y="3225674"/>
            <a:ext cx="1803392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ISO/IEC &amp; MDCG</a:t>
            </a:r>
            <a:br>
              <a:rPr lang="en-US" dirty="0"/>
            </a:br>
            <a:r>
              <a:rPr lang="en-US" dirty="0"/>
              <a:t>Requirements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892942F-10B4-8F4F-8DBF-BAC1465D8F4D}"/>
              </a:ext>
            </a:extLst>
          </p:cNvPr>
          <p:cNvCxnSpPr>
            <a:cxnSpLocks/>
          </p:cNvCxnSpPr>
          <p:nvPr/>
        </p:nvCxnSpPr>
        <p:spPr>
          <a:xfrm>
            <a:off x="7200780" y="4191000"/>
            <a:ext cx="152890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E3C334D-CC94-2847-9825-F864C4C141A5}"/>
              </a:ext>
            </a:extLst>
          </p:cNvPr>
          <p:cNvCxnSpPr>
            <a:cxnSpLocks/>
          </p:cNvCxnSpPr>
          <p:nvPr/>
        </p:nvCxnSpPr>
        <p:spPr>
          <a:xfrm>
            <a:off x="7211142" y="5080132"/>
            <a:ext cx="152890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CCB6796-A9E7-6F4B-A04D-525653C217E7}"/>
              </a:ext>
            </a:extLst>
          </p:cNvPr>
          <p:cNvSpPr txBox="1"/>
          <p:nvPr/>
        </p:nvSpPr>
        <p:spPr>
          <a:xfrm>
            <a:off x="7994196" y="5445069"/>
            <a:ext cx="2484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Other requirements TBD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F53D51F-4934-3F44-A0DB-107183112E8B}"/>
              </a:ext>
            </a:extLst>
          </p:cNvPr>
          <p:cNvCxnSpPr>
            <a:cxnSpLocks/>
          </p:cNvCxnSpPr>
          <p:nvPr/>
        </p:nvCxnSpPr>
        <p:spPr>
          <a:xfrm>
            <a:off x="7200780" y="5818950"/>
            <a:ext cx="152890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1533372-1194-6B49-B810-EFC6DFD16C4F}"/>
              </a:ext>
            </a:extLst>
          </p:cNvPr>
          <p:cNvSpPr/>
          <p:nvPr/>
        </p:nvSpPr>
        <p:spPr>
          <a:xfrm>
            <a:off x="8729681" y="2537345"/>
            <a:ext cx="2743181" cy="494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patterns_IoMT.pl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E353229-5E63-D844-B562-CE79323ECCFB}"/>
              </a:ext>
            </a:extLst>
          </p:cNvPr>
          <p:cNvCxnSpPr>
            <a:cxnSpLocks/>
          </p:cNvCxnSpPr>
          <p:nvPr/>
        </p:nvCxnSpPr>
        <p:spPr>
          <a:xfrm>
            <a:off x="7200780" y="2794526"/>
            <a:ext cx="1528902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3F8E12B-3E5D-154A-A615-98DB34F50E54}"/>
              </a:ext>
            </a:extLst>
          </p:cNvPr>
          <p:cNvSpPr/>
          <p:nvPr/>
        </p:nvSpPr>
        <p:spPr>
          <a:xfrm>
            <a:off x="4969567" y="3712952"/>
            <a:ext cx="1926806" cy="956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ISO/TS 215</a:t>
            </a:r>
            <a:br>
              <a:rPr lang="en-GB" dirty="0"/>
            </a:br>
            <a:r>
              <a:rPr lang="en-GB" dirty="0"/>
              <a:t>81001-2-1 Assurance cases</a:t>
            </a: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050B08-839F-9E47-8B6F-F8A746275027}"/>
              </a:ext>
            </a:extLst>
          </p:cNvPr>
          <p:cNvSpPr/>
          <p:nvPr/>
        </p:nvSpPr>
        <p:spPr>
          <a:xfrm>
            <a:off x="4980859" y="4800600"/>
            <a:ext cx="1926806" cy="956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Vulnerabilities, Weaknesses, Attack Patterns</a:t>
            </a: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AC5CA3-16E1-B646-806A-1F52D993994F}"/>
              </a:ext>
            </a:extLst>
          </p:cNvPr>
          <p:cNvSpPr/>
          <p:nvPr/>
        </p:nvSpPr>
        <p:spPr>
          <a:xfrm>
            <a:off x="4934936" y="2625304"/>
            <a:ext cx="1926806" cy="9560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Risk</a:t>
            </a:r>
            <a:br>
              <a:rPr lang="en-GB" dirty="0"/>
            </a:br>
            <a:r>
              <a:rPr lang="en-GB" dirty="0"/>
              <a:t>Mitigation</a:t>
            </a:r>
            <a:br>
              <a:rPr lang="en-GB" dirty="0"/>
            </a:br>
            <a:r>
              <a:rPr lang="en-GB" dirty="0"/>
              <a:t>Strategies</a:t>
            </a:r>
            <a:endParaRPr lang="en-US" dirty="0"/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CF8BB4A0-77D9-434A-817E-FCFC8FE2A5E4}"/>
              </a:ext>
            </a:extLst>
          </p:cNvPr>
          <p:cNvCxnSpPr>
            <a:stCxn id="18" idx="1"/>
            <a:endCxn id="25" idx="1"/>
          </p:cNvCxnSpPr>
          <p:nvPr/>
        </p:nvCxnSpPr>
        <p:spPr>
          <a:xfrm rot="10800000">
            <a:off x="8729682" y="2784588"/>
            <a:ext cx="7917" cy="701970"/>
          </a:xfrm>
          <a:prstGeom prst="curvedConnector3">
            <a:avLst>
              <a:gd name="adj1" fmla="val 4996135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FB7A827-8C23-D84C-8254-D14AD85F32D9}"/>
              </a:ext>
            </a:extLst>
          </p:cNvPr>
          <p:cNvSpPr txBox="1"/>
          <p:nvPr/>
        </p:nvSpPr>
        <p:spPr>
          <a:xfrm>
            <a:off x="7138602" y="2880469"/>
            <a:ext cx="12592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Adapt MILS</a:t>
            </a:r>
            <a:br>
              <a:rPr lang="en-US" dirty="0"/>
            </a:br>
            <a:r>
              <a:rPr lang="en-US" dirty="0"/>
              <a:t>arch-based</a:t>
            </a:r>
          </a:p>
          <a:p>
            <a:pPr algn="r"/>
            <a:r>
              <a:rPr lang="en-US" dirty="0"/>
              <a:t>patterns</a:t>
            </a:r>
          </a:p>
        </p:txBody>
      </p:sp>
    </p:spTree>
    <p:extLst>
      <p:ext uri="{BB962C8B-B14F-4D97-AF65-F5344CB8AC3E}">
        <p14:creationId xmlns:p14="http://schemas.microsoft.com/office/powerpoint/2010/main" val="23050131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FC9C-74F4-9847-AFDF-643149992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O-ETB Knowledge Base (KB)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CB53B-1DF3-9642-A1C0-4384D9330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4966F-C913-0C45-A79D-B421E5CA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1D8D9-C54C-B54D-8A80-F4F5EE35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B78FE-90CB-E14C-A5D6-D879CD3E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4292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C9150A-9501-264C-8BB7-FE2C57F33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9634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KB contents are provided by the O-ETB developer, by the O-ETB user, and by evidential tool developers</a:t>
            </a:r>
          </a:p>
          <a:p>
            <a:pPr lvl="1"/>
            <a:r>
              <a:rPr lang="en-US" dirty="0"/>
              <a:t>The KB is </a:t>
            </a:r>
            <a:r>
              <a:rPr lang="en-US" i="1" dirty="0"/>
              <a:t>read</a:t>
            </a:r>
            <a:r>
              <a:rPr lang="en-US" dirty="0"/>
              <a:t> by the O-ETB, </a:t>
            </a:r>
            <a:r>
              <a:rPr lang="en-US" i="1" dirty="0"/>
              <a:t>not written</a:t>
            </a:r>
          </a:p>
          <a:p>
            <a:pPr lvl="1"/>
            <a:r>
              <a:rPr lang="en-US" dirty="0"/>
              <a:t>The KB determines what the O-ETB mechanism can do</a:t>
            </a:r>
          </a:p>
          <a:p>
            <a:r>
              <a:rPr lang="en-US" dirty="0"/>
              <a:t>Generally, the KB provides O-ETB with </a:t>
            </a:r>
            <a:r>
              <a:rPr lang="en-US" i="1" dirty="0"/>
              <a:t>knowledge</a:t>
            </a:r>
            <a:r>
              <a:rPr lang="en-US" dirty="0"/>
              <a:t> about:</a:t>
            </a:r>
          </a:p>
          <a:p>
            <a:pPr lvl="1"/>
            <a:r>
              <a:rPr lang="en-US" dirty="0"/>
              <a:t>Relevant details about the entity for which assurance is being gathered and organized (System/Component/Aspect MODELS) </a:t>
            </a:r>
          </a:p>
          <a:p>
            <a:pPr lvl="1"/>
            <a:r>
              <a:rPr lang="en-US" dirty="0"/>
              <a:t>PATTERNS – goals &amp; strategies involving methods and tools to utilize different kinds of evidence for assurance of various entities</a:t>
            </a:r>
          </a:p>
          <a:p>
            <a:r>
              <a:rPr lang="en-US" dirty="0"/>
              <a:t>The scope of the KB includes MODELS, PATTERNS, EVIDENCE categories, AGENTS and miscellaneous other facts and rules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9130A-555E-444A-A29C-B35D4AF25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D5A855-C121-B547-B6E8-B0F78610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C461E-FA6E-1845-AE19-1BCB4FF8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C07D0C4-9399-E54A-A963-6ADEA9239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KB</a:t>
            </a:r>
          </a:p>
        </p:txBody>
      </p:sp>
    </p:spTree>
    <p:extLst>
      <p:ext uri="{BB962C8B-B14F-4D97-AF65-F5344CB8AC3E}">
        <p14:creationId xmlns:p14="http://schemas.microsoft.com/office/powerpoint/2010/main" val="25866102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E2FA01-3ED6-E041-86B7-574444391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1506200" cy="5105400"/>
          </a:xfrm>
        </p:spPr>
        <p:txBody>
          <a:bodyPr>
            <a:normAutofit/>
          </a:bodyPr>
          <a:lstStyle/>
          <a:p>
            <a:r>
              <a:rPr lang="en-US" dirty="0"/>
              <a:t>Current aspects of the model of the system being assured include:</a:t>
            </a:r>
          </a:p>
          <a:p>
            <a:pPr lvl="1"/>
            <a:r>
              <a:rPr lang="en-US" dirty="0"/>
              <a:t>Architectural model – the components and the connections defining their composition, info flows</a:t>
            </a:r>
          </a:p>
          <a:p>
            <a:pPr lvl="1"/>
            <a:r>
              <a:rPr lang="en-US" dirty="0"/>
              <a:t>Configurations – specification of relevant and changeable system and platform options</a:t>
            </a:r>
          </a:p>
          <a:p>
            <a:pPr lvl="1"/>
            <a:r>
              <a:rPr lang="en-US" dirty="0"/>
              <a:t>Properties – behavior specifications of system and/or components</a:t>
            </a:r>
          </a:p>
          <a:p>
            <a:r>
              <a:rPr lang="en-US" dirty="0"/>
              <a:t>Information required by the AC argument patterns</a:t>
            </a:r>
          </a:p>
          <a:p>
            <a:pPr lvl="1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86C2D-AA40-8F40-85AA-127394658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C8B42-8B06-5649-90B1-F0F9DC89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0DE012-AF05-2F47-9101-A1F9F7AA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2CCCED-6447-CA47-AC50-4D59AD9B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MODELS (1) System &amp; Properties</a:t>
            </a:r>
          </a:p>
        </p:txBody>
      </p:sp>
    </p:spTree>
    <p:extLst>
      <p:ext uri="{BB962C8B-B14F-4D97-AF65-F5344CB8AC3E}">
        <p14:creationId xmlns:p14="http://schemas.microsoft.com/office/powerpoint/2010/main" val="7091113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E2FA01-3ED6-E041-86B7-574444391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1506200" cy="4800600"/>
          </a:xfrm>
        </p:spPr>
        <p:txBody>
          <a:bodyPr>
            <a:normAutofit/>
          </a:bodyPr>
          <a:lstStyle/>
          <a:p>
            <a:r>
              <a:rPr lang="en-US" dirty="0"/>
              <a:t>System model contents relevant to assurance strategies embodied in patterns</a:t>
            </a:r>
          </a:p>
          <a:p>
            <a:pPr lvl="1"/>
            <a:r>
              <a:rPr lang="en-US" dirty="0"/>
              <a:t>Currently: model(Policy, Platform, Configuration):</a:t>
            </a:r>
          </a:p>
          <a:p>
            <a:pPr lvl="1"/>
            <a:r>
              <a:rPr lang="en-US" dirty="0"/>
              <a:t>Policy enumerates components and their connections</a:t>
            </a:r>
          </a:p>
          <a:p>
            <a:pPr lvl="2"/>
            <a:r>
              <a:rPr lang="en-US" dirty="0"/>
              <a:t>Components are assumed to be isolated* except for connections</a:t>
            </a:r>
          </a:p>
          <a:p>
            <a:pPr lvl="1"/>
            <a:r>
              <a:rPr lang="en-US" dirty="0"/>
              <a:t>Platform enumerates the hardware nodes and network</a:t>
            </a:r>
          </a:p>
          <a:p>
            <a:pPr lvl="1"/>
            <a:r>
              <a:rPr lang="en-US" dirty="0"/>
              <a:t>Configuration contains any SW/Platform config options</a:t>
            </a:r>
          </a:p>
          <a:p>
            <a:pPr lvl="1"/>
            <a:r>
              <a:rPr lang="en-US" dirty="0"/>
              <a:t>Model is stored in KB as </a:t>
            </a:r>
            <a:r>
              <a:rPr lang="en-US" dirty="0" err="1"/>
              <a:t>model_spec</a:t>
            </a:r>
            <a:r>
              <a:rPr lang="en-US" dirty="0"/>
              <a:t>( model(…) )</a:t>
            </a:r>
          </a:p>
          <a:p>
            <a:pPr lvl="1"/>
            <a:r>
              <a:rPr lang="en-US" dirty="0"/>
              <a:t>Properties are LTL formulas to be established for a model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86C2D-AA40-8F40-85AA-127394658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C8B42-8B06-5649-90B1-F0F9DC89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0DE012-AF05-2F47-9101-A1F9F7AA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2CCCED-6447-CA47-AC50-4D59AD9B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MODELS (2) System &amp; Properties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21D82-0346-B849-BF06-608619706058}"/>
              </a:ext>
            </a:extLst>
          </p:cNvPr>
          <p:cNvSpPr txBox="1"/>
          <p:nvPr/>
        </p:nvSpPr>
        <p:spPr>
          <a:xfrm>
            <a:off x="10083812" y="6247666"/>
            <a:ext cx="1775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 non-interfering</a:t>
            </a:r>
          </a:p>
        </p:txBody>
      </p:sp>
    </p:spTree>
    <p:extLst>
      <p:ext uri="{BB962C8B-B14F-4D97-AF65-F5344CB8AC3E}">
        <p14:creationId xmlns:p14="http://schemas.microsoft.com/office/powerpoint/2010/main" val="3637654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938AFA-89CE-324B-B05E-3FA48B493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Details about the configuration of the platform layer that underlies the application layer of the system</a:t>
            </a:r>
          </a:p>
          <a:p>
            <a:r>
              <a:rPr lang="en-US" dirty="0"/>
              <a:t>Information that shows that the execution environment provided to the software architecture:</a:t>
            </a:r>
          </a:p>
          <a:p>
            <a:pPr lvl="1"/>
            <a:r>
              <a:rPr lang="en-US" dirty="0"/>
              <a:t>Satisfies the assumptions of the software architecture</a:t>
            </a:r>
          </a:p>
          <a:p>
            <a:pPr lvl="1"/>
            <a:r>
              <a:rPr lang="en-US" dirty="0"/>
              <a:t>Provides the needed functionality and performance to enable the software architecture to deliver fulfill its functional and non-functional requirements</a:t>
            </a:r>
          </a:p>
          <a:p>
            <a:pPr lvl="1"/>
            <a:r>
              <a:rPr lang="en-US" dirty="0"/>
              <a:t>Sufficient information about hardware resources to make sound capacity/performance predictions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9A57BB-C17C-A545-99E8-210FF846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467FC-0A49-7947-AD3F-B0ED5F33A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095C8F-7DCF-D142-B7E0-56A6C00C8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DDB3A7-1BE4-5F4F-BE1A-F769D6AD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MODELS (3) Platform</a:t>
            </a:r>
          </a:p>
        </p:txBody>
      </p:sp>
    </p:spTree>
    <p:extLst>
      <p:ext uri="{BB962C8B-B14F-4D97-AF65-F5344CB8AC3E}">
        <p14:creationId xmlns:p14="http://schemas.microsoft.com/office/powerpoint/2010/main" val="32005183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E2FA01-3ED6-E041-86B7-574444391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7239000" cy="5105400"/>
          </a:xfrm>
        </p:spPr>
        <p:txBody>
          <a:bodyPr>
            <a:normAutofit/>
          </a:bodyPr>
          <a:lstStyle/>
          <a:p>
            <a:r>
              <a:rPr lang="en-US" sz="2800" dirty="0"/>
              <a:t>Platform specification grammar </a:t>
            </a:r>
            <a:r>
              <a:rPr lang="en-US" sz="2800" dirty="0">
                <a:sym typeface="Wingdings" pitchFamily="2" charset="2"/>
              </a:rPr>
              <a:t></a:t>
            </a:r>
            <a:endParaRPr lang="en-US" sz="2800" dirty="0"/>
          </a:p>
          <a:p>
            <a:r>
              <a:rPr lang="en-US" sz="2800" dirty="0"/>
              <a:t>Platform spec may be needed when assuring performance attributes or distributed </a:t>
            </a:r>
            <a:r>
              <a:rPr lang="en-US" sz="2800" dirty="0" err="1"/>
              <a:t>behaviour</a:t>
            </a:r>
            <a:endParaRPr lang="en-US" sz="2800" dirty="0"/>
          </a:p>
          <a:p>
            <a:r>
              <a:rPr lang="en-US" sz="2800" dirty="0"/>
              <a:t>This format may be extended to provide information needed by new AC argument patterns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86C2D-AA40-8F40-85AA-127394658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C8B42-8B06-5649-90B1-F0F9DC89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0DE012-AF05-2F47-9101-A1F9F7AA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2CCCED-6447-CA47-AC50-4D59AD9B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MODELS (4) Platform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96535-43B6-F34B-8D65-57C57F47DB2C}"/>
              </a:ext>
            </a:extLst>
          </p:cNvPr>
          <p:cNvSpPr txBox="1"/>
          <p:nvPr/>
        </p:nvSpPr>
        <p:spPr>
          <a:xfrm>
            <a:off x="7721600" y="1066800"/>
            <a:ext cx="4506362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&lt;platform specification&gt; ::=</a:t>
            </a:r>
          </a:p>
          <a:p>
            <a:r>
              <a:rPr lang="en-US" sz="1050" dirty="0"/>
              <a:t>    platform( &lt;platform id&gt;, &lt;nodes&gt;, &lt;switches&gt;, &lt;physical links&gt;, &lt;plat </a:t>
            </a:r>
            <a:r>
              <a:rPr lang="en-US" sz="1050" dirty="0" err="1"/>
              <a:t>attrs</a:t>
            </a:r>
            <a:r>
              <a:rPr lang="en-US" sz="1050" dirty="0"/>
              <a:t>&gt; ).</a:t>
            </a:r>
          </a:p>
          <a:p>
            <a:endParaRPr lang="en-US" sz="1050" dirty="0"/>
          </a:p>
          <a:p>
            <a:r>
              <a:rPr lang="en-US" sz="1050" dirty="0"/>
              <a:t>    &lt;nodes&gt;  ::=  [ ]  |  [ &lt;node&gt; { ,  &lt;node&gt; }</a:t>
            </a:r>
            <a:r>
              <a:rPr lang="en-US" sz="1050" baseline="30000" dirty="0"/>
              <a:t>*</a:t>
            </a:r>
            <a:r>
              <a:rPr lang="en-US" sz="1050" dirty="0"/>
              <a:t> ]</a:t>
            </a:r>
          </a:p>
          <a:p>
            <a:endParaRPr lang="en-US" sz="1050" dirty="0"/>
          </a:p>
          <a:p>
            <a:r>
              <a:rPr lang="en-US" sz="1050" dirty="0"/>
              <a:t>       &lt;node&gt;  ::=  node( &lt;node id&gt; , &lt;memories&gt; , &lt;processors&gt; ,</a:t>
            </a:r>
          </a:p>
          <a:p>
            <a:r>
              <a:rPr lang="en-US" sz="1050" dirty="0"/>
              <a:t>                          &lt;devices&gt; , &lt;node ports&gt; , &lt;node </a:t>
            </a:r>
            <a:r>
              <a:rPr lang="en-US" sz="1050" dirty="0" err="1"/>
              <a:t>attrs</a:t>
            </a:r>
            <a:r>
              <a:rPr lang="en-US" sz="1050" dirty="0"/>
              <a:t>&gt; )</a:t>
            </a:r>
          </a:p>
          <a:p>
            <a:endParaRPr lang="en-US" sz="1050" dirty="0"/>
          </a:p>
          <a:p>
            <a:r>
              <a:rPr lang="en-US" sz="1050" dirty="0"/>
              <a:t>            &lt;memories&gt;  ::= [ ]  |  [ &lt;memory&gt; { ,  &lt;memory&gt; }</a:t>
            </a:r>
            <a:r>
              <a:rPr lang="en-US" sz="1050" baseline="30000" dirty="0"/>
              <a:t>*</a:t>
            </a:r>
            <a:r>
              <a:rPr lang="en-US" sz="1050" dirty="0"/>
              <a:t> ]</a:t>
            </a:r>
          </a:p>
          <a:p>
            <a:r>
              <a:rPr lang="en-US" sz="1050" dirty="0"/>
              <a:t>            &lt;processors&gt;  ::=  [ ]  |  [ &lt;processor&gt; { ,  &lt; processor&gt; }</a:t>
            </a:r>
            <a:r>
              <a:rPr lang="en-US" sz="1050" baseline="30000" dirty="0"/>
              <a:t>*</a:t>
            </a:r>
            <a:r>
              <a:rPr lang="en-US" sz="1050" dirty="0"/>
              <a:t> ]</a:t>
            </a:r>
          </a:p>
          <a:p>
            <a:r>
              <a:rPr lang="en-US" sz="1050" dirty="0"/>
              <a:t>            &lt;devices&gt;  ::=  [ ]  |  [ &lt;device&gt; { ,  &lt;device&gt; }</a:t>
            </a:r>
            <a:r>
              <a:rPr lang="en-US" sz="1050" baseline="30000" dirty="0"/>
              <a:t>*</a:t>
            </a:r>
            <a:r>
              <a:rPr lang="en-US" sz="1050" dirty="0"/>
              <a:t> ]</a:t>
            </a:r>
          </a:p>
          <a:p>
            <a:r>
              <a:rPr lang="en-US" sz="1050" dirty="0"/>
              <a:t>            &lt;node ports&gt;  ::=  [ ]  |  [ &lt;node port&gt; { ,  &lt;node port&gt; }</a:t>
            </a:r>
            <a:r>
              <a:rPr lang="en-US" sz="1050" baseline="30000" dirty="0"/>
              <a:t>*</a:t>
            </a:r>
            <a:r>
              <a:rPr lang="en-US" sz="1050" dirty="0"/>
              <a:t> ]</a:t>
            </a:r>
          </a:p>
          <a:p>
            <a:r>
              <a:rPr lang="en-US" sz="1050" dirty="0"/>
              <a:t>            &lt;node </a:t>
            </a:r>
            <a:r>
              <a:rPr lang="en-US" sz="1050" dirty="0" err="1"/>
              <a:t>attrs</a:t>
            </a:r>
            <a:r>
              <a:rPr lang="en-US" sz="1050" dirty="0"/>
              <a:t>&gt;  ::=  </a:t>
            </a:r>
          </a:p>
          <a:p>
            <a:endParaRPr lang="en-US" sz="1050" dirty="0"/>
          </a:p>
          <a:p>
            <a:r>
              <a:rPr lang="en-US" sz="1050" dirty="0"/>
              <a:t>                &lt;memory&gt;  ::=  memory( &lt;memory id&gt;, &lt;mem </a:t>
            </a:r>
            <a:r>
              <a:rPr lang="en-US" sz="1050" dirty="0" err="1"/>
              <a:t>attrs</a:t>
            </a:r>
            <a:r>
              <a:rPr lang="en-US" sz="1050" dirty="0"/>
              <a:t>&gt; )</a:t>
            </a:r>
          </a:p>
          <a:p>
            <a:r>
              <a:rPr lang="en-US" sz="1050" dirty="0"/>
              <a:t>                    &lt;mem </a:t>
            </a:r>
            <a:r>
              <a:rPr lang="en-US" sz="1050" dirty="0" err="1"/>
              <a:t>attr</a:t>
            </a:r>
            <a:r>
              <a:rPr lang="en-US" sz="1050" dirty="0"/>
              <a:t>&gt;  ::=  </a:t>
            </a:r>
          </a:p>
          <a:p>
            <a:r>
              <a:rPr lang="en-US" sz="1050" dirty="0"/>
              <a:t>                &lt;processor&gt;  ::=  processor(&lt;processor id&gt;, &lt;proc </a:t>
            </a:r>
            <a:r>
              <a:rPr lang="en-US" sz="1050" dirty="0" err="1"/>
              <a:t>attrs</a:t>
            </a:r>
            <a:r>
              <a:rPr lang="en-US" sz="1050" dirty="0"/>
              <a:t>&gt; )</a:t>
            </a:r>
          </a:p>
          <a:p>
            <a:r>
              <a:rPr lang="en-US" sz="1050" dirty="0"/>
              <a:t>                &lt;device&gt;  ::=  device( &lt;device id&gt;, &lt;dev ports&gt;, &lt;dev </a:t>
            </a:r>
            <a:r>
              <a:rPr lang="en-US" sz="1050" dirty="0" err="1"/>
              <a:t>attrs</a:t>
            </a:r>
            <a:r>
              <a:rPr lang="en-US" sz="1050" dirty="0"/>
              <a:t>&gt; )</a:t>
            </a:r>
          </a:p>
          <a:p>
            <a:r>
              <a:rPr lang="en-US" sz="1050" dirty="0"/>
              <a:t>                &lt;node port&gt;  ::=  port( &lt;port id&gt;, &lt;port </a:t>
            </a:r>
            <a:r>
              <a:rPr lang="en-US" sz="1050" dirty="0" err="1"/>
              <a:t>attrs</a:t>
            </a:r>
            <a:r>
              <a:rPr lang="en-US" sz="1050" dirty="0"/>
              <a:t>&gt; )</a:t>
            </a:r>
          </a:p>
          <a:p>
            <a:r>
              <a:rPr lang="en-US" sz="1050" dirty="0"/>
              <a:t>                &lt;node </a:t>
            </a:r>
            <a:r>
              <a:rPr lang="en-US" sz="1050" dirty="0" err="1"/>
              <a:t>attr</a:t>
            </a:r>
            <a:r>
              <a:rPr lang="en-US" sz="1050" dirty="0"/>
              <a:t>&gt;  ::=  </a:t>
            </a:r>
          </a:p>
          <a:p>
            <a:endParaRPr lang="en-US" sz="1050" dirty="0"/>
          </a:p>
          <a:p>
            <a:r>
              <a:rPr lang="en-US" sz="1050" dirty="0"/>
              <a:t>    &lt;switches&gt;  ::=  [ ]  |  [ &lt;switch&gt; { ,  &lt;switch&gt; }</a:t>
            </a:r>
            <a:r>
              <a:rPr lang="en-US" sz="1050" baseline="30000" dirty="0"/>
              <a:t>*</a:t>
            </a:r>
            <a:r>
              <a:rPr lang="en-US" sz="1050" dirty="0"/>
              <a:t> ]</a:t>
            </a:r>
          </a:p>
          <a:p>
            <a:endParaRPr lang="en-US" sz="1050" dirty="0"/>
          </a:p>
          <a:p>
            <a:r>
              <a:rPr lang="en-US" sz="1050" dirty="0"/>
              <a:t>        &lt;switch&gt;  ::=  switch( &lt;switch id&gt; , &lt;</a:t>
            </a:r>
            <a:r>
              <a:rPr lang="en-US" sz="1050" dirty="0" err="1"/>
              <a:t>sw</a:t>
            </a:r>
            <a:r>
              <a:rPr lang="en-US" sz="1050" dirty="0"/>
              <a:t> ports&gt; , &lt;</a:t>
            </a:r>
            <a:r>
              <a:rPr lang="en-US" sz="1050" dirty="0" err="1"/>
              <a:t>sw</a:t>
            </a:r>
            <a:r>
              <a:rPr lang="en-US" sz="1050" dirty="0"/>
              <a:t> </a:t>
            </a:r>
            <a:r>
              <a:rPr lang="en-US" sz="1050" dirty="0" err="1"/>
              <a:t>attrs</a:t>
            </a:r>
            <a:r>
              <a:rPr lang="en-US" sz="1050" dirty="0"/>
              <a:t>&gt; )</a:t>
            </a:r>
          </a:p>
          <a:p>
            <a:endParaRPr lang="en-US" sz="1050" dirty="0"/>
          </a:p>
          <a:p>
            <a:r>
              <a:rPr lang="en-US" sz="1050" dirty="0"/>
              <a:t>            &lt;</a:t>
            </a:r>
            <a:r>
              <a:rPr lang="en-US" sz="1050" dirty="0" err="1"/>
              <a:t>sw</a:t>
            </a:r>
            <a:r>
              <a:rPr lang="en-US" sz="1050" dirty="0"/>
              <a:t> ports&gt;  ::=  [ ]  |  [ &lt;</a:t>
            </a:r>
            <a:r>
              <a:rPr lang="en-US" sz="1050" dirty="0" err="1"/>
              <a:t>sw</a:t>
            </a:r>
            <a:r>
              <a:rPr lang="en-US" sz="1050" dirty="0"/>
              <a:t> port&gt; { ,  &lt;</a:t>
            </a:r>
            <a:r>
              <a:rPr lang="en-US" sz="1050" dirty="0" err="1"/>
              <a:t>sw</a:t>
            </a:r>
            <a:r>
              <a:rPr lang="en-US" sz="1050" dirty="0"/>
              <a:t> port&gt; }</a:t>
            </a:r>
            <a:r>
              <a:rPr lang="en-US" sz="1050" baseline="30000" dirty="0"/>
              <a:t>*</a:t>
            </a:r>
            <a:r>
              <a:rPr lang="en-US" sz="1050" dirty="0"/>
              <a:t> ]</a:t>
            </a:r>
          </a:p>
          <a:p>
            <a:endParaRPr lang="en-US" sz="1050" dirty="0"/>
          </a:p>
          <a:p>
            <a:r>
              <a:rPr lang="en-US" sz="1050" dirty="0"/>
              <a:t>                &lt;</a:t>
            </a:r>
            <a:r>
              <a:rPr lang="en-US" sz="1050" dirty="0" err="1"/>
              <a:t>sw</a:t>
            </a:r>
            <a:r>
              <a:rPr lang="en-US" sz="1050" dirty="0"/>
              <a:t> port&gt;  ::=  port( &lt;port id&gt;, &lt;port </a:t>
            </a:r>
            <a:r>
              <a:rPr lang="en-US" sz="1050" dirty="0" err="1"/>
              <a:t>attrs</a:t>
            </a:r>
            <a:r>
              <a:rPr lang="en-US" sz="1050" dirty="0"/>
              <a:t>&gt; )</a:t>
            </a:r>
          </a:p>
          <a:p>
            <a:endParaRPr lang="en-US" sz="1050" dirty="0"/>
          </a:p>
          <a:p>
            <a:r>
              <a:rPr lang="en-US" sz="1050" dirty="0"/>
              <a:t>    &lt;physical links&gt;  ::=  [ &lt;</a:t>
            </a:r>
            <a:r>
              <a:rPr lang="en-US" sz="1050" dirty="0" err="1"/>
              <a:t>phylink</a:t>
            </a:r>
            <a:r>
              <a:rPr lang="en-US" sz="1050" dirty="0"/>
              <a:t>&gt; { ,  &lt;</a:t>
            </a:r>
            <a:r>
              <a:rPr lang="en-US" sz="1050" dirty="0" err="1"/>
              <a:t>phylink</a:t>
            </a:r>
            <a:r>
              <a:rPr lang="en-US" sz="1050" dirty="0"/>
              <a:t>&gt; }</a:t>
            </a:r>
            <a:r>
              <a:rPr lang="en-US" sz="1050" baseline="30000" dirty="0"/>
              <a:t>*</a:t>
            </a:r>
            <a:r>
              <a:rPr lang="en-US" sz="1050" dirty="0"/>
              <a:t> ]</a:t>
            </a:r>
          </a:p>
          <a:p>
            <a:endParaRPr lang="en-US" sz="1050" dirty="0"/>
          </a:p>
          <a:p>
            <a:r>
              <a:rPr lang="en-US" sz="1050" dirty="0"/>
              <a:t>    &lt;plat </a:t>
            </a:r>
            <a:r>
              <a:rPr lang="en-US" sz="1050" dirty="0" err="1"/>
              <a:t>attrs</a:t>
            </a:r>
            <a:r>
              <a:rPr lang="en-US" sz="1050" dirty="0"/>
              <a:t>&gt;  ::=  [ &lt;plat </a:t>
            </a:r>
            <a:r>
              <a:rPr lang="en-US" sz="1050" dirty="0" err="1"/>
              <a:t>attr</a:t>
            </a:r>
            <a:r>
              <a:rPr lang="en-US" sz="1050" dirty="0"/>
              <a:t>&gt; { ,  &lt;plat </a:t>
            </a:r>
            <a:r>
              <a:rPr lang="en-US" sz="1050" dirty="0" err="1"/>
              <a:t>attr</a:t>
            </a:r>
            <a:r>
              <a:rPr lang="en-US" sz="1050" dirty="0"/>
              <a:t>&gt; }</a:t>
            </a:r>
            <a:r>
              <a:rPr lang="en-US" sz="1050" baseline="30000" dirty="0"/>
              <a:t>*</a:t>
            </a:r>
            <a:r>
              <a:rPr lang="en-US" sz="1050" dirty="0"/>
              <a:t> ]</a:t>
            </a:r>
          </a:p>
          <a:p>
            <a:endParaRPr lang="en-US" sz="1050" dirty="0"/>
          </a:p>
          <a:p>
            <a:r>
              <a:rPr lang="en-US" sz="1050" dirty="0"/>
              <a:t>    &lt;plat </a:t>
            </a:r>
            <a:r>
              <a:rPr lang="en-US" sz="1050" dirty="0" err="1"/>
              <a:t>attr</a:t>
            </a:r>
            <a:r>
              <a:rPr lang="en-US" sz="1050" dirty="0"/>
              <a:t>&gt;  ::=  </a:t>
            </a:r>
            <a:r>
              <a:rPr lang="en-US" sz="1050" dirty="0" err="1"/>
              <a:t>specfilename</a:t>
            </a:r>
            <a:r>
              <a:rPr lang="en-US" sz="1050" dirty="0"/>
              <a:t>( &lt;file identifier&gt; )  |  </a:t>
            </a:r>
          </a:p>
          <a:p>
            <a:endParaRPr lang="en-US" sz="1050" dirty="0"/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4562990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E2FA01-3ED6-E041-86B7-574444391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7239000" cy="5105400"/>
          </a:xfrm>
        </p:spPr>
        <p:txBody>
          <a:bodyPr>
            <a:normAutofit/>
          </a:bodyPr>
          <a:lstStyle/>
          <a:p>
            <a:r>
              <a:rPr lang="en-US" sz="2800" dirty="0"/>
              <a:t>Constraints on </a:t>
            </a:r>
            <a:r>
              <a:rPr lang="en-US" sz="2800" dirty="0" err="1"/>
              <a:t>behaviour</a:t>
            </a:r>
            <a:r>
              <a:rPr lang="en-US" sz="2800" dirty="0"/>
              <a:t> of entities or interactions among entities</a:t>
            </a:r>
          </a:p>
          <a:p>
            <a:pPr marL="0" indent="0">
              <a:buNone/>
            </a:pPr>
            <a:r>
              <a:rPr lang="en-US" sz="2800" dirty="0"/>
              <a:t>	(process/subject, object, flows)</a:t>
            </a:r>
          </a:p>
          <a:p>
            <a:r>
              <a:rPr lang="en-US" sz="2800" dirty="0"/>
              <a:t>Example policy shown here </a:t>
            </a:r>
            <a:r>
              <a:rPr lang="en-US" sz="2800" dirty="0">
                <a:sym typeface="Wingdings" pitchFamily="2" charset="2"/>
              </a:rPr>
              <a:t></a:t>
            </a:r>
            <a:endParaRPr lang="en-US" sz="2800" dirty="0"/>
          </a:p>
          <a:p>
            <a:r>
              <a:rPr lang="en-US" sz="2800" dirty="0"/>
              <a:t>Policy is an information flow view of the architecture as processes and flows between processes or between a process and a passive object</a:t>
            </a:r>
          </a:p>
          <a:p>
            <a:r>
              <a:rPr lang="en-US" sz="2800" dirty="0"/>
              <a:t>Policy specification grammar </a:t>
            </a:r>
            <a:r>
              <a:rPr lang="en-US" sz="2800" dirty="0">
                <a:sym typeface="Wingdings" pitchFamily="2" charset="2"/>
              </a:rPr>
              <a:t></a:t>
            </a:r>
            <a:br>
              <a:rPr lang="en-US" sz="2800" dirty="0">
                <a:sym typeface="Wingdings" pitchFamily="2" charset="2"/>
              </a:rPr>
            </a:br>
            <a:r>
              <a:rPr lang="en-US" sz="2800" dirty="0">
                <a:sym typeface="Wingdings" pitchFamily="2" charset="2"/>
              </a:rPr>
              <a:t>(partial)</a:t>
            </a:r>
            <a:endParaRPr lang="en-US" sz="2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886C2D-AA40-8F40-85AA-127394658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C8B42-8B06-5649-90B1-F0F9DC891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0DE012-AF05-2F47-9101-A1F9F7AA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12CCCED-6447-CA47-AC50-4D59AD9B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MODELS (5) Arch (policy)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42368A-78A8-BF47-B448-CDE0EA1AA214}"/>
              </a:ext>
            </a:extLst>
          </p:cNvPr>
          <p:cNvSpPr txBox="1"/>
          <p:nvPr/>
        </p:nvSpPr>
        <p:spPr>
          <a:xfrm>
            <a:off x="7765329" y="305068"/>
            <a:ext cx="3865161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policy(iomt_spec1,</a:t>
            </a:r>
          </a:p>
          <a:p>
            <a:r>
              <a:rPr lang="en-US" sz="1000" dirty="0"/>
              <a:t>       [process('P1',</a:t>
            </a:r>
          </a:p>
          <a:p>
            <a:r>
              <a:rPr lang="en-US" sz="1000" dirty="0"/>
              <a:t>                [port(p, [], [])],</a:t>
            </a:r>
          </a:p>
          <a:p>
            <a:r>
              <a:rPr lang="en-US" sz="1000" dirty="0"/>
              <a:t>                [],</a:t>
            </a:r>
          </a:p>
          <a:p>
            <a:r>
              <a:rPr lang="en-US" sz="1000" dirty="0"/>
              <a:t>                [processor(x, [family(</a:t>
            </a:r>
            <a:r>
              <a:rPr lang="en-US" sz="1000" dirty="0" err="1"/>
              <a:t>cpu</a:t>
            </a:r>
            <a:r>
              <a:rPr lang="en-US" sz="1000" dirty="0"/>
              <a:t>), frequency('2GHz'), schedule(70)]),</a:t>
            </a:r>
          </a:p>
          <a:p>
            <a:r>
              <a:rPr lang="en-US" sz="1000" dirty="0"/>
              <a:t>                 memory(z, [family(ram), size(1)])]),</a:t>
            </a:r>
          </a:p>
          <a:p>
            <a:r>
              <a:rPr lang="en-US" sz="1000" dirty="0"/>
              <a:t>        process('P2',</a:t>
            </a:r>
          </a:p>
          <a:p>
            <a:r>
              <a:rPr lang="en-US" sz="1000" dirty="0"/>
              <a:t>                [port(p, [], [])],</a:t>
            </a:r>
          </a:p>
          <a:p>
            <a:r>
              <a:rPr lang="en-US" sz="1000" dirty="0"/>
              <a:t>                [],</a:t>
            </a:r>
          </a:p>
          <a:p>
            <a:r>
              <a:rPr lang="en-US" sz="1000" dirty="0"/>
              <a:t>                [processor(x, [family(</a:t>
            </a:r>
            <a:r>
              <a:rPr lang="en-US" sz="1000" dirty="0" err="1"/>
              <a:t>cpu</a:t>
            </a:r>
            <a:r>
              <a:rPr lang="en-US" sz="1000" dirty="0"/>
              <a:t>), frequency('2GHz'), schedule(80)]),</a:t>
            </a:r>
          </a:p>
          <a:p>
            <a:r>
              <a:rPr lang="en-US" sz="1000" dirty="0"/>
              <a:t>                 memory(z, [family(ram), size(5)])])],</a:t>
            </a:r>
          </a:p>
          <a:p>
            <a:r>
              <a:rPr lang="en-US" sz="1000" dirty="0"/>
              <a:t>       [object(o1,</a:t>
            </a:r>
          </a:p>
          <a:p>
            <a:r>
              <a:rPr lang="en-US" sz="1000" dirty="0"/>
              <a:t>               [],</a:t>
            </a:r>
          </a:p>
          <a:p>
            <a:r>
              <a:rPr lang="en-US" sz="1000" dirty="0"/>
              <a:t>               [memory(u, [family(ram), size(3)])]),</a:t>
            </a:r>
          </a:p>
          <a:p>
            <a:r>
              <a:rPr lang="en-US" sz="1000" dirty="0"/>
              <a:t>        object(o2,</a:t>
            </a:r>
          </a:p>
          <a:p>
            <a:r>
              <a:rPr lang="en-US" sz="1000" dirty="0"/>
              <a:t>               [],</a:t>
            </a:r>
          </a:p>
          <a:p>
            <a:r>
              <a:rPr lang="en-US" sz="1000" dirty="0"/>
              <a:t>               [memory(u, [family(ram), size(6)])])],</a:t>
            </a:r>
          </a:p>
          <a:p>
            <a:r>
              <a:rPr lang="en-US" sz="1000" dirty="0"/>
              <a:t>       </a:t>
            </a:r>
          </a:p>
          <a:p>
            <a:r>
              <a:rPr lang="en-US" sz="1000" dirty="0"/>
              <a:t>       [</a:t>
            </a:r>
            <a:r>
              <a:rPr lang="en-US" sz="1000" dirty="0" err="1"/>
              <a:t>ipc_flow</a:t>
            </a:r>
            <a:r>
              <a:rPr lang="en-US" sz="1000" dirty="0"/>
              <a:t>(p1p2, ['P1', p], ['P2', p], [], [])],</a:t>
            </a:r>
          </a:p>
          <a:p>
            <a:r>
              <a:rPr lang="en-US" sz="1000" dirty="0"/>
              <a:t>       </a:t>
            </a:r>
          </a:p>
          <a:p>
            <a:r>
              <a:rPr lang="en-US" sz="1000" dirty="0"/>
              <a:t>       [</a:t>
            </a:r>
            <a:r>
              <a:rPr lang="en-US" sz="1000" dirty="0" err="1"/>
              <a:t>po_flow</a:t>
            </a:r>
            <a:r>
              <a:rPr lang="en-US" sz="1000" dirty="0"/>
              <a:t>(p1o1, 'P1', o1, [], []),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po_flow</a:t>
            </a:r>
            <a:r>
              <a:rPr lang="en-US" sz="1000" dirty="0"/>
              <a:t>(p2o2, 'P2', o2, [], [])],</a:t>
            </a:r>
          </a:p>
          <a:p>
            <a:r>
              <a:rPr lang="en-US" sz="1000" dirty="0"/>
              <a:t>       </a:t>
            </a:r>
          </a:p>
          <a:p>
            <a:r>
              <a:rPr lang="en-US" sz="1000" dirty="0"/>
              <a:t>       [</a:t>
            </a:r>
            <a:r>
              <a:rPr lang="en-US" sz="1000" dirty="0" err="1"/>
              <a:t>specfilename</a:t>
            </a:r>
            <a:r>
              <a:rPr lang="en-US" sz="1000" dirty="0"/>
              <a:t>('</a:t>
            </a:r>
            <a:r>
              <a:rPr lang="en-US" sz="1000" dirty="0" err="1"/>
              <a:t>x.spec</a:t>
            </a:r>
            <a:r>
              <a:rPr lang="en-US" sz="1000" dirty="0"/>
              <a:t>')],</a:t>
            </a:r>
          </a:p>
          <a:p>
            <a:r>
              <a:rPr lang="en-US" sz="1000" dirty="0"/>
              <a:t>       </a:t>
            </a:r>
          </a:p>
          <a:p>
            <a:r>
              <a:rPr lang="en-US" sz="1000" dirty="0"/>
              <a:t>       [deployment(</a:t>
            </a:r>
            <a:r>
              <a:rPr lang="en-US" sz="1000" dirty="0" err="1"/>
              <a:t>not_same</a:t>
            </a:r>
            <a:r>
              <a:rPr lang="en-US" sz="1000" dirty="0"/>
              <a:t>(['P1', 'P2']))</a:t>
            </a:r>
          </a:p>
          <a:p>
            <a:r>
              <a:rPr lang="en-US" sz="1000" dirty="0"/>
              <a:t>       ]).</a:t>
            </a:r>
          </a:p>
          <a:p>
            <a:r>
              <a:rPr lang="en-US" sz="1000" dirty="0"/>
              <a:t>------------------------------------------------------------------------------------------------</a:t>
            </a:r>
          </a:p>
          <a:p>
            <a:r>
              <a:rPr lang="en-US" sz="1000" dirty="0"/>
              <a:t>&lt;policy specification&gt;  ::=</a:t>
            </a:r>
          </a:p>
          <a:p>
            <a:r>
              <a:rPr lang="en-US" sz="1000" dirty="0"/>
              <a:t>    policy( &lt;policy id&gt;, &lt;processes&gt;, &lt;objects&gt;, &lt;</a:t>
            </a:r>
            <a:r>
              <a:rPr lang="en-US" sz="1000" dirty="0" err="1"/>
              <a:t>ipc_flows</a:t>
            </a:r>
            <a:r>
              <a:rPr lang="en-US" sz="1000" dirty="0"/>
              <a:t>&gt;, &lt;po flows&gt;, </a:t>
            </a:r>
          </a:p>
          <a:p>
            <a:r>
              <a:rPr lang="en-US" sz="1000" dirty="0"/>
              <a:t>        &lt;attributes&gt;, &lt;constraints&gt; )</a:t>
            </a:r>
          </a:p>
          <a:p>
            <a:endParaRPr lang="en-US" sz="1000" dirty="0"/>
          </a:p>
          <a:p>
            <a:r>
              <a:rPr lang="en-US" sz="1000" dirty="0"/>
              <a:t>    &lt;processes&gt;  ::= [ &lt;process&gt; … ]</a:t>
            </a:r>
          </a:p>
          <a:p>
            <a:endParaRPr lang="en-US" sz="1000" dirty="0"/>
          </a:p>
          <a:p>
            <a:r>
              <a:rPr lang="en-US" sz="1000" dirty="0"/>
              <a:t>        &lt;process&gt;  ::= process( &lt;process id&gt;, &lt;process ports&gt;,</a:t>
            </a:r>
          </a:p>
          <a:p>
            <a:r>
              <a:rPr lang="en-US" sz="1000" dirty="0"/>
              <a:t>            	&lt;process </a:t>
            </a:r>
            <a:r>
              <a:rPr lang="en-US" sz="1000" dirty="0" err="1"/>
              <a:t>attrs</a:t>
            </a:r>
            <a:r>
              <a:rPr lang="en-US" sz="1000" dirty="0"/>
              <a:t>&gt;, &lt;process constraints&gt; )</a:t>
            </a:r>
          </a:p>
          <a:p>
            <a:endParaRPr lang="en-US" sz="1000" dirty="0"/>
          </a:p>
          <a:p>
            <a:r>
              <a:rPr lang="en-US" sz="1000" dirty="0"/>
              <a:t>            &lt; process port&gt;  ::=</a:t>
            </a:r>
          </a:p>
          <a:p>
            <a:r>
              <a:rPr lang="en-US" sz="1000" dirty="0"/>
              <a:t>            &lt; process </a:t>
            </a:r>
            <a:r>
              <a:rPr lang="en-US" sz="1000" dirty="0" err="1"/>
              <a:t>attr</a:t>
            </a:r>
            <a:r>
              <a:rPr lang="en-US" sz="1000" dirty="0"/>
              <a:t>&gt;  ::=</a:t>
            </a:r>
          </a:p>
          <a:p>
            <a:r>
              <a:rPr lang="en-US" sz="1000" dirty="0"/>
              <a:t>            &lt; process constraint&gt;  ::=</a:t>
            </a:r>
          </a:p>
        </p:txBody>
      </p:sp>
    </p:spTree>
    <p:extLst>
      <p:ext uri="{BB962C8B-B14F-4D97-AF65-F5344CB8AC3E}">
        <p14:creationId xmlns:p14="http://schemas.microsoft.com/office/powerpoint/2010/main" val="6106361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938AFA-89CE-324B-B05E-3FA48B4933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Details about the configuration of the system or the platform that are relevant to the assurance argument</a:t>
            </a:r>
          </a:p>
          <a:p>
            <a:pPr lvl="1"/>
            <a:r>
              <a:rPr lang="en-US" dirty="0"/>
              <a:t>E.g. selection of configuration options, modes, etc.</a:t>
            </a:r>
          </a:p>
          <a:p>
            <a:r>
              <a:rPr lang="en-US" dirty="0"/>
              <a:t>Can be: configuration(none).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9A57BB-C17C-A545-99E8-210FF846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467FC-0A49-7947-AD3F-B0ED5F33A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095C8F-7DCF-D142-B7E0-56A6C00C8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DDB3A7-1BE4-5F4F-BE1A-F769D6AD5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MODELS (6) Configuration</a:t>
            </a:r>
          </a:p>
        </p:txBody>
      </p:sp>
    </p:spTree>
    <p:extLst>
      <p:ext uri="{BB962C8B-B14F-4D97-AF65-F5344CB8AC3E}">
        <p14:creationId xmlns:p14="http://schemas.microsoft.com/office/powerpoint/2010/main" val="5238649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C3A97B-2440-3443-BD5B-C48DB1878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1F85A92-534C-A944-A05C-A6F97885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597899A-3DF5-854C-A32D-16814316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3850F-0BB2-544A-A399-0CD32B1E81C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0"/>
            <a:ext cx="10210800" cy="557213"/>
          </a:xfrm>
        </p:spPr>
        <p:txBody>
          <a:bodyPr>
            <a:noAutofit/>
          </a:bodyPr>
          <a:lstStyle/>
          <a:p>
            <a:pPr algn="l"/>
            <a:r>
              <a:rPr lang="en-US" sz="2400" dirty="0"/>
              <a:t>Example KB/MODELS/2.0/  configuration, platform, policy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C9EA7F-B33D-444C-A0BF-4A52FF8AF7A6}"/>
              </a:ext>
            </a:extLst>
          </p:cNvPr>
          <p:cNvSpPr/>
          <p:nvPr/>
        </p:nvSpPr>
        <p:spPr>
          <a:xfrm>
            <a:off x="196273" y="1129127"/>
            <a:ext cx="1734207" cy="557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configuration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FD5870-23C5-D24F-BFBA-D743D6BFA5AE}"/>
              </a:ext>
            </a:extLst>
          </p:cNvPr>
          <p:cNvSpPr/>
          <p:nvPr/>
        </p:nvSpPr>
        <p:spPr>
          <a:xfrm>
            <a:off x="196273" y="2647505"/>
            <a:ext cx="1734207" cy="557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D1C0E6-21C5-BE4F-B3CB-C07C1D95ADE3}"/>
              </a:ext>
            </a:extLst>
          </p:cNvPr>
          <p:cNvSpPr/>
          <p:nvPr/>
        </p:nvSpPr>
        <p:spPr>
          <a:xfrm>
            <a:off x="196273" y="4567600"/>
            <a:ext cx="1734207" cy="5570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policy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3CFF86-29CD-A64B-BAA4-578E519AC56D}"/>
              </a:ext>
            </a:extLst>
          </p:cNvPr>
          <p:cNvSpPr txBox="1"/>
          <p:nvPr/>
        </p:nvSpPr>
        <p:spPr>
          <a:xfrm>
            <a:off x="2339155" y="557049"/>
            <a:ext cx="12570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configuration(none).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04A212-DFB9-4D4A-A6E6-70CBAD819A9C}"/>
              </a:ext>
            </a:extLst>
          </p:cNvPr>
          <p:cNvSpPr txBox="1"/>
          <p:nvPr/>
        </p:nvSpPr>
        <p:spPr>
          <a:xfrm>
            <a:off x="8256764" y="557049"/>
            <a:ext cx="3817071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policy(iomt_spec1,</a:t>
            </a:r>
          </a:p>
          <a:p>
            <a:r>
              <a:rPr lang="en-US" sz="1000" dirty="0"/>
              <a:t>       [process('P1',</a:t>
            </a:r>
          </a:p>
          <a:p>
            <a:r>
              <a:rPr lang="en-US" sz="1000" dirty="0"/>
              <a:t>                [port(p, [], [])],</a:t>
            </a:r>
          </a:p>
          <a:p>
            <a:r>
              <a:rPr lang="en-US" sz="1000" dirty="0"/>
              <a:t>                [],</a:t>
            </a:r>
          </a:p>
          <a:p>
            <a:r>
              <a:rPr lang="en-US" sz="1000" dirty="0"/>
              <a:t>                [processor(x, [family(</a:t>
            </a:r>
            <a:r>
              <a:rPr lang="en-US" sz="1000" dirty="0" err="1"/>
              <a:t>cpu</a:t>
            </a:r>
            <a:r>
              <a:rPr lang="en-US" sz="1000" dirty="0"/>
              <a:t>), frequency('2GHz'), schedule(70)]),</a:t>
            </a:r>
          </a:p>
          <a:p>
            <a:r>
              <a:rPr lang="en-US" sz="1000" dirty="0"/>
              <a:t>                 memory(z, [family(ram), size(1)])]),</a:t>
            </a:r>
          </a:p>
          <a:p>
            <a:r>
              <a:rPr lang="en-US" sz="1000" dirty="0"/>
              <a:t>        process('P2',</a:t>
            </a:r>
          </a:p>
          <a:p>
            <a:r>
              <a:rPr lang="en-US" sz="1000" dirty="0"/>
              <a:t>                [port(p, [], [])],</a:t>
            </a:r>
          </a:p>
          <a:p>
            <a:r>
              <a:rPr lang="en-US" sz="1000" dirty="0"/>
              <a:t>                [],</a:t>
            </a:r>
          </a:p>
          <a:p>
            <a:r>
              <a:rPr lang="en-US" sz="1000" dirty="0"/>
              <a:t>                [processor(x, [family(</a:t>
            </a:r>
            <a:r>
              <a:rPr lang="en-US" sz="1000" dirty="0" err="1"/>
              <a:t>cpu</a:t>
            </a:r>
            <a:r>
              <a:rPr lang="en-US" sz="1000" dirty="0"/>
              <a:t>), frequency('2GHz'), schedule(80)]),</a:t>
            </a:r>
          </a:p>
          <a:p>
            <a:r>
              <a:rPr lang="en-US" sz="1000" dirty="0"/>
              <a:t>                 memory(z, [family(ram), size(5)])])],</a:t>
            </a:r>
          </a:p>
          <a:p>
            <a:r>
              <a:rPr lang="en-US" sz="1000" dirty="0"/>
              <a:t>       [object(o1,</a:t>
            </a:r>
          </a:p>
          <a:p>
            <a:r>
              <a:rPr lang="en-US" sz="1000" dirty="0"/>
              <a:t>               [],</a:t>
            </a:r>
          </a:p>
          <a:p>
            <a:r>
              <a:rPr lang="en-US" sz="1000" dirty="0"/>
              <a:t>               [memory(u, [family(ram), size(3)])]),</a:t>
            </a:r>
          </a:p>
          <a:p>
            <a:r>
              <a:rPr lang="en-US" sz="1000" dirty="0"/>
              <a:t>        object(o2,</a:t>
            </a:r>
          </a:p>
          <a:p>
            <a:r>
              <a:rPr lang="en-US" sz="1000" dirty="0"/>
              <a:t>               [],</a:t>
            </a:r>
          </a:p>
          <a:p>
            <a:r>
              <a:rPr lang="en-US" sz="1000" dirty="0"/>
              <a:t>               [memory(u, [family(ram), size(6)])])],</a:t>
            </a:r>
          </a:p>
          <a:p>
            <a:r>
              <a:rPr lang="en-US" sz="1000" dirty="0"/>
              <a:t>       </a:t>
            </a:r>
          </a:p>
          <a:p>
            <a:r>
              <a:rPr lang="en-US" sz="1000" dirty="0"/>
              <a:t>       [</a:t>
            </a:r>
            <a:r>
              <a:rPr lang="en-US" sz="1000" dirty="0" err="1"/>
              <a:t>ipc_flow</a:t>
            </a:r>
            <a:r>
              <a:rPr lang="en-US" sz="1000" dirty="0"/>
              <a:t>(p1p2, ['P1', p], ['P2', p], [], [])],</a:t>
            </a:r>
          </a:p>
          <a:p>
            <a:r>
              <a:rPr lang="en-US" sz="1000" dirty="0"/>
              <a:t>       </a:t>
            </a:r>
          </a:p>
          <a:p>
            <a:r>
              <a:rPr lang="en-US" sz="1000" dirty="0"/>
              <a:t>       [</a:t>
            </a:r>
            <a:r>
              <a:rPr lang="en-US" sz="1000" dirty="0" err="1"/>
              <a:t>po_flow</a:t>
            </a:r>
            <a:r>
              <a:rPr lang="en-US" sz="1000" dirty="0"/>
              <a:t>(p1o1, 'P1', o1, [], []),</a:t>
            </a:r>
          </a:p>
          <a:p>
            <a:r>
              <a:rPr lang="en-US" sz="1000" dirty="0"/>
              <a:t>        </a:t>
            </a:r>
            <a:r>
              <a:rPr lang="en-US" sz="1000" dirty="0" err="1"/>
              <a:t>po_flow</a:t>
            </a:r>
            <a:r>
              <a:rPr lang="en-US" sz="1000" dirty="0"/>
              <a:t>(p2o2, 'P2', o2, [], [])],</a:t>
            </a:r>
          </a:p>
          <a:p>
            <a:r>
              <a:rPr lang="en-US" sz="1000" dirty="0"/>
              <a:t>       </a:t>
            </a:r>
          </a:p>
          <a:p>
            <a:r>
              <a:rPr lang="en-US" sz="1000" dirty="0"/>
              <a:t>       [</a:t>
            </a:r>
            <a:r>
              <a:rPr lang="en-US" sz="1000" dirty="0" err="1"/>
              <a:t>specfilename</a:t>
            </a:r>
            <a:r>
              <a:rPr lang="en-US" sz="1000" dirty="0"/>
              <a:t>('</a:t>
            </a:r>
            <a:r>
              <a:rPr lang="en-US" sz="1000" dirty="0" err="1"/>
              <a:t>x.spec</a:t>
            </a:r>
            <a:r>
              <a:rPr lang="en-US" sz="1000" dirty="0"/>
              <a:t>')],</a:t>
            </a:r>
          </a:p>
          <a:p>
            <a:r>
              <a:rPr lang="en-US" sz="1000" dirty="0"/>
              <a:t>       </a:t>
            </a:r>
          </a:p>
          <a:p>
            <a:r>
              <a:rPr lang="en-US" sz="1000" dirty="0"/>
              <a:t>       [deployment(</a:t>
            </a:r>
            <a:r>
              <a:rPr lang="en-US" sz="1000" dirty="0" err="1"/>
              <a:t>not_same</a:t>
            </a:r>
            <a:r>
              <a:rPr lang="en-US" sz="1000" dirty="0"/>
              <a:t>(['P1', 'P2']))</a:t>
            </a:r>
          </a:p>
          <a:p>
            <a:r>
              <a:rPr lang="en-US" sz="1000" dirty="0"/>
              <a:t>       ]).</a:t>
            </a:r>
          </a:p>
          <a:p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877977-760D-F940-964C-BA6BA748B382}"/>
              </a:ext>
            </a:extLst>
          </p:cNvPr>
          <p:cNvSpPr txBox="1"/>
          <p:nvPr/>
        </p:nvSpPr>
        <p:spPr>
          <a:xfrm>
            <a:off x="4144460" y="557049"/>
            <a:ext cx="4052713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platform(iomt_platform1, </a:t>
            </a:r>
          </a:p>
          <a:p>
            <a:endParaRPr lang="en-US" sz="1000" dirty="0"/>
          </a:p>
          <a:p>
            <a:r>
              <a:rPr lang="en-US" sz="1000" dirty="0"/>
              <a:t>         [node(node1, </a:t>
            </a:r>
          </a:p>
          <a:p>
            <a:r>
              <a:rPr lang="en-US" sz="1000" dirty="0"/>
              <a:t>               [memory(ram, [family(ram), size(16), alignment(4)]),</a:t>
            </a:r>
          </a:p>
          <a:p>
            <a:r>
              <a:rPr lang="en-US" sz="1000" dirty="0"/>
              <a:t>                memory(disk, [family(disk), size(1024)])],</a:t>
            </a:r>
          </a:p>
          <a:p>
            <a:r>
              <a:rPr lang="en-US" sz="1000" dirty="0"/>
              <a:t>               [processor(cpu0, [family(</a:t>
            </a:r>
            <a:r>
              <a:rPr lang="en-US" sz="1000" dirty="0" err="1"/>
              <a:t>cpu</a:t>
            </a:r>
            <a:r>
              <a:rPr lang="en-US" sz="1000" dirty="0"/>
              <a:t>),frequency('2GHz'), schedule(100)]),</a:t>
            </a:r>
          </a:p>
          <a:p>
            <a:r>
              <a:rPr lang="en-US" sz="1000" dirty="0"/>
              <a:t>                processor(cpu1, [family(</a:t>
            </a:r>
            <a:r>
              <a:rPr lang="en-US" sz="1000" dirty="0" err="1"/>
              <a:t>cpu</a:t>
            </a:r>
            <a:r>
              <a:rPr lang="en-US" sz="1000" dirty="0"/>
              <a:t>),frequency('2GHz'), schedule(100)]),</a:t>
            </a:r>
          </a:p>
          <a:p>
            <a:r>
              <a:rPr lang="en-US" sz="1000" dirty="0"/>
              <a:t>                processor(cpu2, [family(</a:t>
            </a:r>
            <a:r>
              <a:rPr lang="en-US" sz="1000" dirty="0" err="1"/>
              <a:t>cpu</a:t>
            </a:r>
            <a:r>
              <a:rPr lang="en-US" sz="1000" dirty="0"/>
              <a:t>),frequency('2GHz'), schedule(100)]),</a:t>
            </a:r>
          </a:p>
          <a:p>
            <a:r>
              <a:rPr lang="en-US" sz="1000" dirty="0"/>
              <a:t>                processor(cpu3, [family(</a:t>
            </a:r>
            <a:r>
              <a:rPr lang="en-US" sz="1000" dirty="0" err="1"/>
              <a:t>cpu</a:t>
            </a:r>
            <a:r>
              <a:rPr lang="en-US" sz="1000" dirty="0"/>
              <a:t>),frequency('2GHz'), schedule(100)])],</a:t>
            </a:r>
          </a:p>
          <a:p>
            <a:r>
              <a:rPr lang="en-US" sz="1000" dirty="0"/>
              <a:t>               [device(es,</a:t>
            </a:r>
          </a:p>
          <a:p>
            <a:r>
              <a:rPr lang="en-US" sz="1000" dirty="0"/>
              <a:t>                      [port(pt1, [type(pt1)])],</a:t>
            </a:r>
          </a:p>
          <a:p>
            <a:r>
              <a:rPr lang="en-US" sz="1000" dirty="0"/>
              <a:t>                      [family(</a:t>
            </a:r>
            <a:r>
              <a:rPr lang="en-US" sz="1000" dirty="0" err="1"/>
              <a:t>tsn_card</a:t>
            </a:r>
            <a:r>
              <a:rPr lang="en-US" sz="1000" dirty="0"/>
              <a:t>), schedule(100)])],</a:t>
            </a:r>
          </a:p>
          <a:p>
            <a:r>
              <a:rPr lang="en-US" sz="1000" dirty="0"/>
              <a:t>               [],</a:t>
            </a:r>
          </a:p>
          <a:p>
            <a:r>
              <a:rPr lang="en-US" sz="1000" dirty="0"/>
              <a:t>               [</a:t>
            </a:r>
            <a:r>
              <a:rPr lang="en-US" sz="1000" dirty="0" err="1"/>
              <a:t>os</a:t>
            </a:r>
            <a:r>
              <a:rPr lang="en-US" sz="1000" dirty="0"/>
              <a:t>(</a:t>
            </a:r>
            <a:r>
              <a:rPr lang="en-US" sz="1000" dirty="0" err="1"/>
              <a:t>linux</a:t>
            </a:r>
            <a:r>
              <a:rPr lang="en-US" sz="1000" dirty="0"/>
              <a:t>)]),</a:t>
            </a:r>
          </a:p>
          <a:p>
            <a:endParaRPr lang="en-US" sz="1000" dirty="0"/>
          </a:p>
          <a:p>
            <a:r>
              <a:rPr lang="en-US" sz="1000" dirty="0"/>
              <a:t>          node(node2,</a:t>
            </a:r>
          </a:p>
          <a:p>
            <a:r>
              <a:rPr lang="en-US" sz="1000" dirty="0"/>
              <a:t>               [memory(ram, [family(ram), size(16), alignment(1)]),</a:t>
            </a:r>
          </a:p>
          <a:p>
            <a:r>
              <a:rPr lang="en-US" sz="1000" dirty="0"/>
              <a:t>                memory(disk, [family(disk), size(1024)])],</a:t>
            </a:r>
          </a:p>
          <a:p>
            <a:r>
              <a:rPr lang="en-US" sz="1000" dirty="0"/>
              <a:t>               [processor(cpu0, [family(</a:t>
            </a:r>
            <a:r>
              <a:rPr lang="en-US" sz="1000" dirty="0" err="1"/>
              <a:t>cpu</a:t>
            </a:r>
            <a:r>
              <a:rPr lang="en-US" sz="1000" dirty="0"/>
              <a:t>),frequency('2GHz'), schedule(100)]),</a:t>
            </a:r>
          </a:p>
          <a:p>
            <a:r>
              <a:rPr lang="en-US" sz="1000" dirty="0"/>
              <a:t>                processor(cpu1, [family(</a:t>
            </a:r>
            <a:r>
              <a:rPr lang="en-US" sz="1000" dirty="0" err="1"/>
              <a:t>cpu</a:t>
            </a:r>
            <a:r>
              <a:rPr lang="en-US" sz="1000" dirty="0"/>
              <a:t>),frequency('2GHz'), schedule(100)]),</a:t>
            </a:r>
          </a:p>
          <a:p>
            <a:r>
              <a:rPr lang="en-US" sz="1000" dirty="0"/>
              <a:t>                processor(cpu2, [family(</a:t>
            </a:r>
            <a:r>
              <a:rPr lang="en-US" sz="1000" dirty="0" err="1"/>
              <a:t>cpu</a:t>
            </a:r>
            <a:r>
              <a:rPr lang="en-US" sz="1000" dirty="0"/>
              <a:t>),frequency('2GHz'), schedule(100)]),</a:t>
            </a:r>
          </a:p>
          <a:p>
            <a:r>
              <a:rPr lang="en-US" sz="1000" dirty="0"/>
              <a:t>                processor(cpu3, [family(</a:t>
            </a:r>
            <a:r>
              <a:rPr lang="en-US" sz="1000" dirty="0" err="1"/>
              <a:t>cpu</a:t>
            </a:r>
            <a:r>
              <a:rPr lang="en-US" sz="1000" dirty="0"/>
              <a:t>),frequency('2GHz'), schedule(100)])],</a:t>
            </a:r>
          </a:p>
          <a:p>
            <a:r>
              <a:rPr lang="en-US" sz="1000" dirty="0"/>
              <a:t>               [device(es,</a:t>
            </a:r>
          </a:p>
          <a:p>
            <a:r>
              <a:rPr lang="en-US" sz="1000" dirty="0"/>
              <a:t>                      [port(pt1, [type(pt1)])],</a:t>
            </a:r>
          </a:p>
          <a:p>
            <a:r>
              <a:rPr lang="en-US" sz="1000" dirty="0"/>
              <a:t>                      [family(</a:t>
            </a:r>
            <a:r>
              <a:rPr lang="en-US" sz="1000" dirty="0" err="1"/>
              <a:t>tsn_card</a:t>
            </a:r>
            <a:r>
              <a:rPr lang="en-US" sz="1000" dirty="0"/>
              <a:t>), schedule(100)])],</a:t>
            </a:r>
          </a:p>
          <a:p>
            <a:r>
              <a:rPr lang="en-US" sz="1000" dirty="0"/>
              <a:t>               [],</a:t>
            </a:r>
          </a:p>
          <a:p>
            <a:r>
              <a:rPr lang="en-US" sz="1000" dirty="0"/>
              <a:t>               [</a:t>
            </a:r>
            <a:r>
              <a:rPr lang="en-US" sz="1000" dirty="0" err="1"/>
              <a:t>os</a:t>
            </a:r>
            <a:r>
              <a:rPr lang="en-US" sz="1000" dirty="0"/>
              <a:t>(</a:t>
            </a:r>
            <a:r>
              <a:rPr lang="en-US" sz="1000" dirty="0" err="1"/>
              <a:t>linux</a:t>
            </a:r>
            <a:r>
              <a:rPr lang="en-US" sz="1000" dirty="0"/>
              <a:t>)])],</a:t>
            </a:r>
          </a:p>
          <a:p>
            <a:endParaRPr lang="en-US" sz="1000" dirty="0"/>
          </a:p>
          <a:p>
            <a:r>
              <a:rPr lang="en-US" sz="1000" dirty="0"/>
              <a:t>         [switch(sw0,</a:t>
            </a:r>
          </a:p>
          <a:p>
            <a:r>
              <a:rPr lang="en-US" sz="1000" dirty="0"/>
              <a:t>                 [port(pt1, []),</a:t>
            </a:r>
          </a:p>
          <a:p>
            <a:r>
              <a:rPr lang="en-US" sz="1000" dirty="0"/>
              <a:t>                  port(pt2, [])],</a:t>
            </a:r>
          </a:p>
          <a:p>
            <a:r>
              <a:rPr lang="en-US" sz="1000" dirty="0"/>
              <a:t>                 [])],</a:t>
            </a:r>
          </a:p>
          <a:p>
            <a:endParaRPr lang="en-US" sz="1000" dirty="0"/>
          </a:p>
          <a:p>
            <a:r>
              <a:rPr lang="en-US" sz="1000" dirty="0"/>
              <a:t>         [</a:t>
            </a:r>
            <a:r>
              <a:rPr lang="en-US" sz="1000" dirty="0" err="1"/>
              <a:t>phylink</a:t>
            </a:r>
            <a:r>
              <a:rPr lang="en-US" sz="1000" dirty="0"/>
              <a:t>(f1, [node1, es, pt1], [sw0, pt1], </a:t>
            </a:r>
          </a:p>
          <a:p>
            <a:r>
              <a:rPr lang="en-US" sz="1000" dirty="0"/>
              <a:t>                  [length('2m'), media(copper)]),</a:t>
            </a:r>
          </a:p>
          <a:p>
            <a:r>
              <a:rPr lang="en-US" sz="1000" dirty="0"/>
              <a:t>          </a:t>
            </a:r>
            <a:r>
              <a:rPr lang="en-US" sz="1000" dirty="0" err="1"/>
              <a:t>phylink</a:t>
            </a:r>
            <a:r>
              <a:rPr lang="en-US" sz="1000" dirty="0"/>
              <a:t>(f2, [node2, es, pt1], [sw0, pt2],</a:t>
            </a:r>
          </a:p>
          <a:p>
            <a:r>
              <a:rPr lang="en-US" sz="1000" dirty="0"/>
              <a:t>                  [length('2m'), media(copper)])],</a:t>
            </a:r>
          </a:p>
          <a:p>
            <a:endParaRPr lang="en-US" sz="1000" dirty="0"/>
          </a:p>
          <a:p>
            <a:r>
              <a:rPr lang="en-US" sz="1000" dirty="0"/>
              <a:t>         [</a:t>
            </a:r>
            <a:r>
              <a:rPr lang="en-US" sz="1000" dirty="0" err="1"/>
              <a:t>specfilename</a:t>
            </a:r>
            <a:r>
              <a:rPr lang="en-US" sz="1000" dirty="0"/>
              <a:t>('...')]).</a:t>
            </a:r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925693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8863D7-F630-324F-8F9D-53D4CC7FB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1582400" cy="5105400"/>
          </a:xfrm>
        </p:spPr>
        <p:txBody>
          <a:bodyPr/>
          <a:lstStyle/>
          <a:p>
            <a:r>
              <a:rPr lang="en-US" dirty="0"/>
              <a:t>Fragments of assurance argumentation pertaining to a hardware, software or environment entity that are reusable for other similar entities</a:t>
            </a:r>
          </a:p>
          <a:p>
            <a:r>
              <a:rPr lang="en-US" dirty="0"/>
              <a:t>Patterns are parameterized to enable flexible application and concretization</a:t>
            </a:r>
          </a:p>
          <a:p>
            <a:r>
              <a:rPr lang="en-US" dirty="0"/>
              <a:t> An evidence node (GSN “solution”) in an AC pattern represents an instance of a specified evidence category and indicates the specific result value needed in the instance to support the goal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47F4FA-F2FA-9146-95B5-13F2278B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957F3-EC1A-7747-88ED-138653EB3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DDC54-CD93-454F-A7E0-909730FF3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8938AA-D5E3-4E4B-967E-2BF87197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PATTERNS (1)</a:t>
            </a:r>
          </a:p>
        </p:txBody>
      </p:sp>
    </p:spTree>
    <p:extLst>
      <p:ext uri="{BB962C8B-B14F-4D97-AF65-F5344CB8AC3E}">
        <p14:creationId xmlns:p14="http://schemas.microsoft.com/office/powerpoint/2010/main" val="37193501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363A05E-FEB3-8849-80C1-E1B2DC78F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516" y="1369442"/>
            <a:ext cx="3519227" cy="12371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400" dirty="0"/>
              <a:t>Using language constructs:</a:t>
            </a:r>
          </a:p>
          <a:p>
            <a:pPr marL="457200" lvl="1" indent="0">
              <a:buNone/>
            </a:pPr>
            <a:r>
              <a:rPr lang="en-US" sz="1200" dirty="0" err="1"/>
              <a:t>ac_pattern</a:t>
            </a:r>
            <a:r>
              <a:rPr lang="en-US" sz="1200" dirty="0"/>
              <a:t>(Id, </a:t>
            </a:r>
            <a:r>
              <a:rPr lang="en-US" sz="1200" dirty="0" err="1"/>
              <a:t>Args</a:t>
            </a:r>
            <a:r>
              <a:rPr lang="en-US" sz="1200" dirty="0"/>
              <a:t>, Goal)</a:t>
            </a:r>
          </a:p>
          <a:p>
            <a:pPr marL="457200" lvl="1" indent="0">
              <a:buNone/>
            </a:pPr>
            <a:r>
              <a:rPr lang="en-US" sz="1200" dirty="0"/>
              <a:t>goal(Id, Claim, [Context], [Support])</a:t>
            </a:r>
          </a:p>
          <a:p>
            <a:pPr marL="457200" lvl="1" indent="0">
              <a:buNone/>
            </a:pPr>
            <a:r>
              <a:rPr lang="en-US" sz="1200" dirty="0"/>
              <a:t>strategy(Claim, [Context], [Goal])</a:t>
            </a:r>
          </a:p>
          <a:p>
            <a:pPr marL="457200" lvl="1" indent="0">
              <a:buNone/>
            </a:pPr>
            <a:r>
              <a:rPr lang="en-US" sz="1200" dirty="0"/>
              <a:t>strategy(Claim, Iterator, [Context], [Goal])</a:t>
            </a:r>
          </a:p>
          <a:p>
            <a:pPr marL="457200" lvl="1" indent="0">
              <a:buNone/>
            </a:pPr>
            <a:r>
              <a:rPr lang="en-US" sz="1200" dirty="0" err="1"/>
              <a:t>ac_pattern_ref</a:t>
            </a:r>
            <a:r>
              <a:rPr lang="en-US" sz="1200" dirty="0"/>
              <a:t>(Id, </a:t>
            </a:r>
            <a:r>
              <a:rPr lang="en-US" sz="1200" dirty="0" err="1"/>
              <a:t>Args</a:t>
            </a:r>
            <a:r>
              <a:rPr lang="en-US" sz="1200" dirty="0"/>
              <a:t>)</a:t>
            </a:r>
          </a:p>
          <a:p>
            <a:pPr marL="457200" lvl="1" indent="0">
              <a:buNone/>
            </a:pPr>
            <a:endParaRPr lang="en-US" sz="12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47F4FA-F2FA-9146-95B5-13F2278B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957F3-EC1A-7747-88ED-138653EB3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DDC54-CD93-454F-A7E0-909730FF3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8938AA-D5E3-4E4B-967E-2BF87197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KB: PATTERNS (2) Pattern Language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FC217-4B35-D241-8E6C-789440A9D370}"/>
              </a:ext>
            </a:extLst>
          </p:cNvPr>
          <p:cNvSpPr txBox="1"/>
          <p:nvPr/>
        </p:nvSpPr>
        <p:spPr>
          <a:xfrm>
            <a:off x="133776" y="3172749"/>
            <a:ext cx="528189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ac_pattern</a:t>
            </a:r>
            <a:r>
              <a:rPr lang="en-US" sz="1200" dirty="0"/>
              <a:t>('</a:t>
            </a:r>
            <a:r>
              <a:rPr lang="en-US" sz="1200" dirty="0" err="1"/>
              <a:t>application_plane</a:t>
            </a:r>
            <a:r>
              <a:rPr lang="en-US" sz="1200" dirty="0"/>
              <a:t>',</a:t>
            </a:r>
          </a:p>
          <a:p>
            <a:r>
              <a:rPr lang="en-US" sz="1200" dirty="0"/>
              <a:t>       [</a:t>
            </a:r>
            <a:r>
              <a:rPr lang="en-US" sz="1200" dirty="0" err="1"/>
              <a:t>arg</a:t>
            </a:r>
            <a:r>
              <a:rPr lang="en-US" sz="1200" dirty="0"/>
              <a:t>('</a:t>
            </a:r>
            <a:r>
              <a:rPr lang="en-US" sz="1200" dirty="0" err="1"/>
              <a:t>App_Spec</a:t>
            </a:r>
            <a:r>
              <a:rPr lang="en-US" sz="1200" dirty="0"/>
              <a:t>', </a:t>
            </a:r>
            <a:r>
              <a:rPr lang="en-US" sz="1200" dirty="0" err="1"/>
              <a:t>application_plane:specification</a:t>
            </a:r>
            <a:r>
              <a:rPr lang="en-US" sz="1200" dirty="0"/>
              <a:t>)],</a:t>
            </a:r>
          </a:p>
          <a:p>
            <a:r>
              <a:rPr lang="en-US" sz="1200" dirty="0"/>
              <a:t>       goal(g0,</a:t>
            </a:r>
          </a:p>
          <a:p>
            <a:r>
              <a:rPr lang="en-US" sz="1200" dirty="0"/>
              <a:t>        'The application plane guarantees that the {</a:t>
            </a:r>
            <a:r>
              <a:rPr lang="en-US" sz="1200" dirty="0" err="1"/>
              <a:t>App_Spec</a:t>
            </a:r>
            <a:r>
              <a:rPr lang="en-US" sz="1200" dirty="0"/>
              <a:t>} is met',</a:t>
            </a:r>
          </a:p>
          <a:p>
            <a:r>
              <a:rPr lang="en-US" sz="1200" dirty="0"/>
              <a:t>        [context('The IoMT system model describes \c</a:t>
            </a:r>
          </a:p>
          <a:p>
            <a:r>
              <a:rPr lang="en-US" sz="1200" dirty="0"/>
              <a:t>            the application plane and the architecture, properties and \c</a:t>
            </a:r>
          </a:p>
          <a:p>
            <a:r>
              <a:rPr lang="en-US" sz="1200" dirty="0"/>
              <a:t>            local specification of the plane')],</a:t>
            </a:r>
          </a:p>
          <a:p>
            <a:r>
              <a:rPr lang="en-US" sz="1200" dirty="0"/>
              <a:t>        [</a:t>
            </a:r>
            <a:r>
              <a:rPr lang="en-US" sz="1200" dirty="0" err="1"/>
              <a:t>ac_pattern_ref</a:t>
            </a:r>
            <a:r>
              <a:rPr lang="en-US" sz="1200" dirty="0"/>
              <a:t>('</a:t>
            </a:r>
            <a:r>
              <a:rPr lang="en-US" sz="1200" dirty="0" err="1"/>
              <a:t>application_plane_interface</a:t>
            </a:r>
            <a:r>
              <a:rPr lang="en-US" sz="1200" dirty="0"/>
              <a:t>', ['</a:t>
            </a:r>
            <a:r>
              <a:rPr lang="en-US" sz="1200" dirty="0" err="1"/>
              <a:t>App_Spec</a:t>
            </a:r>
            <a:r>
              <a:rPr lang="en-US" sz="1200" dirty="0"/>
              <a:t>']),</a:t>
            </a:r>
          </a:p>
          <a:p>
            <a:r>
              <a:rPr lang="en-US" sz="1200" dirty="0"/>
              <a:t>         goal(g1, 'Compositional </a:t>
            </a:r>
            <a:r>
              <a:rPr lang="en-US" sz="1200" dirty="0" err="1"/>
              <a:t>behaviour</a:t>
            </a:r>
            <a:r>
              <a:rPr lang="en-US" sz="1200" dirty="0"/>
              <a:t> of separate components \c</a:t>
            </a:r>
          </a:p>
          <a:p>
            <a:r>
              <a:rPr lang="en-US" sz="1200" dirty="0"/>
              <a:t>             demonstrated to meet the local specification', [],</a:t>
            </a:r>
          </a:p>
          <a:p>
            <a:r>
              <a:rPr lang="en-US" sz="1200" dirty="0"/>
              <a:t>             [ strategy('no. of processes',</a:t>
            </a:r>
          </a:p>
          <a:p>
            <a:r>
              <a:rPr lang="en-US" sz="1200" dirty="0"/>
              <a:t>                iterate('Process', </a:t>
            </a:r>
            <a:r>
              <a:rPr lang="en-US" sz="1200" dirty="0" err="1"/>
              <a:t>application_plane:process</a:t>
            </a:r>
            <a:r>
              <a:rPr lang="en-US" sz="1200" dirty="0"/>
              <a:t>, processes('</a:t>
            </a:r>
            <a:r>
              <a:rPr lang="en-US" sz="1200" dirty="0" err="1"/>
              <a:t>App_Spec</a:t>
            </a:r>
            <a:r>
              <a:rPr lang="en-US" sz="1200" dirty="0"/>
              <a:t>')), [],</a:t>
            </a:r>
          </a:p>
          <a:p>
            <a:r>
              <a:rPr lang="en-US" sz="1200" dirty="0"/>
              <a:t>                [ </a:t>
            </a:r>
            <a:r>
              <a:rPr lang="en-US" sz="1200" dirty="0" err="1"/>
              <a:t>ac_pattern_ref</a:t>
            </a:r>
            <a:r>
              <a:rPr lang="en-US" sz="1200" dirty="0"/>
              <a:t>('</a:t>
            </a:r>
            <a:r>
              <a:rPr lang="en-US" sz="1200" dirty="0" err="1"/>
              <a:t>application_plane_process</a:t>
            </a:r>
            <a:r>
              <a:rPr lang="en-US" sz="1200" dirty="0"/>
              <a:t>', ['Process', '</a:t>
            </a:r>
            <a:r>
              <a:rPr lang="en-US" sz="1200" dirty="0" err="1"/>
              <a:t>App_Spec</a:t>
            </a:r>
            <a:r>
              <a:rPr lang="en-US" sz="1200" dirty="0"/>
              <a:t>'])])]),</a:t>
            </a:r>
          </a:p>
          <a:p>
            <a:r>
              <a:rPr lang="en-US" sz="1200" dirty="0"/>
              <a:t>         goal(g2, 'Compositional </a:t>
            </a:r>
            <a:r>
              <a:rPr lang="en-US" sz="1200" dirty="0" err="1"/>
              <a:t>behaviour</a:t>
            </a:r>
            <a:r>
              <a:rPr lang="en-US" sz="1200" dirty="0"/>
              <a:t> of compositions \c</a:t>
            </a:r>
          </a:p>
          <a:p>
            <a:r>
              <a:rPr lang="en-US" sz="1200" dirty="0"/>
              <a:t>             demonstrated to meet the local specification', [],</a:t>
            </a:r>
          </a:p>
          <a:p>
            <a:r>
              <a:rPr lang="en-US" sz="1200" dirty="0"/>
              <a:t>             [ </a:t>
            </a:r>
            <a:r>
              <a:rPr lang="en-US" sz="1200" dirty="0" err="1"/>
              <a:t>ac_pattern_ref</a:t>
            </a:r>
            <a:r>
              <a:rPr lang="en-US" sz="1200" dirty="0"/>
              <a:t>('</a:t>
            </a:r>
            <a:r>
              <a:rPr lang="en-US" sz="1200" dirty="0" err="1"/>
              <a:t>application_plane_composition</a:t>
            </a:r>
            <a:r>
              <a:rPr lang="en-US" sz="1200" dirty="0"/>
              <a:t>',</a:t>
            </a:r>
          </a:p>
          <a:p>
            <a:r>
              <a:rPr lang="en-US" sz="1200" dirty="0"/>
              <a:t>                      ['</a:t>
            </a:r>
            <a:r>
              <a:rPr lang="en-US" sz="1200" dirty="0" err="1"/>
              <a:t>App_Spec</a:t>
            </a:r>
            <a:r>
              <a:rPr lang="en-US" sz="1200" dirty="0"/>
              <a:t>'])])</a:t>
            </a:r>
          </a:p>
          <a:p>
            <a:r>
              <a:rPr lang="en-US" sz="1200" dirty="0"/>
              <a:t>        ])).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7C163D-4BE0-6D48-A6A5-EE35BC57AAFE}"/>
              </a:ext>
            </a:extLst>
          </p:cNvPr>
          <p:cNvSpPr txBox="1"/>
          <p:nvPr/>
        </p:nvSpPr>
        <p:spPr>
          <a:xfrm>
            <a:off x="7323744" y="4154790"/>
            <a:ext cx="486825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ac_pattern</a:t>
            </a:r>
            <a:r>
              <a:rPr lang="en-US" sz="1200" dirty="0"/>
              <a:t>('</a:t>
            </a:r>
            <a:r>
              <a:rPr lang="en-US" sz="1200" dirty="0" err="1"/>
              <a:t>platform_plane</a:t>
            </a:r>
            <a:r>
              <a:rPr lang="en-US" sz="1200" dirty="0"/>
              <a:t>',</a:t>
            </a:r>
          </a:p>
          <a:p>
            <a:r>
              <a:rPr lang="en-US" sz="1200" dirty="0"/>
              <a:t>       [</a:t>
            </a:r>
            <a:r>
              <a:rPr lang="en-US" sz="1200" dirty="0" err="1"/>
              <a:t>arg</a:t>
            </a:r>
            <a:r>
              <a:rPr lang="en-US" sz="1200" dirty="0"/>
              <a:t>('P', </a:t>
            </a:r>
            <a:r>
              <a:rPr lang="en-US" sz="1200" dirty="0" err="1"/>
              <a:t>platform_plane:platform</a:t>
            </a:r>
            <a:r>
              <a:rPr lang="en-US" sz="1200" dirty="0"/>
              <a:t>)],</a:t>
            </a:r>
          </a:p>
          <a:p>
            <a:r>
              <a:rPr lang="en-US" sz="1200" dirty="0"/>
              <a:t>       goal(g0, 'The platform plane guarantees that the platform properties \c</a:t>
            </a:r>
          </a:p>
          <a:p>
            <a:r>
              <a:rPr lang="en-US" sz="1200" dirty="0"/>
              <a:t>            and the application plane assumptions are met',</a:t>
            </a:r>
          </a:p>
          <a:p>
            <a:r>
              <a:rPr lang="en-US" sz="1200" dirty="0"/>
              <a:t>        [context('The IoMT system model describes the plane')],</a:t>
            </a:r>
          </a:p>
          <a:p>
            <a:r>
              <a:rPr lang="en-US" sz="1200" dirty="0"/>
              <a:t>        [strategy('Argument over the desired behavior and requirements \c</a:t>
            </a:r>
          </a:p>
          <a:p>
            <a:r>
              <a:rPr lang="en-US" sz="1200" dirty="0"/>
              <a:t>             of each IoMT platform node',</a:t>
            </a:r>
          </a:p>
          <a:p>
            <a:r>
              <a:rPr lang="en-US" sz="1200" dirty="0"/>
              <a:t>              iterate('N', </a:t>
            </a:r>
            <a:r>
              <a:rPr lang="en-US" sz="1200" dirty="0" err="1"/>
              <a:t>platform_plane:node</a:t>
            </a:r>
            <a:r>
              <a:rPr lang="en-US" sz="1200" dirty="0"/>
              <a:t>, nodes('P')),</a:t>
            </a:r>
          </a:p>
          <a:p>
            <a:r>
              <a:rPr lang="en-US" sz="1200" dirty="0"/>
              <a:t>              [],</a:t>
            </a:r>
          </a:p>
          <a:p>
            <a:r>
              <a:rPr lang="en-US" sz="1200" dirty="0"/>
              <a:t>              [</a:t>
            </a:r>
            <a:r>
              <a:rPr lang="en-US" sz="1200" dirty="0" err="1"/>
              <a:t>ac_pattern_ref</a:t>
            </a:r>
            <a:r>
              <a:rPr lang="en-US" sz="1200" dirty="0"/>
              <a:t>('</a:t>
            </a:r>
            <a:r>
              <a:rPr lang="en-US" sz="1200" dirty="0" err="1"/>
              <a:t>platform_plane_node</a:t>
            </a:r>
            <a:r>
              <a:rPr lang="en-US" sz="1200" dirty="0"/>
              <a:t>', ['P', 'N'])]),</a:t>
            </a:r>
          </a:p>
          <a:p>
            <a:r>
              <a:rPr lang="en-US" sz="1200" dirty="0"/>
              <a:t>         </a:t>
            </a:r>
            <a:r>
              <a:rPr lang="en-US" sz="1200" dirty="0" err="1"/>
              <a:t>ac_pattern_ref</a:t>
            </a:r>
            <a:r>
              <a:rPr lang="en-US" sz="1200" dirty="0"/>
              <a:t>('</a:t>
            </a:r>
            <a:r>
              <a:rPr lang="en-US" sz="1200" dirty="0" err="1"/>
              <a:t>platform_plane_TS_network</a:t>
            </a:r>
            <a:r>
              <a:rPr lang="en-US" sz="1200" dirty="0"/>
              <a:t>', ['P'])</a:t>
            </a:r>
          </a:p>
          <a:p>
            <a:r>
              <a:rPr lang="en-US" sz="1200" dirty="0"/>
              <a:t>        ])).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5662E5-A2D9-E849-8139-304A9D231C99}"/>
              </a:ext>
            </a:extLst>
          </p:cNvPr>
          <p:cNvSpPr txBox="1"/>
          <p:nvPr/>
        </p:nvSpPr>
        <p:spPr>
          <a:xfrm>
            <a:off x="5719923" y="1101578"/>
            <a:ext cx="461151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ac_pattern</a:t>
            </a:r>
            <a:r>
              <a:rPr lang="en-US" sz="1200" dirty="0"/>
              <a:t>('</a:t>
            </a:r>
            <a:r>
              <a:rPr lang="en-US" sz="1200" dirty="0" err="1"/>
              <a:t>IoMT_system</a:t>
            </a:r>
            <a:r>
              <a:rPr lang="en-US" sz="1200" dirty="0"/>
              <a:t>',</a:t>
            </a:r>
          </a:p>
          <a:p>
            <a:r>
              <a:rPr lang="en-US" sz="1200" dirty="0"/>
              <a:t>       [</a:t>
            </a:r>
            <a:r>
              <a:rPr lang="en-US" sz="1200" dirty="0" err="1"/>
              <a:t>arg</a:t>
            </a:r>
            <a:r>
              <a:rPr lang="en-US" sz="1200" dirty="0"/>
              <a:t>('</a:t>
            </a:r>
            <a:r>
              <a:rPr lang="en-US" sz="1200" dirty="0" err="1"/>
              <a:t>App_Spec</a:t>
            </a:r>
            <a:r>
              <a:rPr lang="en-US" sz="1200" dirty="0"/>
              <a:t>', </a:t>
            </a:r>
            <a:r>
              <a:rPr lang="en-US" sz="1200" dirty="0" err="1"/>
              <a:t>application_plane:specification</a:t>
            </a:r>
            <a:r>
              <a:rPr lang="en-US" sz="1200" dirty="0"/>
              <a:t>),</a:t>
            </a:r>
          </a:p>
          <a:p>
            <a:r>
              <a:rPr lang="en-US" sz="1200" dirty="0"/>
              <a:t>        </a:t>
            </a:r>
            <a:r>
              <a:rPr lang="en-US" sz="1200" dirty="0" err="1"/>
              <a:t>arg</a:t>
            </a:r>
            <a:r>
              <a:rPr lang="en-US" sz="1200" dirty="0"/>
              <a:t>('</a:t>
            </a:r>
            <a:r>
              <a:rPr lang="en-US" sz="1200" dirty="0" err="1"/>
              <a:t>Platform_Spec</a:t>
            </a:r>
            <a:r>
              <a:rPr lang="en-US" sz="1200" dirty="0"/>
              <a:t>', </a:t>
            </a:r>
            <a:r>
              <a:rPr lang="en-US" sz="1200" dirty="0" err="1"/>
              <a:t>platform_plane:platform</a:t>
            </a:r>
            <a:r>
              <a:rPr lang="en-US" sz="1200" dirty="0"/>
              <a:t>)</a:t>
            </a:r>
          </a:p>
          <a:p>
            <a:r>
              <a:rPr lang="en-US" sz="1200" dirty="0"/>
              <a:t>       ],</a:t>
            </a:r>
          </a:p>
          <a:p>
            <a:r>
              <a:rPr lang="en-US" sz="1200" dirty="0"/>
              <a:t>       goal(g0, 'The IoMT system satisfies its required properties',</a:t>
            </a:r>
          </a:p>
          <a:p>
            <a:r>
              <a:rPr lang="en-US" sz="1200" dirty="0"/>
              <a:t>            [context('The system is defined by the specifications \c</a:t>
            </a:r>
          </a:p>
          <a:p>
            <a:r>
              <a:rPr lang="en-US" sz="1200" dirty="0"/>
              <a:t>                     of its application plane and its platform plane ')],</a:t>
            </a:r>
          </a:p>
          <a:p>
            <a:r>
              <a:rPr lang="en-US" sz="1200" dirty="0"/>
              <a:t>            [strategy('The IoMT system depends on the synergy between \c</a:t>
            </a:r>
          </a:p>
          <a:p>
            <a:r>
              <a:rPr lang="en-US" sz="1200" dirty="0"/>
              <a:t>                      the platform and the application planes', [],</a:t>
            </a:r>
          </a:p>
          <a:p>
            <a:r>
              <a:rPr lang="en-US" sz="1200" dirty="0"/>
              <a:t>                      [goal(g1, 'The application plane behaves according to its \c</a:t>
            </a:r>
          </a:p>
          <a:p>
            <a:r>
              <a:rPr lang="en-US" sz="1200" dirty="0"/>
              <a:t>                            specification and required properties', [],</a:t>
            </a:r>
          </a:p>
          <a:p>
            <a:r>
              <a:rPr lang="en-US" sz="1200" dirty="0"/>
              <a:t>                            [</a:t>
            </a:r>
            <a:r>
              <a:rPr lang="en-US" sz="1200" dirty="0" err="1"/>
              <a:t>ac_pattern_ref</a:t>
            </a:r>
            <a:r>
              <a:rPr lang="en-US" sz="1200" dirty="0"/>
              <a:t>('</a:t>
            </a:r>
            <a:r>
              <a:rPr lang="en-US" sz="1200" dirty="0" err="1"/>
              <a:t>application_plane</a:t>
            </a:r>
            <a:r>
              <a:rPr lang="en-US" sz="1200" dirty="0"/>
              <a:t>', ['</a:t>
            </a:r>
            <a:r>
              <a:rPr lang="en-US" sz="1200" dirty="0" err="1"/>
              <a:t>App_Spec</a:t>
            </a:r>
            <a:r>
              <a:rPr lang="en-US" sz="1200" dirty="0"/>
              <a:t>'])] ),</a:t>
            </a:r>
          </a:p>
          <a:p>
            <a:r>
              <a:rPr lang="en-US" sz="1200" dirty="0"/>
              <a:t>                       goal(g2, 'The platform plane guarantees the properties \c</a:t>
            </a:r>
          </a:p>
          <a:p>
            <a:r>
              <a:rPr lang="en-US" sz="1200" dirty="0"/>
              <a:t>                           on which the application plane depends', [],</a:t>
            </a:r>
          </a:p>
          <a:p>
            <a:r>
              <a:rPr lang="en-US" sz="1200" dirty="0"/>
              <a:t>                           [</a:t>
            </a:r>
            <a:r>
              <a:rPr lang="en-US" sz="1200" dirty="0" err="1"/>
              <a:t>ac_pattern_ref</a:t>
            </a:r>
            <a:r>
              <a:rPr lang="en-US" sz="1200" dirty="0"/>
              <a:t>('</a:t>
            </a:r>
            <a:r>
              <a:rPr lang="en-US" sz="1200" dirty="0" err="1"/>
              <a:t>platform_plane</a:t>
            </a:r>
            <a:r>
              <a:rPr lang="en-US" sz="1200" dirty="0"/>
              <a:t>', ['</a:t>
            </a:r>
            <a:r>
              <a:rPr lang="en-US" sz="1200" dirty="0" err="1"/>
              <a:t>Platform_Spec</a:t>
            </a:r>
            <a:r>
              <a:rPr lang="en-US" sz="1200" dirty="0"/>
              <a:t>'])])</a:t>
            </a:r>
          </a:p>
          <a:p>
            <a:r>
              <a:rPr lang="en-US" sz="1200" dirty="0"/>
              <a:t>                      ]</a:t>
            </a:r>
          </a:p>
          <a:p>
            <a:r>
              <a:rPr lang="en-US" sz="1200" dirty="0"/>
              <a:t>                )</a:t>
            </a:r>
          </a:p>
          <a:p>
            <a:r>
              <a:rPr lang="en-US" sz="1200" dirty="0"/>
              <a:t>            ]</a:t>
            </a:r>
          </a:p>
          <a:p>
            <a:r>
              <a:rPr lang="en-US" sz="1200" dirty="0"/>
              <a:t>       )</a:t>
            </a:r>
          </a:p>
          <a:p>
            <a:r>
              <a:rPr lang="en-US" sz="1200" dirty="0"/>
              <a:t>).</a:t>
            </a:r>
          </a:p>
        </p:txBody>
      </p:sp>
      <p:sp>
        <p:nvSpPr>
          <p:cNvPr id="13" name="Line Callout 1 12">
            <a:extLst>
              <a:ext uri="{FF2B5EF4-FFF2-40B4-BE49-F238E27FC236}">
                <a16:creationId xmlns:a16="http://schemas.microsoft.com/office/drawing/2014/main" id="{72B7293C-4B29-7F48-9F92-AE08AB3F297E}"/>
              </a:ext>
            </a:extLst>
          </p:cNvPr>
          <p:cNvSpPr/>
          <p:nvPr/>
        </p:nvSpPr>
        <p:spPr>
          <a:xfrm>
            <a:off x="9606123" y="1087356"/>
            <a:ext cx="1512064" cy="289809"/>
          </a:xfrm>
          <a:prstGeom prst="borderCallout1">
            <a:avLst>
              <a:gd name="adj1" fmla="val 18750"/>
              <a:gd name="adj2" fmla="val -8333"/>
              <a:gd name="adj3" fmla="val 43909"/>
              <a:gd name="adj4" fmla="val -14087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Pattern Id</a:t>
            </a:r>
          </a:p>
        </p:txBody>
      </p:sp>
      <p:sp>
        <p:nvSpPr>
          <p:cNvPr id="14" name="Line Callout 1 13">
            <a:extLst>
              <a:ext uri="{FF2B5EF4-FFF2-40B4-BE49-F238E27FC236}">
                <a16:creationId xmlns:a16="http://schemas.microsoft.com/office/drawing/2014/main" id="{F513F975-EEB3-B348-B244-DE63ED013099}"/>
              </a:ext>
            </a:extLst>
          </p:cNvPr>
          <p:cNvSpPr/>
          <p:nvPr/>
        </p:nvSpPr>
        <p:spPr>
          <a:xfrm>
            <a:off x="9882881" y="1445658"/>
            <a:ext cx="1512064" cy="289809"/>
          </a:xfrm>
          <a:prstGeom prst="borderCallout1">
            <a:avLst>
              <a:gd name="adj1" fmla="val 18750"/>
              <a:gd name="adj2" fmla="val -8333"/>
              <a:gd name="adj3" fmla="val 30191"/>
              <a:gd name="adj4" fmla="val -501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Args</a:t>
            </a:r>
            <a:endParaRPr lang="en-US" dirty="0"/>
          </a:p>
        </p:txBody>
      </p:sp>
      <p:sp>
        <p:nvSpPr>
          <p:cNvPr id="15" name="Line Callout 1 14">
            <a:extLst>
              <a:ext uri="{FF2B5EF4-FFF2-40B4-BE49-F238E27FC236}">
                <a16:creationId xmlns:a16="http://schemas.microsoft.com/office/drawing/2014/main" id="{77A90177-3946-DD46-AF77-B5D39B0209D3}"/>
              </a:ext>
            </a:extLst>
          </p:cNvPr>
          <p:cNvSpPr/>
          <p:nvPr/>
        </p:nvSpPr>
        <p:spPr>
          <a:xfrm>
            <a:off x="10222736" y="1813187"/>
            <a:ext cx="1512064" cy="289809"/>
          </a:xfrm>
          <a:prstGeom prst="borderCallout1">
            <a:avLst>
              <a:gd name="adj1" fmla="val 18750"/>
              <a:gd name="adj2" fmla="val -8333"/>
              <a:gd name="adj3" fmla="val 43909"/>
              <a:gd name="adj4" fmla="val -3438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</a:t>
            </a:r>
          </a:p>
        </p:txBody>
      </p:sp>
      <p:sp>
        <p:nvSpPr>
          <p:cNvPr id="16" name="Line Callout 1 15">
            <a:extLst>
              <a:ext uri="{FF2B5EF4-FFF2-40B4-BE49-F238E27FC236}">
                <a16:creationId xmlns:a16="http://schemas.microsoft.com/office/drawing/2014/main" id="{A6F6A0ED-112F-C64D-BE51-4704CD32E318}"/>
              </a:ext>
            </a:extLst>
          </p:cNvPr>
          <p:cNvSpPr/>
          <p:nvPr/>
        </p:nvSpPr>
        <p:spPr>
          <a:xfrm>
            <a:off x="3767591" y="1357185"/>
            <a:ext cx="1512064" cy="289809"/>
          </a:xfrm>
          <a:prstGeom prst="borderCallout1">
            <a:avLst>
              <a:gd name="adj1" fmla="val 70193"/>
              <a:gd name="adj2" fmla="val 100782"/>
              <a:gd name="adj3" fmla="val 187949"/>
              <a:gd name="adj4" fmla="val 171354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 Id</a:t>
            </a:r>
          </a:p>
        </p:txBody>
      </p:sp>
      <p:sp>
        <p:nvSpPr>
          <p:cNvPr id="17" name="Line Callout 1 16">
            <a:extLst>
              <a:ext uri="{FF2B5EF4-FFF2-40B4-BE49-F238E27FC236}">
                <a16:creationId xmlns:a16="http://schemas.microsoft.com/office/drawing/2014/main" id="{C2F268C3-C06D-744C-AFDD-1EBE013CE55E}"/>
              </a:ext>
            </a:extLst>
          </p:cNvPr>
          <p:cNvSpPr/>
          <p:nvPr/>
        </p:nvSpPr>
        <p:spPr>
          <a:xfrm>
            <a:off x="3772223" y="2073938"/>
            <a:ext cx="1512064" cy="289809"/>
          </a:xfrm>
          <a:prstGeom prst="borderCallout1">
            <a:avLst>
              <a:gd name="adj1" fmla="val 70193"/>
              <a:gd name="adj2" fmla="val 100782"/>
              <a:gd name="adj3" fmla="val -17824"/>
              <a:gd name="adj4" fmla="val 187129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Claim</a:t>
            </a:r>
          </a:p>
        </p:txBody>
      </p:sp>
      <p:sp>
        <p:nvSpPr>
          <p:cNvPr id="18" name="Line Callout 1 17">
            <a:extLst>
              <a:ext uri="{FF2B5EF4-FFF2-40B4-BE49-F238E27FC236}">
                <a16:creationId xmlns:a16="http://schemas.microsoft.com/office/drawing/2014/main" id="{6E1726D0-EF2A-FB41-8DC3-9E7D7893D3CA}"/>
              </a:ext>
            </a:extLst>
          </p:cNvPr>
          <p:cNvSpPr/>
          <p:nvPr/>
        </p:nvSpPr>
        <p:spPr>
          <a:xfrm>
            <a:off x="3760965" y="2555854"/>
            <a:ext cx="1512064" cy="289809"/>
          </a:xfrm>
          <a:prstGeom prst="borderCallout1">
            <a:avLst>
              <a:gd name="adj1" fmla="val 70193"/>
              <a:gd name="adj2" fmla="val 100782"/>
              <a:gd name="adj3" fmla="val -100134"/>
              <a:gd name="adj4" fmla="val 164779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Context</a:t>
            </a:r>
          </a:p>
        </p:txBody>
      </p:sp>
      <p:sp>
        <p:nvSpPr>
          <p:cNvPr id="19" name="Line Callout 1 18">
            <a:extLst>
              <a:ext uri="{FF2B5EF4-FFF2-40B4-BE49-F238E27FC236}">
                <a16:creationId xmlns:a16="http://schemas.microsoft.com/office/drawing/2014/main" id="{88BA28F1-B8BD-C14B-8E28-788568AC00F6}"/>
              </a:ext>
            </a:extLst>
          </p:cNvPr>
          <p:cNvSpPr/>
          <p:nvPr/>
        </p:nvSpPr>
        <p:spPr>
          <a:xfrm>
            <a:off x="3744400" y="3001061"/>
            <a:ext cx="1512064" cy="289809"/>
          </a:xfrm>
          <a:prstGeom prst="borderCallout1">
            <a:avLst>
              <a:gd name="adj1" fmla="val 70193"/>
              <a:gd name="adj2" fmla="val 100782"/>
              <a:gd name="adj3" fmla="val -141288"/>
              <a:gd name="adj4" fmla="val 161493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Support</a:t>
            </a:r>
          </a:p>
        </p:txBody>
      </p:sp>
      <p:sp>
        <p:nvSpPr>
          <p:cNvPr id="20" name="Line Callout 1 19">
            <a:extLst>
              <a:ext uri="{FF2B5EF4-FFF2-40B4-BE49-F238E27FC236}">
                <a16:creationId xmlns:a16="http://schemas.microsoft.com/office/drawing/2014/main" id="{18E08612-54A4-9449-B649-CD63D2321AC6}"/>
              </a:ext>
            </a:extLst>
          </p:cNvPr>
          <p:cNvSpPr/>
          <p:nvPr/>
        </p:nvSpPr>
        <p:spPr>
          <a:xfrm>
            <a:off x="10467800" y="2694179"/>
            <a:ext cx="1512064" cy="289809"/>
          </a:xfrm>
          <a:prstGeom prst="borderCallout1">
            <a:avLst>
              <a:gd name="adj1" fmla="val 53045"/>
              <a:gd name="adj2" fmla="val -2418"/>
              <a:gd name="adj3" fmla="val 2753"/>
              <a:gd name="adj4" fmla="val -81059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Context</a:t>
            </a:r>
          </a:p>
        </p:txBody>
      </p:sp>
      <p:sp>
        <p:nvSpPr>
          <p:cNvPr id="21" name="Line Callout 1 20">
            <a:extLst>
              <a:ext uri="{FF2B5EF4-FFF2-40B4-BE49-F238E27FC236}">
                <a16:creationId xmlns:a16="http://schemas.microsoft.com/office/drawing/2014/main" id="{A11324F4-BD62-6F4B-B18E-A18082E9ED2A}"/>
              </a:ext>
            </a:extLst>
          </p:cNvPr>
          <p:cNvSpPr/>
          <p:nvPr/>
        </p:nvSpPr>
        <p:spPr>
          <a:xfrm>
            <a:off x="4154144" y="3422226"/>
            <a:ext cx="1512064" cy="289809"/>
          </a:xfrm>
          <a:prstGeom prst="borderCallout1">
            <a:avLst>
              <a:gd name="adj1" fmla="val 56474"/>
              <a:gd name="adj2" fmla="val 102754"/>
              <a:gd name="adj3" fmla="val -165294"/>
              <a:gd name="adj4" fmla="val 158207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Goal</a:t>
            </a:r>
          </a:p>
        </p:txBody>
      </p:sp>
      <p:sp>
        <p:nvSpPr>
          <p:cNvPr id="22" name="Line Callout 1 21">
            <a:extLst>
              <a:ext uri="{FF2B5EF4-FFF2-40B4-BE49-F238E27FC236}">
                <a16:creationId xmlns:a16="http://schemas.microsoft.com/office/drawing/2014/main" id="{1F2FD730-603B-BD40-9170-B2553DDBDEE5}"/>
              </a:ext>
            </a:extLst>
          </p:cNvPr>
          <p:cNvSpPr/>
          <p:nvPr/>
        </p:nvSpPr>
        <p:spPr>
          <a:xfrm>
            <a:off x="5522290" y="4873681"/>
            <a:ext cx="1512064" cy="289809"/>
          </a:xfrm>
          <a:prstGeom prst="borderCallout1">
            <a:avLst>
              <a:gd name="adj1" fmla="val 53045"/>
              <a:gd name="adj2" fmla="val -4389"/>
              <a:gd name="adj3" fmla="val 129646"/>
              <a:gd name="adj4" fmla="val -3964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Iterator</a:t>
            </a:r>
          </a:p>
        </p:txBody>
      </p:sp>
      <p:sp>
        <p:nvSpPr>
          <p:cNvPr id="23" name="Line Callout 1 22">
            <a:extLst>
              <a:ext uri="{FF2B5EF4-FFF2-40B4-BE49-F238E27FC236}">
                <a16:creationId xmlns:a16="http://schemas.microsoft.com/office/drawing/2014/main" id="{6F3875F4-3C4E-3446-B869-15C1E1F71621}"/>
              </a:ext>
            </a:extLst>
          </p:cNvPr>
          <p:cNvSpPr/>
          <p:nvPr/>
        </p:nvSpPr>
        <p:spPr>
          <a:xfrm>
            <a:off x="5522290" y="4873681"/>
            <a:ext cx="1512064" cy="289809"/>
          </a:xfrm>
          <a:prstGeom prst="borderCallout1">
            <a:avLst>
              <a:gd name="adj1" fmla="val 66763"/>
              <a:gd name="adj2" fmla="val 100125"/>
              <a:gd name="adj3" fmla="val 222244"/>
              <a:gd name="adj4" fmla="val 150977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Iterator</a:t>
            </a:r>
          </a:p>
        </p:txBody>
      </p:sp>
    </p:spTree>
    <p:extLst>
      <p:ext uri="{BB962C8B-B14F-4D97-AF65-F5344CB8AC3E}">
        <p14:creationId xmlns:p14="http://schemas.microsoft.com/office/powerpoint/2010/main" val="15431950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76C0DC3-F4AF-0749-AB57-5BAB95398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0" y="1523999"/>
            <a:ext cx="5410200" cy="4711999"/>
          </a:xfrm>
        </p:spPr>
        <p:txBody>
          <a:bodyPr>
            <a:normAutofit fontScale="92500" lnSpcReduction="20000"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</a:pPr>
            <a:r>
              <a:rPr lang="en-GB" sz="1800" i="1" dirty="0">
                <a:effectLst/>
                <a:latin typeface="CMMI12"/>
                <a:ea typeface="Times New Roman" panose="02020603050405020304" pitchFamily="18" charset="0"/>
              </a:rPr>
              <a:t>A</a:t>
            </a:r>
            <a:r>
              <a:rPr lang="en-GB" sz="1800" dirty="0">
                <a:effectLst/>
                <a:latin typeface="MSAM10"/>
                <a:ea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MSAM10"/>
                <a:ea typeface="Times New Roman" panose="02020603050405020304" pitchFamily="18" charset="0"/>
                <a:sym typeface="Symbol" pitchFamily="2" charset="2"/>
              </a:rPr>
              <a:t></a:t>
            </a:r>
            <a:r>
              <a:rPr lang="en-GB" sz="1800" dirty="0">
                <a:effectLst/>
                <a:latin typeface="MSAM10"/>
                <a:ea typeface="Times New Roman" panose="02020603050405020304" pitchFamily="18" charset="0"/>
              </a:rPr>
              <a:t> </a:t>
            </a:r>
            <a:r>
              <a:rPr lang="en-GB" sz="1800" i="1" dirty="0">
                <a:effectLst/>
                <a:latin typeface="CMMI12"/>
                <a:ea typeface="Times New Roman" panose="02020603050405020304" pitchFamily="18" charset="0"/>
              </a:rPr>
              <a:t>C</a:t>
            </a:r>
            <a:r>
              <a:rPr lang="en-GB" sz="1800" dirty="0">
                <a:effectLst/>
                <a:latin typeface="CMMI12"/>
                <a:ea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a rewrite rule where </a:t>
            </a:r>
            <a:r>
              <a:rPr lang="en-GB" sz="1800" i="1" dirty="0">
                <a:effectLst/>
                <a:latin typeface="CMMI12"/>
                <a:ea typeface="Times New Roman" panose="02020603050405020304" pitchFamily="18" charset="0"/>
              </a:rPr>
              <a:t>A</a:t>
            </a:r>
            <a:r>
              <a:rPr lang="en-GB" sz="1800" dirty="0">
                <a:effectLst/>
                <a:latin typeface="CMMI12"/>
                <a:ea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represents the sentential form to be rewritten and </a:t>
            </a:r>
            <a:r>
              <a:rPr lang="en-GB" sz="1800" i="1" dirty="0">
                <a:effectLst/>
                <a:latin typeface="CMMI12"/>
                <a:ea typeface="Times New Roman" panose="02020603050405020304" pitchFamily="18" charset="0"/>
              </a:rPr>
              <a:t>C</a:t>
            </a:r>
            <a:r>
              <a:rPr lang="en-GB" sz="1800" dirty="0">
                <a:effectLst/>
                <a:latin typeface="CMMI12"/>
                <a:ea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resultant sentential form.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</a:pPr>
            <a:r>
              <a:rPr lang="en-GB" sz="1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⟦</a:t>
            </a:r>
            <a:r>
              <a:rPr lang="en-GB" sz="1800" dirty="0">
                <a:effectLst/>
                <a:latin typeface="CMR12"/>
                <a:ea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𝓩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⟧𝓜</a:t>
            </a:r>
            <a:r>
              <a:rPr lang="en-GB" sz="1800" dirty="0">
                <a:effectLst/>
                <a:latin typeface="CMMI8"/>
                <a:ea typeface="Times New Roman" panose="02020603050405020304" pitchFamily="18" charset="0"/>
              </a:rPr>
              <a:t>,</a:t>
            </a:r>
            <a:r>
              <a:rPr lang="en-GB" sz="1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𝜇</a:t>
            </a:r>
            <a:r>
              <a:rPr lang="en-GB" sz="1800" dirty="0">
                <a:effectLst/>
                <a:latin typeface="CMMI8"/>
                <a:ea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denotes the instantiation of an assurance case element </a:t>
            </a:r>
            <a:r>
              <a:rPr lang="en-GB" sz="1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𝓩</a:t>
            </a:r>
            <a:r>
              <a:rPr lang="en-GB" sz="1800" dirty="0">
                <a:effectLst/>
                <a:latin typeface="CMMI12"/>
                <a:ea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 respect to the model </a:t>
            </a:r>
            <a:r>
              <a:rPr lang="en-GB" sz="1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𝓜</a:t>
            </a:r>
            <a:r>
              <a:rPr lang="en-GB" sz="1800" dirty="0">
                <a:effectLst/>
                <a:latin typeface="CMSY10"/>
                <a:ea typeface="Times New Roman" panose="02020603050405020304" pitchFamily="18" charset="0"/>
              </a:rPr>
              <a:t> 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using the mapping of formal parameters </a:t>
            </a:r>
            <a:r>
              <a:rPr lang="en-GB" sz="18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</a:rPr>
              <a:t>𝜇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Underlined symbols (e.g. </a:t>
            </a:r>
            <a:r>
              <a:rPr lang="en-GB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context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are terminal symbols of the pattern language.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Symbols with an initial capital (e.g.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Claim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are logical variables that represent a term of type suggested by the normal meaning of the symbol.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</a:pP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Bold symbols (e.g.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</a:t>
            </a:r>
            <a:r>
              <a:rPr lang="en-GB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then else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represent operational semantics.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</a:pPr>
            <a:r>
              <a:rPr lang="en-GB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Iterator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of the form: iterate(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Name, Category, X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b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where </a:t>
            </a:r>
            <a:r>
              <a:rPr lang="en-GB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one of: list(Values), expand(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Aarg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subjects(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PolArg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ss_flows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PolArg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nodes(</a:t>
            </a:r>
            <a:r>
              <a:rPr lang="en-GB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PolArg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modes(Subject), transitions(Subject)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1200"/>
              </a:spcAft>
              <a:buFont typeface="Symbol" pitchFamily="2" charset="2"/>
              <a:buChar char=""/>
            </a:pPr>
            <a:r>
              <a:rPr lang="en-GB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GB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ee Reference Manual for more info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47F4FA-F2FA-9146-95B5-13F2278B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C957F3-EC1A-7747-88ED-138653EB3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DDC54-CD93-454F-A7E0-909730FF3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D8938AA-D5E3-4E4B-967E-2BF87197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KB: PATTERNS (3) Instantiation rewrite rules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8D77D3-0391-CE4A-88CE-ECF34C1F3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209005"/>
            <a:ext cx="6096000" cy="526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9880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1D9D6B-88D4-5A4E-A565-9571E41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6562"/>
            <a:ext cx="11582400" cy="5577362"/>
          </a:xfrm>
        </p:spPr>
        <p:txBody>
          <a:bodyPr>
            <a:normAutofit/>
          </a:bodyPr>
          <a:lstStyle/>
          <a:p>
            <a:r>
              <a:rPr lang="en-US" sz="2000" dirty="0"/>
              <a:t>Define categories and how instances are generated and validated</a:t>
            </a:r>
          </a:p>
          <a:p>
            <a:pPr lvl="1"/>
            <a:r>
              <a:rPr lang="en-US" sz="2000" dirty="0"/>
              <a:t>Legacy categories include: axiom, certificate, </a:t>
            </a:r>
            <a:r>
              <a:rPr lang="en-US" sz="2000" dirty="0" err="1"/>
              <a:t>ichecker</a:t>
            </a:r>
            <a:r>
              <a:rPr lang="en-US" sz="2000" dirty="0"/>
              <a:t>, &amp; </a:t>
            </a:r>
            <a:r>
              <a:rPr lang="en-US" sz="2000" dirty="0" err="1"/>
              <a:t>ocra</a:t>
            </a:r>
            <a:endParaRPr lang="en-US" sz="2000" dirty="0"/>
          </a:p>
          <a:p>
            <a:pPr lvl="1"/>
            <a:r>
              <a:rPr lang="en-US" sz="2000" dirty="0"/>
              <a:t>New categories will correspond to the tools and analyses that are employed as part of the </a:t>
            </a:r>
            <a:r>
              <a:rPr lang="en-US" sz="2000" dirty="0" err="1"/>
              <a:t>MedSecurance</a:t>
            </a:r>
            <a:r>
              <a:rPr lang="en-US" sz="2000" dirty="0"/>
              <a:t> methodology and reflected in the </a:t>
            </a:r>
            <a:r>
              <a:rPr lang="en-US" sz="2000" dirty="0" err="1"/>
              <a:t>MedSecurance</a:t>
            </a:r>
            <a:r>
              <a:rPr lang="en-US" sz="2000" dirty="0"/>
              <a:t> argument PATTERNS</a:t>
            </a:r>
          </a:p>
          <a:p>
            <a:pPr lvl="1"/>
            <a:r>
              <a:rPr lang="en-US" sz="2000" dirty="0"/>
              <a:t>To define a new category and link it to an Agent:</a:t>
            </a:r>
          </a:p>
          <a:p>
            <a:pPr lvl="2"/>
            <a:r>
              <a:rPr lang="en-US" sz="1800" dirty="0"/>
              <a:t>Add to KB/EVIDENCE/</a:t>
            </a:r>
            <a:r>
              <a:rPr lang="en-US" sz="1800" dirty="0" err="1"/>
              <a:t>categories.pl</a:t>
            </a:r>
            <a:r>
              <a:rPr lang="en-US" sz="1800" dirty="0"/>
              <a:t> </a:t>
            </a:r>
            <a:r>
              <a:rPr lang="en-US" sz="1800" dirty="0" err="1"/>
              <a:t>statementd</a:t>
            </a:r>
            <a:r>
              <a:rPr lang="en-US" sz="1800" dirty="0"/>
              <a:t> of the form:</a:t>
            </a:r>
          </a:p>
          <a:p>
            <a:pPr lvl="3"/>
            <a:r>
              <a:rPr lang="en-US" sz="1400" dirty="0" err="1"/>
              <a:t>evidence_category</a:t>
            </a:r>
            <a:r>
              <a:rPr lang="en-US" sz="1400" dirty="0"/>
              <a:t>(</a:t>
            </a:r>
            <a:r>
              <a:rPr lang="en-US" sz="1400" dirty="0" err="1"/>
              <a:t>CatName</a:t>
            </a:r>
            <a:r>
              <a:rPr lang="en-US" sz="1400" dirty="0"/>
              <a:t>, </a:t>
            </a:r>
            <a:r>
              <a:rPr lang="en-US" sz="1400" dirty="0" err="1"/>
              <a:t>CatDesc</a:t>
            </a:r>
            <a:r>
              <a:rPr lang="en-US" sz="1400" dirty="0"/>
              <a:t>, </a:t>
            </a:r>
            <a:r>
              <a:rPr lang="en-US" sz="1400" dirty="0" err="1"/>
              <a:t>EvidenceType</a:t>
            </a:r>
            <a:r>
              <a:rPr lang="en-US" sz="1400" dirty="0"/>
              <a:t>, </a:t>
            </a:r>
            <a:r>
              <a:rPr lang="en-US" sz="1400" dirty="0" err="1"/>
              <a:t>ValMethodName</a:t>
            </a:r>
            <a:r>
              <a:rPr lang="en-US" sz="1400" dirty="0"/>
              <a:t>).</a:t>
            </a:r>
          </a:p>
          <a:p>
            <a:pPr lvl="3"/>
            <a:r>
              <a:rPr lang="en-US" sz="1400" dirty="0" err="1"/>
              <a:t>validation_method</a:t>
            </a:r>
            <a:r>
              <a:rPr lang="en-US" sz="1400" dirty="0"/>
              <a:t>(</a:t>
            </a:r>
            <a:r>
              <a:rPr lang="en-US" sz="1400" dirty="0" err="1"/>
              <a:t>ValMethodName</a:t>
            </a:r>
            <a:r>
              <a:rPr lang="en-US" sz="1400" dirty="0"/>
              <a:t>, </a:t>
            </a:r>
            <a:r>
              <a:rPr lang="en-US" sz="1400" dirty="0" err="1"/>
              <a:t>ValDescription</a:t>
            </a:r>
            <a:r>
              <a:rPr lang="en-US" sz="1400" dirty="0"/>
              <a:t>, </a:t>
            </a:r>
            <a:r>
              <a:rPr lang="en-US" sz="1400" dirty="0" err="1"/>
              <a:t>ValidationAgent</a:t>
            </a:r>
            <a:r>
              <a:rPr lang="en-US" sz="1400" dirty="0"/>
              <a:t>).</a:t>
            </a:r>
          </a:p>
          <a:p>
            <a:pPr lvl="3"/>
            <a:r>
              <a:rPr lang="en-US" sz="1400" dirty="0" err="1"/>
              <a:t>validation_agent</a:t>
            </a:r>
            <a:r>
              <a:rPr lang="en-US" sz="1400" dirty="0"/>
              <a:t>(</a:t>
            </a:r>
            <a:r>
              <a:rPr lang="en-US" sz="1400" dirty="0" err="1"/>
              <a:t>AgentName</a:t>
            </a:r>
            <a:r>
              <a:rPr lang="en-US" sz="1400" dirty="0"/>
              <a:t>, </a:t>
            </a:r>
            <a:r>
              <a:rPr lang="en-US" sz="1400" dirty="0" err="1"/>
              <a:t>AgentArgs</a:t>
            </a:r>
            <a:r>
              <a:rPr lang="en-US" sz="1400" dirty="0"/>
              <a:t>, </a:t>
            </a:r>
            <a:r>
              <a:rPr lang="en-US" sz="1400" dirty="0" err="1"/>
              <a:t>AgentResult</a:t>
            </a:r>
            <a:r>
              <a:rPr lang="en-US" sz="1400" dirty="0"/>
              <a:t>)</a:t>
            </a:r>
          </a:p>
          <a:p>
            <a:pPr lvl="3"/>
            <a:r>
              <a:rPr lang="en-US" sz="1400" dirty="0" err="1"/>
              <a:t>CatDesc</a:t>
            </a:r>
            <a:r>
              <a:rPr lang="en-US" sz="1400" dirty="0"/>
              <a:t> and </a:t>
            </a:r>
            <a:r>
              <a:rPr lang="en-US" sz="1400" dirty="0" err="1"/>
              <a:t>ValDescription</a:t>
            </a:r>
            <a:r>
              <a:rPr lang="en-US" sz="1400" dirty="0"/>
              <a:t> are single-quoted free text</a:t>
            </a:r>
          </a:p>
          <a:p>
            <a:pPr lvl="3"/>
            <a:r>
              <a:rPr lang="en-US" sz="1400" dirty="0" err="1"/>
              <a:t>EvidenceType</a:t>
            </a:r>
            <a:r>
              <a:rPr lang="en-US" sz="1400" dirty="0"/>
              <a:t> is reserved for future formal type-checking and inference purposes (use _ for now)</a:t>
            </a:r>
          </a:p>
          <a:p>
            <a:pPr lvl="2"/>
            <a:r>
              <a:rPr lang="en-US" sz="1800" dirty="0"/>
              <a:t>Provide an Agent in </a:t>
            </a:r>
            <a:r>
              <a:rPr lang="en-US" sz="1800" dirty="0" err="1"/>
              <a:t>src</a:t>
            </a:r>
            <a:r>
              <a:rPr lang="en-US" sz="1800" dirty="0"/>
              <a:t>/agents for the tool or process that performs method</a:t>
            </a:r>
          </a:p>
          <a:p>
            <a:pPr lvl="3"/>
            <a:r>
              <a:rPr lang="en-US" sz="1400" dirty="0"/>
              <a:t>Create a Prolog file with name &lt;tool name&gt;_</a:t>
            </a:r>
            <a:r>
              <a:rPr lang="en-US" sz="1400" dirty="0" err="1"/>
              <a:t>agent.pl</a:t>
            </a:r>
            <a:r>
              <a:rPr lang="en-US" sz="1400" dirty="0"/>
              <a:t> using existing agents as examples</a:t>
            </a:r>
          </a:p>
          <a:p>
            <a:pPr lvl="3"/>
            <a:r>
              <a:rPr lang="en-US" sz="1400" dirty="0"/>
              <a:t>OR if preferred to write the full agent in another language, make &lt;tool name&gt;_</a:t>
            </a:r>
            <a:r>
              <a:rPr lang="en-US" sz="1400" dirty="0" err="1"/>
              <a:t>agent.pl</a:t>
            </a:r>
            <a:r>
              <a:rPr lang="en-US" sz="1400" dirty="0"/>
              <a:t> a minimal Prolog file to launch the actual agent (again following existing examples)</a:t>
            </a:r>
          </a:p>
          <a:p>
            <a:pPr lvl="2"/>
            <a:r>
              <a:rPr lang="en-US" sz="1800" dirty="0"/>
              <a:t>O-ETB uses declared validation agents to dynamically load agents (without </a:t>
            </a:r>
            <a:r>
              <a:rPr lang="en-US" sz="1800" dirty="0" err="1"/>
              <a:t>src</a:t>
            </a:r>
            <a:r>
              <a:rPr lang="en-US" sz="1800" dirty="0"/>
              <a:t> change)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787A5-1FC9-2F45-AB23-933A2890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2C9BB-D497-164E-8DAB-484B7F54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AA508-C4AE-6549-AF7F-ECA47C2F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73886B-DEC6-614B-BBE5-313FB233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Evidence Categories (1)</a:t>
            </a: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47BB2DD9-2551-324B-A351-1071BD7E589A}"/>
              </a:ext>
            </a:extLst>
          </p:cNvPr>
          <p:cNvSpPr/>
          <p:nvPr/>
        </p:nvSpPr>
        <p:spPr>
          <a:xfrm>
            <a:off x="9728200" y="2679402"/>
            <a:ext cx="1676400" cy="762000"/>
          </a:xfrm>
          <a:prstGeom prst="wedgeRoundRectCallout">
            <a:avLst>
              <a:gd name="adj1" fmla="val -102732"/>
              <a:gd name="adj2" fmla="val 8784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Establishes category and links to Validation Method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22C1B1C7-9F91-DD4E-BB75-DE5A38F62403}"/>
              </a:ext>
            </a:extLst>
          </p:cNvPr>
          <p:cNvSpPr/>
          <p:nvPr/>
        </p:nvSpPr>
        <p:spPr>
          <a:xfrm>
            <a:off x="10033000" y="3517602"/>
            <a:ext cx="1676400" cy="762000"/>
          </a:xfrm>
          <a:prstGeom prst="wedgeRoundRectCallout">
            <a:avLst>
              <a:gd name="adj1" fmla="val -127928"/>
              <a:gd name="adj2" fmla="val 1774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Links Validation Method to an Agent for process or tool</a:t>
            </a: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9987097E-82AE-D140-8B46-A08ADFED2625}"/>
              </a:ext>
            </a:extLst>
          </p:cNvPr>
          <p:cNvSpPr/>
          <p:nvPr/>
        </p:nvSpPr>
        <p:spPr>
          <a:xfrm>
            <a:off x="9525000" y="4343400"/>
            <a:ext cx="1879600" cy="284072"/>
          </a:xfrm>
          <a:prstGeom prst="wedgeRoundRectCallout">
            <a:avLst>
              <a:gd name="adj1" fmla="val -163938"/>
              <a:gd name="adj2" fmla="val -686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Agent Name &amp; I/O formats</a:t>
            </a:r>
          </a:p>
        </p:txBody>
      </p:sp>
    </p:spTree>
    <p:extLst>
      <p:ext uri="{BB962C8B-B14F-4D97-AF65-F5344CB8AC3E}">
        <p14:creationId xmlns:p14="http://schemas.microsoft.com/office/powerpoint/2010/main" val="21124623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787A5-1FC9-2F45-AB23-933A2890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2C9BB-D497-164E-8DAB-484B7F54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AA508-C4AE-6549-AF7F-ECA47C2F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73886B-DEC6-614B-BBE5-313FB233A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234137"/>
            <a:ext cx="10363200" cy="856525"/>
          </a:xfrm>
        </p:spPr>
        <p:txBody>
          <a:bodyPr/>
          <a:lstStyle/>
          <a:p>
            <a:r>
              <a:rPr lang="en-US" dirty="0"/>
              <a:t>KB: Evidence Categories (2)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99BBF3-FDA0-FE4C-AA0E-1CD7A7D61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57200" y="1219620"/>
            <a:ext cx="5105400" cy="5105400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 sz="1400" dirty="0"/>
              <a:t>	To define a new category:</a:t>
            </a:r>
          </a:p>
          <a:p>
            <a:pPr lvl="2"/>
            <a:r>
              <a:rPr lang="en-US" sz="1200" dirty="0"/>
              <a:t>Add to KB/EVIDENCE/</a:t>
            </a:r>
            <a:r>
              <a:rPr lang="en-US" sz="1200" dirty="0" err="1"/>
              <a:t>categories.pl</a:t>
            </a:r>
            <a:endParaRPr lang="en-US" sz="1200" dirty="0"/>
          </a:p>
          <a:p>
            <a:pPr lvl="3"/>
            <a:r>
              <a:rPr lang="en-US" sz="1100" dirty="0" err="1"/>
              <a:t>evidence_category</a:t>
            </a:r>
            <a:r>
              <a:rPr lang="en-US" sz="1100" dirty="0"/>
              <a:t>(</a:t>
            </a:r>
            <a:r>
              <a:rPr lang="en-US" sz="1100" dirty="0" err="1"/>
              <a:t>CatName</a:t>
            </a:r>
            <a:r>
              <a:rPr lang="en-US" sz="1100" dirty="0"/>
              <a:t>, </a:t>
            </a:r>
            <a:r>
              <a:rPr lang="en-US" sz="1100" dirty="0" err="1"/>
              <a:t>CatDesc</a:t>
            </a:r>
            <a:r>
              <a:rPr lang="en-US" sz="1100" dirty="0"/>
              <a:t>, </a:t>
            </a:r>
            <a:r>
              <a:rPr lang="en-US" sz="1100" dirty="0" err="1"/>
              <a:t>CatType</a:t>
            </a:r>
            <a:r>
              <a:rPr lang="en-US" sz="1100" dirty="0"/>
              <a:t>, </a:t>
            </a:r>
            <a:r>
              <a:rPr lang="en-US" sz="1100" dirty="0" err="1"/>
              <a:t>CatValidationMethod</a:t>
            </a:r>
            <a:r>
              <a:rPr lang="en-US" sz="1100" dirty="0"/>
              <a:t>).</a:t>
            </a:r>
          </a:p>
          <a:p>
            <a:pPr lvl="4"/>
            <a:r>
              <a:rPr lang="en-US" sz="900" dirty="0" err="1"/>
              <a:t>CatDesc</a:t>
            </a:r>
            <a:r>
              <a:rPr lang="en-US" sz="900" dirty="0"/>
              <a:t> is an atom</a:t>
            </a:r>
          </a:p>
          <a:p>
            <a:pPr lvl="4"/>
            <a:r>
              <a:rPr lang="en-US" sz="900" dirty="0" err="1"/>
              <a:t>CatType</a:t>
            </a:r>
            <a:r>
              <a:rPr lang="en-US" sz="900" dirty="0"/>
              <a:t> is reserved for future formal type-checking and inference purposes</a:t>
            </a:r>
          </a:p>
          <a:p>
            <a:pPr lvl="4"/>
            <a:r>
              <a:rPr lang="en-US" sz="900" dirty="0" err="1"/>
              <a:t>CatValidationMethod</a:t>
            </a:r>
            <a:r>
              <a:rPr lang="en-US" sz="900" dirty="0"/>
              <a:t> is an atom referencing …</a:t>
            </a:r>
          </a:p>
          <a:p>
            <a:pPr lvl="3"/>
            <a:r>
              <a:rPr lang="en-US" sz="1100" dirty="0" err="1"/>
              <a:t>validation_method</a:t>
            </a:r>
            <a:r>
              <a:rPr lang="en-US" sz="1100" dirty="0"/>
              <a:t>(</a:t>
            </a:r>
            <a:r>
              <a:rPr lang="en-US" sz="1100" dirty="0" err="1"/>
              <a:t>ValName</a:t>
            </a:r>
            <a:r>
              <a:rPr lang="en-US" sz="1100" dirty="0"/>
              <a:t>, </a:t>
            </a:r>
            <a:r>
              <a:rPr lang="en-US" sz="1100" dirty="0" err="1"/>
              <a:t>ValDesc</a:t>
            </a:r>
            <a:r>
              <a:rPr lang="en-US" sz="1100" dirty="0"/>
              <a:t>, </a:t>
            </a:r>
            <a:r>
              <a:rPr lang="en-US" sz="1100" dirty="0" err="1"/>
              <a:t>ValidationAgent</a:t>
            </a:r>
            <a:r>
              <a:rPr lang="en-US" sz="1100" dirty="0"/>
              <a:t>).</a:t>
            </a:r>
          </a:p>
          <a:p>
            <a:pPr lvl="4"/>
            <a:r>
              <a:rPr lang="en-US" sz="900" dirty="0" err="1"/>
              <a:t>ValName</a:t>
            </a:r>
            <a:r>
              <a:rPr lang="en-US" sz="900" dirty="0"/>
              <a:t> is an atom</a:t>
            </a:r>
          </a:p>
          <a:p>
            <a:pPr lvl="4"/>
            <a:r>
              <a:rPr lang="en-US" sz="900" dirty="0" err="1"/>
              <a:t>ValDesc</a:t>
            </a:r>
            <a:r>
              <a:rPr lang="en-US" sz="900" dirty="0"/>
              <a:t> is a single-quoted string (an atom)</a:t>
            </a:r>
          </a:p>
          <a:p>
            <a:pPr lvl="4"/>
            <a:r>
              <a:rPr lang="en-US" sz="900" dirty="0" err="1"/>
              <a:t>ValidationAgent</a:t>
            </a:r>
            <a:r>
              <a:rPr lang="en-US" sz="900" dirty="0"/>
              <a:t> is an atom</a:t>
            </a:r>
          </a:p>
          <a:p>
            <a:pPr lvl="3"/>
            <a:r>
              <a:rPr lang="en-US" sz="1100" dirty="0" err="1"/>
              <a:t>validation_agent</a:t>
            </a:r>
            <a:r>
              <a:rPr lang="en-US" sz="1100" dirty="0"/>
              <a:t>(</a:t>
            </a:r>
            <a:r>
              <a:rPr lang="en-US" sz="1100" dirty="0" err="1"/>
              <a:t>AgentName</a:t>
            </a:r>
            <a:r>
              <a:rPr lang="en-US" sz="1100" dirty="0"/>
              <a:t>, </a:t>
            </a:r>
            <a:r>
              <a:rPr lang="en-US" sz="1100" dirty="0" err="1"/>
              <a:t>AgentArgs</a:t>
            </a:r>
            <a:r>
              <a:rPr lang="en-US" sz="1100" dirty="0"/>
              <a:t>, </a:t>
            </a:r>
            <a:r>
              <a:rPr lang="en-US" sz="1100" dirty="0" err="1"/>
              <a:t>AgentResult</a:t>
            </a:r>
            <a:r>
              <a:rPr lang="en-US" sz="1100" dirty="0"/>
              <a:t>).</a:t>
            </a:r>
          </a:p>
          <a:p>
            <a:pPr lvl="4"/>
            <a:r>
              <a:rPr lang="en-US" sz="900" dirty="0" err="1"/>
              <a:t>AgentName</a:t>
            </a:r>
            <a:r>
              <a:rPr lang="en-US" sz="900" dirty="0"/>
              <a:t> is an atom</a:t>
            </a:r>
          </a:p>
          <a:p>
            <a:pPr lvl="4"/>
            <a:r>
              <a:rPr lang="en-US" sz="900" dirty="0" err="1"/>
              <a:t>AgentArgs</a:t>
            </a:r>
            <a:r>
              <a:rPr lang="en-US" sz="900" dirty="0"/>
              <a:t> is a term</a:t>
            </a:r>
          </a:p>
          <a:p>
            <a:pPr lvl="4"/>
            <a:r>
              <a:rPr lang="en-US" sz="900" dirty="0" err="1"/>
              <a:t>AgentResult</a:t>
            </a:r>
            <a:r>
              <a:rPr lang="en-US" sz="900" dirty="0"/>
              <a:t> is a term</a:t>
            </a:r>
            <a:br>
              <a:rPr lang="en-US" sz="900" dirty="0"/>
            </a:br>
            <a:r>
              <a:rPr lang="en-US" sz="900" dirty="0"/>
              <a:t>Where term is an atom, compound or list</a:t>
            </a:r>
            <a:br>
              <a:rPr lang="en-US" sz="900" dirty="0"/>
            </a:br>
            <a:r>
              <a:rPr lang="en-US" sz="900" dirty="0"/>
              <a:t>E.g. compound is name( term, term, … )</a:t>
            </a:r>
            <a:br>
              <a:rPr lang="en-US" sz="900" dirty="0"/>
            </a:br>
            <a:endParaRPr lang="en-US" sz="900" dirty="0"/>
          </a:p>
          <a:p>
            <a:pPr lvl="2"/>
            <a:r>
              <a:rPr lang="en-US" sz="1200" dirty="0"/>
              <a:t>Provide an Agent in </a:t>
            </a:r>
            <a:r>
              <a:rPr lang="en-US" sz="1200" dirty="0" err="1"/>
              <a:t>src</a:t>
            </a:r>
            <a:r>
              <a:rPr lang="en-US" sz="1200" dirty="0"/>
              <a:t>/agents (to be changed to KB/AGENTS) for the tool/process that performs method</a:t>
            </a:r>
          </a:p>
          <a:p>
            <a:pPr lvl="3"/>
            <a:r>
              <a:rPr lang="en-US" sz="1100" dirty="0"/>
              <a:t>Using existing agents as examples, create a Prolog file with name &lt;tool name&gt;_</a:t>
            </a:r>
            <a:r>
              <a:rPr lang="en-US" sz="1100" dirty="0" err="1"/>
              <a:t>agent.pl</a:t>
            </a:r>
            <a:endParaRPr lang="en-US" sz="1100" dirty="0"/>
          </a:p>
          <a:p>
            <a:pPr lvl="3"/>
            <a:r>
              <a:rPr lang="en-US" sz="1100" dirty="0"/>
              <a:t>OR if preferred to write the full agent in another language, make &lt;tool name&gt;_</a:t>
            </a:r>
            <a:r>
              <a:rPr lang="en-US" sz="1100" dirty="0" err="1"/>
              <a:t>agent.pl</a:t>
            </a:r>
            <a:r>
              <a:rPr lang="en-US" sz="1100" dirty="0"/>
              <a:t> a minimal Prolog file to launch the actual agent (again following existing examples)</a:t>
            </a:r>
          </a:p>
          <a:p>
            <a:pPr lvl="2"/>
            <a:r>
              <a:rPr lang="en-US" sz="1200" dirty="0"/>
              <a:t>O-ETB uses </a:t>
            </a:r>
            <a:r>
              <a:rPr lang="en-US" sz="1200" dirty="0" err="1"/>
              <a:t>validation_agent</a:t>
            </a:r>
            <a:r>
              <a:rPr lang="en-US" sz="1200" dirty="0"/>
              <a:t> declarations to dynamically load agent code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AA9090-CDA9-594D-B738-B798E8BF1670}"/>
              </a:ext>
            </a:extLst>
          </p:cNvPr>
          <p:cNvSpPr txBox="1"/>
          <p:nvPr/>
        </p:nvSpPr>
        <p:spPr>
          <a:xfrm>
            <a:off x="4953000" y="1371180"/>
            <a:ext cx="7086600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% Knowledge base of evidence categories, validation methods and validation agents</a:t>
            </a:r>
          </a:p>
          <a:p>
            <a:endParaRPr lang="en-US" sz="1200" dirty="0"/>
          </a:p>
          <a:p>
            <a:r>
              <a:rPr lang="en-US" sz="1200" dirty="0"/>
              <a:t>%	</a:t>
            </a:r>
            <a:r>
              <a:rPr lang="en-US" sz="1200" dirty="0" err="1"/>
              <a:t>evidence_category</a:t>
            </a:r>
            <a:r>
              <a:rPr lang="en-US" sz="1200" dirty="0"/>
              <a:t>(</a:t>
            </a:r>
            <a:r>
              <a:rPr lang="en-US" sz="1200" dirty="0" err="1"/>
              <a:t>CatName</a:t>
            </a:r>
            <a:r>
              <a:rPr lang="en-US" sz="1200" dirty="0"/>
              <a:t>, </a:t>
            </a:r>
            <a:r>
              <a:rPr lang="en-US" sz="1200" dirty="0" err="1"/>
              <a:t>CatDescription</a:t>
            </a:r>
            <a:r>
              <a:rPr lang="en-US" sz="1200" dirty="0"/>
              <a:t>, </a:t>
            </a:r>
            <a:r>
              <a:rPr lang="en-US" sz="1200" dirty="0" err="1"/>
              <a:t>CatType</a:t>
            </a:r>
            <a:r>
              <a:rPr lang="en-US" sz="1200" dirty="0"/>
              <a:t>, </a:t>
            </a:r>
            <a:r>
              <a:rPr lang="en-US" sz="1200" dirty="0" err="1"/>
              <a:t>CatValidationMethod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 err="1"/>
              <a:t>evidence_category</a:t>
            </a:r>
            <a:r>
              <a:rPr lang="en-US" sz="1200" dirty="0"/>
              <a:t>(axiom, _, _, </a:t>
            </a:r>
            <a:r>
              <a:rPr lang="en-US" sz="1200" dirty="0" err="1"/>
              <a:t>fact_check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evidence_category</a:t>
            </a:r>
            <a:r>
              <a:rPr lang="en-US" sz="1200" dirty="0"/>
              <a:t>(certificate, _, _, </a:t>
            </a:r>
            <a:r>
              <a:rPr lang="en-US" sz="1200" dirty="0" err="1"/>
              <a:t>cert_check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evidence_category</a:t>
            </a:r>
            <a:r>
              <a:rPr lang="en-US" sz="1200" dirty="0"/>
              <a:t>(</a:t>
            </a:r>
            <a:r>
              <a:rPr lang="en-US" sz="1200" dirty="0" err="1"/>
              <a:t>ichecker</a:t>
            </a:r>
            <a:r>
              <a:rPr lang="en-US" sz="1200" dirty="0"/>
              <a:t>, _, _, </a:t>
            </a:r>
            <a:r>
              <a:rPr lang="en-US" sz="1200" dirty="0" err="1"/>
              <a:t>invariant_check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evidence_category</a:t>
            </a:r>
            <a:r>
              <a:rPr lang="en-US" sz="1200" dirty="0"/>
              <a:t>(contract, _, _, </a:t>
            </a:r>
            <a:r>
              <a:rPr lang="en-US" sz="1200" dirty="0" err="1"/>
              <a:t>contract_check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evidence_category</a:t>
            </a:r>
            <a:r>
              <a:rPr lang="en-US" sz="1200" dirty="0"/>
              <a:t>(property, _, _, </a:t>
            </a:r>
            <a:r>
              <a:rPr lang="en-US" sz="1200" dirty="0" err="1"/>
              <a:t>property_check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evidence_category</a:t>
            </a:r>
            <a:r>
              <a:rPr lang="en-US" sz="1200" dirty="0"/>
              <a:t>(unknown, _, _, _).</a:t>
            </a:r>
          </a:p>
          <a:p>
            <a:endParaRPr lang="en-US" sz="1200" dirty="0"/>
          </a:p>
          <a:p>
            <a:r>
              <a:rPr lang="en-US" sz="1200" dirty="0"/>
              <a:t>%	</a:t>
            </a:r>
            <a:r>
              <a:rPr lang="en-US" sz="1200" dirty="0" err="1"/>
              <a:t>validation_method</a:t>
            </a:r>
            <a:r>
              <a:rPr lang="en-US" sz="1200" dirty="0"/>
              <a:t>(</a:t>
            </a:r>
            <a:r>
              <a:rPr lang="en-US" sz="1200" dirty="0" err="1"/>
              <a:t>ValName</a:t>
            </a:r>
            <a:r>
              <a:rPr lang="en-US" sz="1200" dirty="0"/>
              <a:t>, </a:t>
            </a:r>
            <a:r>
              <a:rPr lang="en-US" sz="1200" dirty="0" err="1"/>
              <a:t>ValDescription</a:t>
            </a:r>
            <a:r>
              <a:rPr lang="en-US" sz="1200" dirty="0"/>
              <a:t>, </a:t>
            </a:r>
            <a:r>
              <a:rPr lang="en-US" sz="1200" dirty="0" err="1"/>
              <a:t>ValidationAgent</a:t>
            </a:r>
            <a:r>
              <a:rPr lang="en-US" sz="1200" dirty="0"/>
              <a:t>)</a:t>
            </a:r>
          </a:p>
          <a:p>
            <a:endParaRPr lang="en-US" sz="1200" dirty="0"/>
          </a:p>
          <a:p>
            <a:r>
              <a:rPr lang="en-US" sz="1200" dirty="0" err="1"/>
              <a:t>validation_method</a:t>
            </a:r>
            <a:r>
              <a:rPr lang="en-US" sz="1200" dirty="0"/>
              <a:t>(</a:t>
            </a:r>
            <a:r>
              <a:rPr lang="en-US" sz="1200" dirty="0" err="1"/>
              <a:t>fact_check</a:t>
            </a:r>
            <a:r>
              <a:rPr lang="en-US" sz="1200" dirty="0"/>
              <a:t>, 'Evidence is validated by declared premises', </a:t>
            </a:r>
            <a:r>
              <a:rPr lang="en-US" sz="1200" dirty="0" err="1"/>
              <a:t>axiom_agent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validation_method</a:t>
            </a:r>
            <a:r>
              <a:rPr lang="en-US" sz="1200" dirty="0"/>
              <a:t>(</a:t>
            </a:r>
            <a:r>
              <a:rPr lang="en-US" sz="1200" dirty="0" err="1"/>
              <a:t>cert_check</a:t>
            </a:r>
            <a:r>
              <a:rPr lang="en-US" sz="1200" dirty="0"/>
              <a:t>, 'Certificate exists and is valid', </a:t>
            </a:r>
            <a:r>
              <a:rPr lang="en-US" sz="1200" dirty="0" err="1"/>
              <a:t>certificate_agent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validation_method</a:t>
            </a:r>
            <a:r>
              <a:rPr lang="en-US" sz="1200" dirty="0"/>
              <a:t>(</a:t>
            </a:r>
            <a:r>
              <a:rPr lang="en-US" sz="1200" dirty="0" err="1"/>
              <a:t>invariant_check</a:t>
            </a:r>
            <a:r>
              <a:rPr lang="en-US" sz="1200" dirty="0"/>
              <a:t>, 'Invariant is valid for artefact', </a:t>
            </a:r>
            <a:r>
              <a:rPr lang="en-US" sz="1200" dirty="0" err="1"/>
              <a:t>ichecker_agent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validation_method</a:t>
            </a:r>
            <a:r>
              <a:rPr lang="en-US" sz="1200" dirty="0"/>
              <a:t>(</a:t>
            </a:r>
            <a:r>
              <a:rPr lang="en-US" sz="1200" dirty="0" err="1"/>
              <a:t>contract_check</a:t>
            </a:r>
            <a:r>
              <a:rPr lang="en-US" sz="1200" dirty="0"/>
              <a:t>, 'Contract consistency and refinement is valid', </a:t>
            </a:r>
            <a:r>
              <a:rPr lang="en-US" sz="1200" dirty="0" err="1"/>
              <a:t>ocra_agent</a:t>
            </a:r>
            <a:r>
              <a:rPr lang="en-US" sz="1200" dirty="0"/>
              <a:t>).</a:t>
            </a:r>
          </a:p>
          <a:p>
            <a:r>
              <a:rPr lang="en-US" sz="1200" dirty="0" err="1"/>
              <a:t>validation_method</a:t>
            </a:r>
            <a:r>
              <a:rPr lang="en-US" sz="1200" dirty="0"/>
              <a:t>(</a:t>
            </a:r>
            <a:r>
              <a:rPr lang="en-US" sz="1200" dirty="0" err="1"/>
              <a:t>property_check</a:t>
            </a:r>
            <a:r>
              <a:rPr lang="en-US" sz="1200" dirty="0"/>
              <a:t>, 'Behavior property is valid for artefact', </a:t>
            </a:r>
            <a:r>
              <a:rPr lang="en-US" sz="1200" dirty="0" err="1"/>
              <a:t>nusmv_agent</a:t>
            </a:r>
            <a:r>
              <a:rPr lang="en-US" sz="1200" dirty="0"/>
              <a:t>).</a:t>
            </a:r>
          </a:p>
          <a:p>
            <a:endParaRPr lang="en-US" sz="1200" dirty="0"/>
          </a:p>
          <a:p>
            <a:r>
              <a:rPr lang="en-US" sz="1200" dirty="0"/>
              <a:t>%	</a:t>
            </a:r>
            <a:r>
              <a:rPr lang="en-US" sz="1200" dirty="0" err="1"/>
              <a:t>validation_agent</a:t>
            </a:r>
            <a:r>
              <a:rPr lang="en-US" sz="1200" dirty="0"/>
              <a:t>(</a:t>
            </a:r>
            <a:r>
              <a:rPr lang="en-US" sz="1200" dirty="0" err="1"/>
              <a:t>AgentName</a:t>
            </a:r>
            <a:r>
              <a:rPr lang="en-US" sz="1200" dirty="0"/>
              <a:t>, </a:t>
            </a:r>
            <a:r>
              <a:rPr lang="en-US" sz="1200" dirty="0" err="1"/>
              <a:t>AgentArgs</a:t>
            </a:r>
            <a:r>
              <a:rPr lang="en-US" sz="1200" dirty="0"/>
              <a:t>, </a:t>
            </a:r>
            <a:r>
              <a:rPr lang="en-US" sz="1200" dirty="0" err="1"/>
              <a:t>AgentResult</a:t>
            </a:r>
            <a:r>
              <a:rPr lang="en-US" sz="1200" dirty="0"/>
              <a:t>)</a:t>
            </a:r>
          </a:p>
          <a:p>
            <a:r>
              <a:rPr lang="en-US" sz="1200" dirty="0"/>
              <a:t>%		</a:t>
            </a:r>
            <a:r>
              <a:rPr lang="en-US" sz="1200" dirty="0" err="1"/>
              <a:t>AgentArgs</a:t>
            </a:r>
            <a:r>
              <a:rPr lang="en-US" sz="1200" dirty="0"/>
              <a:t> / </a:t>
            </a:r>
            <a:r>
              <a:rPr lang="en-US" sz="1200" dirty="0" err="1"/>
              <a:t>AgentResult</a:t>
            </a:r>
            <a:r>
              <a:rPr lang="en-US" sz="1200" dirty="0"/>
              <a:t> are: &lt;term&gt; ::= &lt;atom&gt; | &lt;compound term&gt; | &lt;list&gt;</a:t>
            </a:r>
          </a:p>
          <a:p>
            <a:endParaRPr lang="en-US" sz="1200" dirty="0"/>
          </a:p>
          <a:p>
            <a:r>
              <a:rPr lang="en-US" sz="1200" dirty="0" err="1"/>
              <a:t>validation_agent</a:t>
            </a:r>
            <a:r>
              <a:rPr lang="en-US" sz="1200" dirty="0"/>
              <a:t>(</a:t>
            </a:r>
            <a:r>
              <a:rPr lang="en-US" sz="1200" dirty="0" err="1"/>
              <a:t>axiom_agent</a:t>
            </a:r>
            <a:r>
              <a:rPr lang="en-US" sz="1200" dirty="0"/>
              <a:t>, _, _).</a:t>
            </a:r>
          </a:p>
          <a:p>
            <a:r>
              <a:rPr lang="en-US" sz="1200" dirty="0" err="1"/>
              <a:t>validation_agent</a:t>
            </a:r>
            <a:r>
              <a:rPr lang="en-US" sz="1200" dirty="0"/>
              <a:t>(</a:t>
            </a:r>
            <a:r>
              <a:rPr lang="en-US" sz="1200" dirty="0" err="1"/>
              <a:t>certificate_agent</a:t>
            </a:r>
            <a:r>
              <a:rPr lang="en-US" sz="1200" dirty="0"/>
              <a:t>, _, _).</a:t>
            </a:r>
          </a:p>
          <a:p>
            <a:r>
              <a:rPr lang="en-US" sz="1200" dirty="0" err="1"/>
              <a:t>validation_agent</a:t>
            </a:r>
            <a:r>
              <a:rPr lang="en-US" sz="1200" dirty="0"/>
              <a:t>(</a:t>
            </a:r>
            <a:r>
              <a:rPr lang="en-US" sz="1200" dirty="0" err="1"/>
              <a:t>ichecker_agent</a:t>
            </a:r>
            <a:r>
              <a:rPr lang="en-US" sz="1200" dirty="0"/>
              <a:t>, _, _).</a:t>
            </a:r>
          </a:p>
          <a:p>
            <a:r>
              <a:rPr lang="en-US" sz="1200" dirty="0" err="1"/>
              <a:t>validation_agent</a:t>
            </a:r>
            <a:r>
              <a:rPr lang="en-US" sz="1200" dirty="0"/>
              <a:t>(</a:t>
            </a:r>
            <a:r>
              <a:rPr lang="en-US" sz="1200" dirty="0" err="1"/>
              <a:t>ocra_agent</a:t>
            </a:r>
            <a:r>
              <a:rPr lang="en-US" sz="1200" dirty="0"/>
              <a:t>, _, _).</a:t>
            </a:r>
          </a:p>
          <a:p>
            <a:r>
              <a:rPr lang="en-US" sz="1200" dirty="0" err="1"/>
              <a:t>validation_agent</a:t>
            </a:r>
            <a:r>
              <a:rPr lang="en-US" sz="1200" dirty="0"/>
              <a:t>(</a:t>
            </a:r>
            <a:r>
              <a:rPr lang="en-US" sz="1200" dirty="0" err="1"/>
              <a:t>nusmv_agent</a:t>
            </a:r>
            <a:r>
              <a:rPr lang="en-US" sz="1200" dirty="0"/>
              <a:t>, _, _).</a:t>
            </a:r>
          </a:p>
          <a:p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05F0AB-07AF-E64D-8BA4-0B037DFA9847}"/>
              </a:ext>
            </a:extLst>
          </p:cNvPr>
          <p:cNvSpPr txBox="1"/>
          <p:nvPr/>
        </p:nvSpPr>
        <p:spPr>
          <a:xfrm>
            <a:off x="4882773" y="1143000"/>
            <a:ext cx="23293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O-ETB/KB/EVIDENCE/</a:t>
            </a:r>
            <a:r>
              <a:rPr lang="en-US" sz="1200" dirty="0" err="1"/>
              <a:t>categories.pl</a:t>
            </a:r>
            <a:endParaRPr lang="en-US" sz="12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53426B-09C4-7A43-A3D3-DE32ACD0A771}"/>
              </a:ext>
            </a:extLst>
          </p:cNvPr>
          <p:cNvCxnSpPr/>
          <p:nvPr/>
        </p:nvCxnSpPr>
        <p:spPr>
          <a:xfrm>
            <a:off x="3886200" y="1981200"/>
            <a:ext cx="1295400" cy="152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ED4B1F3-AB3D-4449-AF03-405E66C0B64B}"/>
              </a:ext>
            </a:extLst>
          </p:cNvPr>
          <p:cNvCxnSpPr>
            <a:cxnSpLocks/>
          </p:cNvCxnSpPr>
          <p:nvPr/>
        </p:nvCxnSpPr>
        <p:spPr>
          <a:xfrm>
            <a:off x="3892826" y="2790931"/>
            <a:ext cx="1212574" cy="9813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802EF45-ED54-624A-98FB-B9F798840C45}"/>
              </a:ext>
            </a:extLst>
          </p:cNvPr>
          <p:cNvCxnSpPr>
            <a:cxnSpLocks/>
          </p:cNvCxnSpPr>
          <p:nvPr/>
        </p:nvCxnSpPr>
        <p:spPr>
          <a:xfrm>
            <a:off x="3886200" y="3581400"/>
            <a:ext cx="1219200" cy="18288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66307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1D9D6B-88D4-5A4E-A565-9571E41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15824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Category validation methods are mapped to their agents</a:t>
            </a:r>
          </a:p>
          <a:p>
            <a:pPr lvl="1"/>
            <a:r>
              <a:rPr lang="en-US" dirty="0" err="1"/>
              <a:t>validation_method</a:t>
            </a:r>
            <a:r>
              <a:rPr lang="en-US" dirty="0"/>
              <a:t>(</a:t>
            </a:r>
            <a:r>
              <a:rPr lang="en-US" dirty="0" err="1"/>
              <a:t>MethodName</a:t>
            </a:r>
            <a:r>
              <a:rPr lang="en-US" dirty="0"/>
              <a:t>, </a:t>
            </a:r>
            <a:r>
              <a:rPr lang="en-US" dirty="0" err="1"/>
              <a:t>ValidationAgent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E.g. </a:t>
            </a:r>
            <a:r>
              <a:rPr lang="en-US" dirty="0" err="1"/>
              <a:t>validation_method</a:t>
            </a:r>
            <a:r>
              <a:rPr lang="en-US" dirty="0"/>
              <a:t>(</a:t>
            </a:r>
            <a:r>
              <a:rPr lang="en-US" dirty="0" err="1"/>
              <a:t>model_checking</a:t>
            </a:r>
            <a:r>
              <a:rPr lang="en-US" dirty="0"/>
              <a:t> , 'Symbolic model verification', '</a:t>
            </a:r>
            <a:r>
              <a:rPr lang="en-US" dirty="0" err="1"/>
              <a:t>nusmv_agent</a:t>
            </a:r>
            <a:r>
              <a:rPr lang="en-US" dirty="0"/>
              <a:t>')</a:t>
            </a:r>
          </a:p>
          <a:p>
            <a:r>
              <a:rPr lang="en-US" dirty="0"/>
              <a:t>Agent arguments and outputs are defined in</a:t>
            </a:r>
          </a:p>
          <a:p>
            <a:pPr lvl="1"/>
            <a:r>
              <a:rPr lang="en-US" dirty="0" err="1"/>
              <a:t>validation_agent</a:t>
            </a:r>
            <a:r>
              <a:rPr lang="en-US" dirty="0"/>
              <a:t>('</a:t>
            </a:r>
            <a:r>
              <a:rPr lang="en-US" dirty="0" err="1"/>
              <a:t>nusmv_agent</a:t>
            </a:r>
            <a:r>
              <a:rPr lang="en-US" dirty="0"/>
              <a:t>', </a:t>
            </a:r>
            <a:r>
              <a:rPr lang="en-US" dirty="0" err="1"/>
              <a:t>AgentArgs</a:t>
            </a:r>
            <a:r>
              <a:rPr lang="en-US" dirty="0"/>
              <a:t>, </a:t>
            </a:r>
            <a:r>
              <a:rPr lang="en-US" dirty="0" err="1"/>
              <a:t>AgentResult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Args</a:t>
            </a:r>
            <a:r>
              <a:rPr lang="en-US" dirty="0"/>
              <a:t> and Results are a term</a:t>
            </a:r>
          </a:p>
          <a:p>
            <a:pPr lvl="2"/>
            <a:r>
              <a:rPr lang="en-US" dirty="0"/>
              <a:t>Consisting of an atom – simple encoding of option to Agent, or</a:t>
            </a:r>
          </a:p>
          <a:p>
            <a:pPr lvl="2"/>
            <a:r>
              <a:rPr lang="en-US" dirty="0"/>
              <a:t>A compound term – can pack in more structured information, or</a:t>
            </a:r>
          </a:p>
          <a:p>
            <a:pPr lvl="2"/>
            <a:r>
              <a:rPr lang="en-US" dirty="0"/>
              <a:t>A list of terms</a:t>
            </a:r>
          </a:p>
          <a:p>
            <a:pPr lvl="2"/>
            <a:r>
              <a:rPr lang="en-US" dirty="0"/>
              <a:t>There is flexibility here to tailor to the category and tool</a:t>
            </a:r>
          </a:p>
          <a:p>
            <a:pPr lvl="3"/>
            <a:r>
              <a:rPr lang="en-US" dirty="0"/>
              <a:t>e.g. [ </a:t>
            </a:r>
            <a:r>
              <a:rPr lang="en-US" dirty="0" err="1"/>
              <a:t>model_file</a:t>
            </a:r>
            <a:r>
              <a:rPr lang="en-US" dirty="0"/>
              <a:t>('</a:t>
            </a:r>
            <a:r>
              <a:rPr lang="en-US" dirty="0" err="1"/>
              <a:t>model.smv</a:t>
            </a:r>
            <a:r>
              <a:rPr lang="en-US" dirty="0"/>
              <a:t>’), </a:t>
            </a:r>
            <a:r>
              <a:rPr lang="en-US" dirty="0" err="1"/>
              <a:t>property_file</a:t>
            </a:r>
            <a:r>
              <a:rPr lang="en-US" dirty="0"/>
              <a:t>('</a:t>
            </a:r>
            <a:r>
              <a:rPr lang="en-US" dirty="0" err="1"/>
              <a:t>prop.ltl</a:t>
            </a:r>
            <a:r>
              <a:rPr lang="en-US" dirty="0"/>
              <a:t>’), expect(</a:t>
            </a:r>
            <a:r>
              <a:rPr lang="en-US" dirty="0" err="1"/>
              <a:t>qed</a:t>
            </a:r>
            <a:r>
              <a:rPr lang="en-US" dirty="0"/>
              <a:t>), </a:t>
            </a:r>
            <a:r>
              <a:rPr lang="en-US" dirty="0" err="1"/>
              <a:t>evid</a:t>
            </a:r>
            <a:r>
              <a:rPr lang="en-US" dirty="0"/>
              <a:t>(10312) ] – is a list of terms that self-identify</a:t>
            </a:r>
          </a:p>
          <a:p>
            <a:pPr lvl="3"/>
            <a:r>
              <a:rPr lang="en-US" dirty="0"/>
              <a:t>e.g. </a:t>
            </a:r>
            <a:r>
              <a:rPr lang="en-US" dirty="0" err="1"/>
              <a:t>mc_inputs</a:t>
            </a:r>
            <a:r>
              <a:rPr lang="en-US" dirty="0"/>
              <a:t>('</a:t>
            </a:r>
            <a:r>
              <a:rPr lang="en-US" dirty="0" err="1"/>
              <a:t>model.smv</a:t>
            </a:r>
            <a:r>
              <a:rPr lang="en-US" dirty="0"/>
              <a:t>', '</a:t>
            </a:r>
            <a:r>
              <a:rPr lang="en-US" dirty="0" err="1"/>
              <a:t>prop.ltl</a:t>
            </a:r>
            <a:r>
              <a:rPr lang="en-US" dirty="0"/>
              <a:t>', </a:t>
            </a:r>
            <a:r>
              <a:rPr lang="en-US" dirty="0" err="1"/>
              <a:t>qed</a:t>
            </a:r>
            <a:r>
              <a:rPr lang="en-US" dirty="0"/>
              <a:t>) – positional arguments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787A5-1FC9-2F45-AB23-933A2890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2C9BB-D497-164E-8DAB-484B7F54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AA508-C4AE-6549-AF7F-ECA47C2F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73886B-DEC6-614B-BBE5-313FB233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Agents (1)</a:t>
            </a:r>
          </a:p>
        </p:txBody>
      </p:sp>
    </p:spTree>
    <p:extLst>
      <p:ext uri="{BB962C8B-B14F-4D97-AF65-F5344CB8AC3E}">
        <p14:creationId xmlns:p14="http://schemas.microsoft.com/office/powerpoint/2010/main" val="19067920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81D9D6B-88D4-5A4E-A565-9571E41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1582400" cy="5105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tool agent</a:t>
            </a:r>
          </a:p>
          <a:p>
            <a:pPr lvl="1"/>
            <a:r>
              <a:rPr lang="en-US" dirty="0"/>
              <a:t>Link through a Prolog procedure KB/AGENTS/&lt;tool name&gt;_</a:t>
            </a:r>
            <a:r>
              <a:rPr lang="en-US" dirty="0" err="1"/>
              <a:t>agent.pl</a:t>
            </a:r>
            <a:endParaRPr lang="en-US" dirty="0"/>
          </a:p>
          <a:p>
            <a:pPr lvl="2"/>
            <a:r>
              <a:rPr lang="en-US" dirty="0"/>
              <a:t>(previously in </a:t>
            </a:r>
            <a:r>
              <a:rPr lang="en-US" dirty="0" err="1"/>
              <a:t>src</a:t>
            </a:r>
            <a:r>
              <a:rPr lang="en-US" dirty="0"/>
              <a:t> directory)</a:t>
            </a:r>
          </a:p>
          <a:p>
            <a:pPr lvl="1"/>
            <a:r>
              <a:rPr lang="en-US" dirty="0"/>
              <a:t>Agent (Prolog) can be full-featured or a simple linkage to the agent</a:t>
            </a:r>
          </a:p>
          <a:p>
            <a:pPr lvl="2"/>
            <a:r>
              <a:rPr lang="en-US" dirty="0"/>
              <a:t>The entry in AGENTS can perform all of the agent functions directly in Prolog following examples such as </a:t>
            </a:r>
            <a:r>
              <a:rPr lang="en-US" dirty="0" err="1"/>
              <a:t>ocra_agent.pl</a:t>
            </a:r>
            <a:endParaRPr lang="en-US" dirty="0"/>
          </a:p>
          <a:p>
            <a:pPr lvl="2"/>
            <a:r>
              <a:rPr lang="en-US" dirty="0"/>
              <a:t>Or, this can be a minimal Prolog procedure (e.g., </a:t>
            </a:r>
            <a:r>
              <a:rPr lang="en-US" dirty="0" err="1"/>
              <a:t>ichecker_agent</a:t>
            </a:r>
            <a:r>
              <a:rPr lang="en-US" dirty="0"/>
              <a:t>) to execute the tool through a very simple interface or to execute a more comprehensive agent coded in any convenient language</a:t>
            </a:r>
          </a:p>
          <a:p>
            <a:pPr lvl="1"/>
            <a:r>
              <a:rPr lang="en-US" dirty="0"/>
              <a:t>The Agent may be thought of as a simple wrapper around the tool:</a:t>
            </a:r>
          </a:p>
          <a:p>
            <a:pPr lvl="2"/>
            <a:r>
              <a:rPr lang="en-US" dirty="0"/>
              <a:t>Marshal arguments for tool and present as expected by tool</a:t>
            </a:r>
          </a:p>
          <a:p>
            <a:pPr lvl="2"/>
            <a:r>
              <a:rPr lang="en-US" dirty="0"/>
              <a:t>Execute the tool with arrangements to get the result</a:t>
            </a:r>
          </a:p>
          <a:p>
            <a:pPr lvl="2"/>
            <a:r>
              <a:rPr lang="en-US" dirty="0"/>
              <a:t>Compare the result from the tool to the expected result from O-ETB</a:t>
            </a:r>
          </a:p>
          <a:p>
            <a:pPr lvl="2"/>
            <a:r>
              <a:rPr lang="en-US" dirty="0"/>
              <a:t>Determine appropriate evidence state transition</a:t>
            </a:r>
          </a:p>
          <a:p>
            <a:pPr lvl="2"/>
            <a:r>
              <a:rPr lang="en-US" dirty="0"/>
              <a:t>Update evidence record according to the new state</a:t>
            </a:r>
          </a:p>
          <a:p>
            <a:pPr lvl="2"/>
            <a:r>
              <a:rPr lang="en-US" dirty="0"/>
              <a:t>Return exit status to O-ETB (synchronous invocation)</a:t>
            </a:r>
          </a:p>
          <a:p>
            <a:pPr lvl="2"/>
            <a:r>
              <a:rPr lang="en-US" dirty="0"/>
              <a:t>Clean up and exit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787A5-1FC9-2F45-AB23-933A2890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2C9BB-D497-164E-8DAB-484B7F54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AA508-C4AE-6549-AF7F-ECA47C2F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73886B-DEC6-614B-BBE5-313FB233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Agents (2)</a:t>
            </a:r>
          </a:p>
        </p:txBody>
      </p:sp>
    </p:spTree>
    <p:extLst>
      <p:ext uri="{BB962C8B-B14F-4D97-AF65-F5344CB8AC3E}">
        <p14:creationId xmlns:p14="http://schemas.microsoft.com/office/powerpoint/2010/main" val="42447535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E96AE9C-C53A-9543-81C8-30C3CF542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3865511" cy="5181601"/>
          </a:xfrm>
        </p:spPr>
        <p:txBody>
          <a:bodyPr>
            <a:normAutofit fontScale="62500" lnSpcReduction="20000"/>
          </a:bodyPr>
          <a:lstStyle/>
          <a:p>
            <a:r>
              <a:rPr lang="en-US" sz="2800" dirty="0"/>
              <a:t>Top level procedure is &lt;tool name&gt;_validate</a:t>
            </a:r>
          </a:p>
          <a:p>
            <a:r>
              <a:rPr lang="en-US" sz="2800" dirty="0"/>
              <a:t>Marshal the arguments</a:t>
            </a:r>
          </a:p>
          <a:p>
            <a:r>
              <a:rPr lang="en-US" sz="2800" dirty="0"/>
              <a:t>Move files to the evidence repository</a:t>
            </a:r>
          </a:p>
          <a:p>
            <a:r>
              <a:rPr lang="en-US" sz="2800" dirty="0"/>
              <a:t>Construct command to execute </a:t>
            </a:r>
            <a:r>
              <a:rPr lang="en-US" sz="2800" dirty="0" err="1"/>
              <a:t>ifinder</a:t>
            </a:r>
            <a:r>
              <a:rPr lang="en-US" sz="2800" dirty="0"/>
              <a:t> tool</a:t>
            </a:r>
          </a:p>
          <a:p>
            <a:r>
              <a:rPr lang="en-US" sz="2800" dirty="0"/>
              <a:t>Execute tool in separate process, arranging to receive output result</a:t>
            </a:r>
          </a:p>
          <a:p>
            <a:r>
              <a:rPr lang="en-US" sz="2800" dirty="0"/>
              <a:t>Interpret the output</a:t>
            </a:r>
          </a:p>
          <a:p>
            <a:r>
              <a:rPr lang="en-US" sz="2800" dirty="0"/>
              <a:t>Decide</a:t>
            </a:r>
            <a:br>
              <a:rPr lang="en-US" sz="2800" dirty="0"/>
            </a:br>
            <a:r>
              <a:rPr lang="en-US" sz="2800" dirty="0"/>
              <a:t>Status== valid/invalid</a:t>
            </a:r>
          </a:p>
          <a:p>
            <a:r>
              <a:rPr lang="en-US" sz="2800" dirty="0"/>
              <a:t>Return Status</a:t>
            </a:r>
          </a:p>
          <a:p>
            <a:r>
              <a:rPr lang="en-US" sz="2800" dirty="0"/>
              <a:t>In case of unexpected failure of procedure, return Status==ongoing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787A5-1FC9-2F45-AB23-933A2890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2C9BB-D497-164E-8DAB-484B7F54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AA508-C4AE-6549-AF7F-ECA47C2F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73886B-DEC6-614B-BBE5-313FB233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Agents (3) </a:t>
            </a:r>
            <a:r>
              <a:rPr lang="en-US" dirty="0" err="1"/>
              <a:t>ichecker_agent.pl</a:t>
            </a:r>
            <a:r>
              <a:rPr lang="en-US" dirty="0"/>
              <a:t> example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5AEC7-A615-1746-B0A7-AADD34BFFF0A}"/>
              </a:ext>
            </a:extLst>
          </p:cNvPr>
          <p:cNvSpPr txBox="1"/>
          <p:nvPr/>
        </p:nvSpPr>
        <p:spPr>
          <a:xfrm>
            <a:off x="4475111" y="1149489"/>
            <a:ext cx="764510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ichecker_validate</a:t>
            </a:r>
            <a:r>
              <a:rPr lang="en-US" sz="1200" dirty="0"/>
              <a:t>(_Claim, _Context, </a:t>
            </a:r>
            <a:r>
              <a:rPr lang="en-US" sz="1200" dirty="0" err="1"/>
              <a:t>AArgs</a:t>
            </a:r>
            <a:r>
              <a:rPr lang="en-US" sz="1200" dirty="0"/>
              <a:t>, </a:t>
            </a:r>
            <a:r>
              <a:rPr lang="en-US" sz="1200" dirty="0" err="1"/>
              <a:t>XRef</a:t>
            </a:r>
            <a:r>
              <a:rPr lang="en-US" sz="1200" dirty="0"/>
              <a:t>, Status) :-</a:t>
            </a:r>
          </a:p>
          <a:p>
            <a:r>
              <a:rPr lang="en-US" sz="1200" dirty="0"/>
              <a:t>	format('~n*** running </a:t>
            </a:r>
            <a:r>
              <a:rPr lang="en-US" sz="1200" dirty="0" err="1"/>
              <a:t>ichecker</a:t>
            </a:r>
            <a:r>
              <a:rPr lang="en-US" sz="1200" dirty="0"/>
              <a:t> agent...', []),</a:t>
            </a:r>
          </a:p>
          <a:p>
            <a:r>
              <a:rPr lang="en-US" sz="1200" dirty="0"/>
              <a:t>				% get the evidence placeholder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atomic_list_concat</a:t>
            </a:r>
            <a:r>
              <a:rPr lang="en-US" sz="1200" dirty="0"/>
              <a:t>(['evidence/</a:t>
            </a:r>
            <a:r>
              <a:rPr lang="en-US" sz="1200" dirty="0" err="1"/>
              <a:t>ichecker</a:t>
            </a:r>
            <a:r>
              <a:rPr lang="en-US" sz="1200" dirty="0"/>
              <a:t>/', </a:t>
            </a:r>
            <a:r>
              <a:rPr lang="en-US" sz="1200" dirty="0" err="1"/>
              <a:t>XRef</a:t>
            </a:r>
            <a:r>
              <a:rPr lang="en-US" sz="1200" dirty="0"/>
              <a:t>], Repository),</a:t>
            </a:r>
          </a:p>
          <a:p>
            <a:r>
              <a:rPr lang="en-US" sz="1200" dirty="0"/>
              <a:t>				% get the actual arguments</a:t>
            </a:r>
          </a:p>
          <a:p>
            <a:r>
              <a:rPr lang="en-US" sz="1200" dirty="0"/>
              <a:t>	member( </a:t>
            </a:r>
            <a:r>
              <a:rPr lang="en-US" sz="1200" dirty="0" err="1"/>
              <a:t>arg</a:t>
            </a:r>
            <a:r>
              <a:rPr lang="en-US" sz="1200" dirty="0"/>
              <a:t>(_, </a:t>
            </a:r>
            <a:r>
              <a:rPr lang="en-US" sz="1200" dirty="0" err="1"/>
              <a:t>model:id</a:t>
            </a:r>
            <a:r>
              <a:rPr lang="en-US" sz="1200" dirty="0"/>
              <a:t>, </a:t>
            </a:r>
            <a:r>
              <a:rPr lang="en-US" sz="1200" dirty="0" err="1"/>
              <a:t>ModelId</a:t>
            </a:r>
            <a:r>
              <a:rPr lang="en-US" sz="1200" dirty="0"/>
              <a:t>), </a:t>
            </a:r>
            <a:r>
              <a:rPr lang="en-US" sz="1200" dirty="0" err="1"/>
              <a:t>AArgs</a:t>
            </a:r>
            <a:r>
              <a:rPr lang="en-US" sz="1200" dirty="0"/>
              <a:t>),</a:t>
            </a:r>
          </a:p>
          <a:p>
            <a:r>
              <a:rPr lang="en-US" sz="1200" dirty="0"/>
              <a:t>	member( </a:t>
            </a:r>
            <a:r>
              <a:rPr lang="en-US" sz="1200" dirty="0" err="1"/>
              <a:t>arg</a:t>
            </a:r>
            <a:r>
              <a:rPr lang="en-US" sz="1200" dirty="0"/>
              <a:t>(_, </a:t>
            </a:r>
            <a:r>
              <a:rPr lang="en-US" sz="1200" dirty="0" err="1"/>
              <a:t>property:id</a:t>
            </a:r>
            <a:r>
              <a:rPr lang="en-US" sz="1200" dirty="0"/>
              <a:t>, </a:t>
            </a:r>
            <a:r>
              <a:rPr lang="en-US" sz="1200" dirty="0" err="1"/>
              <a:t>PropertyId</a:t>
            </a:r>
            <a:r>
              <a:rPr lang="en-US" sz="1200" dirty="0"/>
              <a:t>), </a:t>
            </a:r>
            <a:r>
              <a:rPr lang="en-US" sz="1200" dirty="0" err="1"/>
              <a:t>AArgs</a:t>
            </a:r>
            <a:r>
              <a:rPr lang="en-US" sz="1200" dirty="0"/>
              <a:t>),</a:t>
            </a:r>
          </a:p>
          <a:p>
            <a:r>
              <a:rPr lang="en-US" sz="1200" dirty="0"/>
              <a:t>				% copy the BIP model to the evidence repository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atomic_list_concat</a:t>
            </a:r>
            <a:r>
              <a:rPr lang="en-US" sz="1200" dirty="0"/>
              <a:t>( [ 'models/', </a:t>
            </a:r>
            <a:r>
              <a:rPr lang="en-US" sz="1200" dirty="0" err="1"/>
              <a:t>ModelId</a:t>
            </a:r>
            <a:r>
              <a:rPr lang="en-US" sz="1200" dirty="0"/>
              <a:t>, '/</a:t>
            </a:r>
            <a:r>
              <a:rPr lang="en-US" sz="1200" dirty="0" err="1"/>
              <a:t>system.bip</a:t>
            </a:r>
            <a:r>
              <a:rPr lang="en-US" sz="1200" dirty="0"/>
              <a:t>' ], </a:t>
            </a:r>
            <a:r>
              <a:rPr lang="en-US" sz="1200" dirty="0" err="1"/>
              <a:t>BipFilename</a:t>
            </a:r>
            <a:r>
              <a:rPr lang="en-US" sz="1200" dirty="0"/>
              <a:t>),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copy_file</a:t>
            </a:r>
            <a:r>
              <a:rPr lang="en-US" sz="1200" dirty="0"/>
              <a:t>(</a:t>
            </a:r>
            <a:r>
              <a:rPr lang="en-US" sz="1200" dirty="0" err="1"/>
              <a:t>BipFilename</a:t>
            </a:r>
            <a:r>
              <a:rPr lang="en-US" sz="1200" dirty="0"/>
              <a:t>, Repository),</a:t>
            </a:r>
          </a:p>
          <a:p>
            <a:r>
              <a:rPr lang="en-US" sz="1200" dirty="0"/>
              <a:t>				% copy the property to the evidence repository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atomic_list_concat</a:t>
            </a:r>
            <a:r>
              <a:rPr lang="en-US" sz="1200" dirty="0"/>
              <a:t>( [ 'models/', </a:t>
            </a:r>
            <a:r>
              <a:rPr lang="en-US" sz="1200" dirty="0" err="1"/>
              <a:t>ModelId</a:t>
            </a:r>
            <a:r>
              <a:rPr lang="en-US" sz="1200" dirty="0"/>
              <a:t>, '/properties/', </a:t>
            </a:r>
            <a:r>
              <a:rPr lang="en-US" sz="1200" dirty="0" err="1"/>
              <a:t>PropertyId</a:t>
            </a:r>
            <a:r>
              <a:rPr lang="en-US" sz="1200" dirty="0"/>
              <a:t>, '.pro'], </a:t>
            </a:r>
            <a:r>
              <a:rPr lang="en-US" sz="1200" dirty="0" err="1"/>
              <a:t>PropertyFilename</a:t>
            </a:r>
            <a:r>
              <a:rPr lang="en-US" sz="1200" dirty="0"/>
              <a:t>),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copy_file</a:t>
            </a:r>
            <a:r>
              <a:rPr lang="en-US" sz="1200" dirty="0"/>
              <a:t>(</a:t>
            </a:r>
            <a:r>
              <a:rPr lang="en-US" sz="1200" dirty="0" err="1"/>
              <a:t>PropertyFilename</a:t>
            </a:r>
            <a:r>
              <a:rPr lang="en-US" sz="1200" dirty="0"/>
              <a:t>, Repository),</a:t>
            </a:r>
          </a:p>
          <a:p>
            <a:r>
              <a:rPr lang="en-US" sz="1200" dirty="0"/>
              <a:t>				% copy the invariant specification to the evidence repository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atomic_list_concat</a:t>
            </a:r>
            <a:r>
              <a:rPr lang="en-US" sz="1200" dirty="0"/>
              <a:t>( [ 'models/', </a:t>
            </a:r>
            <a:r>
              <a:rPr lang="en-US" sz="1200" dirty="0" err="1"/>
              <a:t>ModelId</a:t>
            </a:r>
            <a:r>
              <a:rPr lang="en-US" sz="1200" dirty="0"/>
              <a:t>, '/system-</a:t>
            </a:r>
            <a:r>
              <a:rPr lang="en-US" sz="1200" dirty="0" err="1"/>
              <a:t>invariants.inv</a:t>
            </a:r>
            <a:r>
              <a:rPr lang="en-US" sz="1200" dirty="0"/>
              <a:t>'], </a:t>
            </a:r>
            <a:r>
              <a:rPr lang="en-US" sz="1200" dirty="0" err="1"/>
              <a:t>InvFilename</a:t>
            </a:r>
            <a:r>
              <a:rPr lang="en-US" sz="1200" dirty="0"/>
              <a:t>),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copy_file</a:t>
            </a:r>
            <a:r>
              <a:rPr lang="en-US" sz="1200" dirty="0"/>
              <a:t>(</a:t>
            </a:r>
            <a:r>
              <a:rPr lang="en-US" sz="1200" dirty="0" err="1"/>
              <a:t>InvFilename</a:t>
            </a:r>
            <a:r>
              <a:rPr lang="en-US" sz="1200" dirty="0"/>
              <a:t>, Repository),</a:t>
            </a:r>
          </a:p>
          <a:p>
            <a:r>
              <a:rPr lang="en-US" sz="1200" dirty="0"/>
              <a:t>				% run </a:t>
            </a:r>
            <a:r>
              <a:rPr lang="en-US" sz="1200" dirty="0" err="1"/>
              <a:t>ichecker</a:t>
            </a:r>
            <a:endParaRPr lang="en-US" sz="1200" dirty="0"/>
          </a:p>
          <a:p>
            <a:r>
              <a:rPr lang="en-US" sz="1200" dirty="0"/>
              <a:t>	</a:t>
            </a:r>
            <a:r>
              <a:rPr lang="en-US" sz="1200" dirty="0" err="1"/>
              <a:t>atomic_list_concat</a:t>
            </a:r>
            <a:r>
              <a:rPr lang="en-US" sz="1200" dirty="0"/>
              <a:t>( [ </a:t>
            </a:r>
            <a:r>
              <a:rPr lang="en-US" sz="1200" dirty="0" err="1"/>
              <a:t>PropertyId</a:t>
            </a:r>
            <a:r>
              <a:rPr lang="en-US" sz="1200" dirty="0"/>
              <a:t>, '.pro'], </a:t>
            </a:r>
            <a:r>
              <a:rPr lang="en-US" sz="1200" dirty="0" err="1"/>
              <a:t>PropertyId_Pro</a:t>
            </a:r>
            <a:r>
              <a:rPr lang="en-US" sz="1200" dirty="0"/>
              <a:t>),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process_create</a:t>
            </a:r>
            <a:r>
              <a:rPr lang="en-US" sz="1200" dirty="0"/>
              <a:t>('/home/</a:t>
            </a:r>
            <a:r>
              <a:rPr lang="en-US" sz="1200" dirty="0" err="1"/>
              <a:t>bozga</a:t>
            </a:r>
            <a:r>
              <a:rPr lang="en-US" sz="1200" dirty="0"/>
              <a:t>/bip2dev/</a:t>
            </a:r>
            <a:r>
              <a:rPr lang="en-US" sz="1200" dirty="0" err="1"/>
              <a:t>IFinder</a:t>
            </a:r>
            <a:r>
              <a:rPr lang="en-US" sz="1200" dirty="0"/>
              <a:t>/</a:t>
            </a:r>
            <a:r>
              <a:rPr lang="en-US" sz="1200" dirty="0" err="1"/>
              <a:t>ujf.verimag.bip.ifinder</a:t>
            </a:r>
            <a:r>
              <a:rPr lang="en-US" sz="1200" dirty="0"/>
              <a:t>/bin/</a:t>
            </a:r>
            <a:r>
              <a:rPr lang="en-US" sz="1200" dirty="0" err="1"/>
              <a:t>ichecker.sh</a:t>
            </a:r>
            <a:r>
              <a:rPr lang="en-US" sz="1200" dirty="0"/>
              <a:t>',</a:t>
            </a:r>
          </a:p>
          <a:p>
            <a:r>
              <a:rPr lang="en-US" sz="1200" dirty="0"/>
              <a:t>		       [ '-p', 'system',  '-r', 'main', '-</a:t>
            </a:r>
            <a:r>
              <a:rPr lang="en-US" sz="1200" dirty="0" err="1"/>
              <a:t>i</a:t>
            </a:r>
            <a:r>
              <a:rPr lang="en-US" sz="1200" dirty="0"/>
              <a:t>', 'system-</a:t>
            </a:r>
            <a:r>
              <a:rPr lang="en-US" sz="1200" dirty="0" err="1"/>
              <a:t>invariants.inv</a:t>
            </a:r>
            <a:r>
              <a:rPr lang="en-US" sz="1200" dirty="0"/>
              <a:t>', '-s', </a:t>
            </a:r>
            <a:r>
              <a:rPr lang="en-US" sz="1200" dirty="0" err="1"/>
              <a:t>PropertyId_Pro</a:t>
            </a:r>
            <a:r>
              <a:rPr lang="en-US" sz="1200" dirty="0"/>
              <a:t> ],</a:t>
            </a:r>
          </a:p>
          <a:p>
            <a:r>
              <a:rPr lang="en-US" sz="1200" dirty="0"/>
              <a:t>		       [ </a:t>
            </a:r>
            <a:r>
              <a:rPr lang="en-US" sz="1200" dirty="0" err="1"/>
              <a:t>cwd</a:t>
            </a:r>
            <a:r>
              <a:rPr lang="en-US" sz="1200" dirty="0"/>
              <a:t>(Repository), </a:t>
            </a:r>
            <a:r>
              <a:rPr lang="en-US" sz="1200" dirty="0" err="1"/>
              <a:t>stdout</a:t>
            </a:r>
            <a:r>
              <a:rPr lang="en-US" sz="1200" dirty="0"/>
              <a:t>(pipe(Out)) ]),</a:t>
            </a:r>
          </a:p>
          <a:p>
            <a:r>
              <a:rPr lang="en-US" sz="1200" dirty="0"/>
              <a:t>				% interpret output</a:t>
            </a:r>
          </a:p>
          <a:p>
            <a:r>
              <a:rPr lang="en-US" sz="1200" dirty="0"/>
              <a:t>	</a:t>
            </a:r>
            <a:r>
              <a:rPr lang="en-US" sz="1200" dirty="0" err="1"/>
              <a:t>read_stream_to_codes</a:t>
            </a:r>
            <a:r>
              <a:rPr lang="en-US" sz="1200" dirty="0"/>
              <a:t>(Out, Codes), close(Out),</a:t>
            </a:r>
          </a:p>
          <a:p>
            <a:r>
              <a:rPr lang="en-US" sz="1200" dirty="0"/>
              <a:t>	(</a:t>
            </a:r>
            <a:r>
              <a:rPr lang="en-US" sz="1200" dirty="0" err="1"/>
              <a:t>string_codes</a:t>
            </a:r>
            <a:r>
              <a:rPr lang="en-US" sz="1200" dirty="0"/>
              <a:t>('valid\n', Codes) -&gt; Status = 'valid' ; Status = 'invalid'),</a:t>
            </a:r>
          </a:p>
          <a:p>
            <a:r>
              <a:rPr lang="en-US" sz="1200" dirty="0"/>
              <a:t>				% done</a:t>
            </a:r>
          </a:p>
          <a:p>
            <a:r>
              <a:rPr lang="en-US" sz="1200" dirty="0"/>
              <a:t>	!.</a:t>
            </a:r>
          </a:p>
          <a:p>
            <a:endParaRPr lang="en-US" sz="1200" dirty="0"/>
          </a:p>
          <a:p>
            <a:r>
              <a:rPr lang="en-US" sz="1200" dirty="0"/>
              <a:t>				% default behavior, when the above fails...</a:t>
            </a:r>
          </a:p>
          <a:p>
            <a:r>
              <a:rPr lang="en-US" sz="1200" dirty="0" err="1"/>
              <a:t>ichecker_validate</a:t>
            </a:r>
            <a:r>
              <a:rPr lang="en-US" sz="1200" dirty="0"/>
              <a:t>(_Claim, _Context, _</a:t>
            </a:r>
            <a:r>
              <a:rPr lang="en-US" sz="1200" dirty="0" err="1"/>
              <a:t>AArgs</a:t>
            </a:r>
            <a:r>
              <a:rPr lang="en-US" sz="1200" dirty="0"/>
              <a:t>, _</a:t>
            </a:r>
            <a:r>
              <a:rPr lang="en-US" sz="1200" dirty="0" err="1"/>
              <a:t>XRef</a:t>
            </a:r>
            <a:r>
              <a:rPr lang="en-US" sz="1200" dirty="0"/>
              <a:t>, 'ongoing') :- true.</a:t>
            </a:r>
          </a:p>
        </p:txBody>
      </p:sp>
    </p:spTree>
    <p:extLst>
      <p:ext uri="{BB962C8B-B14F-4D97-AF65-F5344CB8AC3E}">
        <p14:creationId xmlns:p14="http://schemas.microsoft.com/office/powerpoint/2010/main" val="1198996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E96AE9C-C53A-9543-81C8-30C3CF542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676"/>
            <a:ext cx="8262069" cy="5580924"/>
          </a:xfrm>
        </p:spPr>
        <p:txBody>
          <a:bodyPr>
            <a:normAutofit fontScale="70000" lnSpcReduction="20000"/>
          </a:bodyPr>
          <a:lstStyle/>
          <a:p>
            <a:r>
              <a:rPr lang="en-US" sz="2000" dirty="0"/>
              <a:t>Initial development of an agent does not require running O-ETB</a:t>
            </a:r>
          </a:p>
          <a:p>
            <a:r>
              <a:rPr lang="en-US" sz="2000" dirty="0"/>
              <a:t>Setup a directory structure to reflect EVIDENCE repo</a:t>
            </a:r>
          </a:p>
          <a:p>
            <a:pPr lvl="1"/>
            <a:r>
              <a:rPr lang="en-US" sz="2000" dirty="0"/>
              <a:t>Path to relevant EC and ER provided to Agent</a:t>
            </a:r>
          </a:p>
          <a:p>
            <a:pPr lvl="2"/>
            <a:r>
              <a:rPr lang="en-US" sz="1600" dirty="0"/>
              <a:t>Setup standalone directory structure</a:t>
            </a:r>
          </a:p>
          <a:p>
            <a:pPr lvl="2"/>
            <a:r>
              <a:rPr lang="en-US" sz="1600" dirty="0"/>
              <a:t>O-ETB / REPOSITORY / EVIDENCE / </a:t>
            </a:r>
            <a:r>
              <a:rPr lang="en-US" sz="1600" dirty="0">
                <a:solidFill>
                  <a:srgbClr val="FF0000"/>
                </a:solidFill>
              </a:rPr>
              <a:t>EC2 / ER1</a:t>
            </a:r>
          </a:p>
          <a:p>
            <a:pPr lvl="2"/>
            <a:r>
              <a:rPr lang="en-US" sz="1600" dirty="0"/>
              <a:t>Initial contents of ER1 == pending.</a:t>
            </a:r>
          </a:p>
          <a:p>
            <a:pPr lvl="1"/>
            <a:r>
              <a:rPr lang="en-US" sz="2000" dirty="0"/>
              <a:t>Paths to input files or input structures are provided to the Agent</a:t>
            </a:r>
          </a:p>
          <a:p>
            <a:r>
              <a:rPr lang="en-US" sz="2200" dirty="0"/>
              <a:t>Agent constructs tool invocation command</a:t>
            </a:r>
          </a:p>
          <a:p>
            <a:pPr lvl="1"/>
            <a:r>
              <a:rPr lang="en-US" sz="2000" dirty="0"/>
              <a:t>Agent copies input files to </a:t>
            </a:r>
            <a:r>
              <a:rPr lang="en-US" sz="2000" dirty="0">
                <a:solidFill>
                  <a:srgbClr val="FF0000"/>
                </a:solidFill>
              </a:rPr>
              <a:t>EC2</a:t>
            </a:r>
            <a:r>
              <a:rPr lang="en-US" sz="2000" dirty="0"/>
              <a:t> as </a:t>
            </a:r>
            <a:r>
              <a:rPr lang="en-US" sz="2000" dirty="0">
                <a:solidFill>
                  <a:srgbClr val="FF0000"/>
                </a:solidFill>
              </a:rPr>
              <a:t>Aux1 …</a:t>
            </a:r>
            <a:r>
              <a:rPr lang="en-US" sz="2000" dirty="0"/>
              <a:t> as needed</a:t>
            </a:r>
          </a:p>
          <a:p>
            <a:pPr lvl="1"/>
            <a:r>
              <a:rPr lang="en-US" sz="2000" dirty="0"/>
              <a:t>Agent arranges to get tool output,</a:t>
            </a:r>
            <a:br>
              <a:rPr lang="en-US" sz="2000" dirty="0"/>
            </a:br>
            <a:r>
              <a:rPr lang="en-US" sz="2000" dirty="0"/>
              <a:t>e.g. redirect </a:t>
            </a:r>
            <a:r>
              <a:rPr lang="en-US" sz="2000" dirty="0" err="1"/>
              <a:t>stdout</a:t>
            </a:r>
            <a:r>
              <a:rPr lang="en-US" sz="2000" dirty="0"/>
              <a:t> or establish a pipe, etc.</a:t>
            </a:r>
            <a:br>
              <a:rPr lang="en-US" sz="2000" dirty="0"/>
            </a:br>
            <a:r>
              <a:rPr lang="en-US" sz="2000" dirty="0"/>
              <a:t>or files written to </a:t>
            </a:r>
            <a:r>
              <a:rPr lang="en-US" sz="2000" dirty="0">
                <a:solidFill>
                  <a:srgbClr val="FF0000"/>
                </a:solidFill>
              </a:rPr>
              <a:t>EC2</a:t>
            </a:r>
            <a:r>
              <a:rPr lang="en-US" sz="2000" dirty="0"/>
              <a:t> as </a:t>
            </a:r>
            <a:r>
              <a:rPr lang="en-US" sz="2000" dirty="0" err="1">
                <a:solidFill>
                  <a:srgbClr val="FF0000"/>
                </a:solidFill>
              </a:rPr>
              <a:t>Auxn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200" dirty="0"/>
              <a:t>Agent runs tool, collects result, interprets result</a:t>
            </a:r>
          </a:p>
          <a:p>
            <a:r>
              <a:rPr lang="en-US" sz="2200" dirty="0"/>
              <a:t>Agent decides next state of evidence: valid.  OR  invalid. OR  ongoing.</a:t>
            </a:r>
          </a:p>
          <a:p>
            <a:r>
              <a:rPr lang="en-US" sz="2200" dirty="0"/>
              <a:t>Agent rewrites </a:t>
            </a:r>
            <a:r>
              <a:rPr lang="en-US" sz="2200" dirty="0">
                <a:solidFill>
                  <a:srgbClr val="FF0000"/>
                </a:solidFill>
              </a:rPr>
              <a:t>ER1/state</a:t>
            </a:r>
            <a:r>
              <a:rPr lang="en-US" sz="2200" dirty="0"/>
              <a:t> with new status</a:t>
            </a:r>
            <a:br>
              <a:rPr lang="en-US" sz="2200" dirty="0"/>
            </a:br>
            <a:r>
              <a:rPr lang="en-US" sz="2200" dirty="0"/>
              <a:t>and optional additional information in </a:t>
            </a:r>
            <a:r>
              <a:rPr lang="en-US" sz="2200" dirty="0">
                <a:solidFill>
                  <a:srgbClr val="FF0000"/>
                </a:solidFill>
              </a:rPr>
              <a:t>Aux</a:t>
            </a:r>
            <a:r>
              <a:rPr lang="en-US" sz="2200" dirty="0"/>
              <a:t> files*</a:t>
            </a:r>
          </a:p>
          <a:p>
            <a:r>
              <a:rPr lang="en-US" sz="2200" dirty="0"/>
              <a:t>Run Agent test and check </a:t>
            </a:r>
            <a:r>
              <a:rPr lang="en-US" sz="2200" dirty="0">
                <a:solidFill>
                  <a:srgbClr val="FF0000"/>
                </a:solidFill>
              </a:rPr>
              <a:t>ER1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FF0000"/>
                </a:solidFill>
              </a:rPr>
              <a:t>Aux1</a:t>
            </a:r>
            <a:r>
              <a:rPr lang="en-US" sz="2200" dirty="0"/>
              <a:t> and </a:t>
            </a:r>
            <a:r>
              <a:rPr lang="en-US" sz="2200" dirty="0" err="1">
                <a:solidFill>
                  <a:srgbClr val="FF0000"/>
                </a:solidFill>
              </a:rPr>
              <a:t>Auxn</a:t>
            </a:r>
            <a:r>
              <a:rPr lang="en-US" sz="2200" dirty="0"/>
              <a:t>, repeat for other cases</a:t>
            </a:r>
          </a:p>
          <a:p>
            <a:r>
              <a:rPr lang="en-US" sz="2200" dirty="0"/>
              <a:t>When satisfied, register the agent in O-ETB through </a:t>
            </a:r>
            <a:r>
              <a:rPr lang="en-US" sz="2200" dirty="0" err="1"/>
              <a:t>categories.pl</a:t>
            </a:r>
            <a:r>
              <a:rPr lang="en-US" sz="2200" dirty="0"/>
              <a:t> and AGENTS</a:t>
            </a:r>
          </a:p>
          <a:p>
            <a:pPr lvl="1"/>
            <a:r>
              <a:rPr lang="en-US" sz="2000" dirty="0"/>
              <a:t>Instantiate a pattern involving an evidence node of EC2 evidence class</a:t>
            </a:r>
          </a:p>
          <a:p>
            <a:pPr lvl="1"/>
            <a:r>
              <a:rPr lang="en-US" sz="2000" dirty="0"/>
              <a:t>Give the O-ETB update command after agent has run asynchronously</a:t>
            </a:r>
          </a:p>
          <a:p>
            <a:pPr lvl="1"/>
            <a:r>
              <a:rPr lang="en-US" sz="2000" dirty="0"/>
              <a:t>Export updated assurance case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C787A5-1FC9-2F45-AB23-933A2890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2C9BB-D497-164E-8DAB-484B7F54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AA508-C4AE-6549-AF7F-ECA47C2F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973886B-DEC6-614B-BBE5-313FB233A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Agents (4) developing and debugging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6ED2F1D-E8C4-C440-BB1C-41CB5D8B2421}"/>
              </a:ext>
            </a:extLst>
          </p:cNvPr>
          <p:cNvGrpSpPr/>
          <p:nvPr/>
        </p:nvGrpSpPr>
        <p:grpSpPr>
          <a:xfrm>
            <a:off x="8001000" y="1828607"/>
            <a:ext cx="4016018" cy="3200786"/>
            <a:chOff x="5029200" y="1752600"/>
            <a:chExt cx="4016018" cy="320078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86C7BD-EAED-814A-B6EE-95918B03981F}"/>
                </a:ext>
              </a:extLst>
            </p:cNvPr>
            <p:cNvSpPr txBox="1"/>
            <p:nvPr/>
          </p:nvSpPr>
          <p:spPr>
            <a:xfrm>
              <a:off x="6024936" y="1752600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O-ETB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79FDBF-8654-5D44-9577-177BC7702480}"/>
                </a:ext>
              </a:extLst>
            </p:cNvPr>
            <p:cNvSpPr txBox="1"/>
            <p:nvPr/>
          </p:nvSpPr>
          <p:spPr>
            <a:xfrm>
              <a:off x="5729342" y="2374565"/>
              <a:ext cx="1348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REPOSITORY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8A5DE1-2957-2141-9F6B-6DBB759D6CC8}"/>
                </a:ext>
              </a:extLst>
            </p:cNvPr>
            <p:cNvSpPr txBox="1"/>
            <p:nvPr/>
          </p:nvSpPr>
          <p:spPr>
            <a:xfrm>
              <a:off x="5410200" y="3024734"/>
              <a:ext cx="1125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EVIDENCE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DE53940-B9BC-3248-B6C7-C1AF4F13F856}"/>
                </a:ext>
              </a:extLst>
            </p:cNvPr>
            <p:cNvCxnSpPr>
              <a:cxnSpLocks/>
              <a:stCxn id="9" idx="2"/>
              <a:endCxn id="12" idx="0"/>
            </p:cNvCxnSpPr>
            <p:nvPr/>
          </p:nvCxnSpPr>
          <p:spPr>
            <a:xfrm>
              <a:off x="6403405" y="2121932"/>
              <a:ext cx="0" cy="252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C87F560-ED1F-0F4C-8C0D-A8A502023892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 flipH="1">
              <a:off x="5973015" y="2743897"/>
              <a:ext cx="430390" cy="2808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A3F8CFD-CC72-1748-B674-641B7E14140D}"/>
                </a:ext>
              </a:extLst>
            </p:cNvPr>
            <p:cNvCxnSpPr>
              <a:cxnSpLocks/>
              <a:stCxn id="13" idx="2"/>
              <a:endCxn id="19" idx="0"/>
            </p:cNvCxnSpPr>
            <p:nvPr/>
          </p:nvCxnSpPr>
          <p:spPr>
            <a:xfrm flipH="1">
              <a:off x="5845875" y="3394066"/>
              <a:ext cx="127140" cy="4033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15530E-8B33-EC4E-98CC-CB30F894C884}"/>
                </a:ext>
              </a:extLst>
            </p:cNvPr>
            <p:cNvCxnSpPr>
              <a:cxnSpLocks/>
              <a:stCxn id="13" idx="2"/>
              <a:endCxn id="20" idx="0"/>
            </p:cNvCxnSpPr>
            <p:nvPr/>
          </p:nvCxnSpPr>
          <p:spPr>
            <a:xfrm>
              <a:off x="5973015" y="3394066"/>
              <a:ext cx="856581" cy="4033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955AD1B-9579-9D42-9B12-A0C876D50494}"/>
                </a:ext>
              </a:extLst>
            </p:cNvPr>
            <p:cNvCxnSpPr>
              <a:cxnSpLocks/>
              <a:stCxn id="13" idx="2"/>
              <a:endCxn id="21" idx="0"/>
            </p:cNvCxnSpPr>
            <p:nvPr/>
          </p:nvCxnSpPr>
          <p:spPr>
            <a:xfrm>
              <a:off x="5973015" y="3394066"/>
              <a:ext cx="2008864" cy="40114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BBFA5F4-3C4E-654C-8EA0-F3DD602DB55D}"/>
                </a:ext>
              </a:extLst>
            </p:cNvPr>
            <p:cNvSpPr txBox="1"/>
            <p:nvPr/>
          </p:nvSpPr>
          <p:spPr>
            <a:xfrm>
              <a:off x="5552108" y="3797391"/>
              <a:ext cx="587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EC 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344EF85-797B-9744-AB61-0FB8D03FCFA5}"/>
                </a:ext>
              </a:extLst>
            </p:cNvPr>
            <p:cNvSpPr txBox="1"/>
            <p:nvPr/>
          </p:nvSpPr>
          <p:spPr>
            <a:xfrm>
              <a:off x="6535829" y="3797391"/>
              <a:ext cx="587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EC 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3FD575C-79E5-504B-B7C3-0AEE38B672AF}"/>
                </a:ext>
              </a:extLst>
            </p:cNvPr>
            <p:cNvSpPr txBox="1"/>
            <p:nvPr/>
          </p:nvSpPr>
          <p:spPr>
            <a:xfrm>
              <a:off x="7685708" y="3795214"/>
              <a:ext cx="592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EC n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5708C9-A0A6-3646-A466-2DD21CF19E43}"/>
                </a:ext>
              </a:extLst>
            </p:cNvPr>
            <p:cNvSpPr txBox="1"/>
            <p:nvPr/>
          </p:nvSpPr>
          <p:spPr>
            <a:xfrm>
              <a:off x="7299222" y="3727092"/>
              <a:ext cx="396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 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81732E6-9FE7-9F40-943A-2A34B8BDDABA}"/>
                </a:ext>
              </a:extLst>
            </p:cNvPr>
            <p:cNvCxnSpPr>
              <a:cxnSpLocks/>
              <a:stCxn id="20" idx="2"/>
              <a:endCxn id="26" idx="0"/>
            </p:cNvCxnSpPr>
            <p:nvPr/>
          </p:nvCxnSpPr>
          <p:spPr>
            <a:xfrm flipH="1">
              <a:off x="5322967" y="4166723"/>
              <a:ext cx="1506629" cy="4173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53864E6-FB30-F144-809A-594A2945F71D}"/>
                </a:ext>
              </a:extLst>
            </p:cNvPr>
            <p:cNvCxnSpPr>
              <a:cxnSpLocks/>
              <a:stCxn id="20" idx="2"/>
              <a:endCxn id="27" idx="0"/>
            </p:cNvCxnSpPr>
            <p:nvPr/>
          </p:nvCxnSpPr>
          <p:spPr>
            <a:xfrm flipH="1">
              <a:off x="6306688" y="4166723"/>
              <a:ext cx="522908" cy="41733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1E3907-86C2-E04A-B083-0F63F4F513DC}"/>
                </a:ext>
              </a:extLst>
            </p:cNvPr>
            <p:cNvCxnSpPr>
              <a:cxnSpLocks/>
              <a:stCxn id="20" idx="2"/>
              <a:endCxn id="28" idx="0"/>
            </p:cNvCxnSpPr>
            <p:nvPr/>
          </p:nvCxnSpPr>
          <p:spPr>
            <a:xfrm>
              <a:off x="6829596" y="4166723"/>
              <a:ext cx="672159" cy="415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662F23E-EAEE-2446-9578-05B5357FB152}"/>
                </a:ext>
              </a:extLst>
            </p:cNvPr>
            <p:cNvSpPr txBox="1"/>
            <p:nvPr/>
          </p:nvSpPr>
          <p:spPr>
            <a:xfrm>
              <a:off x="5029200" y="4584054"/>
              <a:ext cx="5875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ER 1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01AB9DC-12B1-FB48-92CD-4613FB26A85D}"/>
                </a:ext>
              </a:extLst>
            </p:cNvPr>
            <p:cNvSpPr txBox="1"/>
            <p:nvPr/>
          </p:nvSpPr>
          <p:spPr>
            <a:xfrm>
              <a:off x="6012921" y="4584054"/>
              <a:ext cx="5875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ER 2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ECD0BA9-07A4-3041-8724-A4EF52BF4227}"/>
                </a:ext>
              </a:extLst>
            </p:cNvPr>
            <p:cNvSpPr txBox="1"/>
            <p:nvPr/>
          </p:nvSpPr>
          <p:spPr>
            <a:xfrm>
              <a:off x="7162799" y="4581877"/>
              <a:ext cx="6779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ER m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EFBCA8E-00BA-B84E-87BF-8173FAB7A20E}"/>
                </a:ext>
              </a:extLst>
            </p:cNvPr>
            <p:cNvSpPr txBox="1"/>
            <p:nvPr/>
          </p:nvSpPr>
          <p:spPr>
            <a:xfrm>
              <a:off x="6776314" y="4513755"/>
              <a:ext cx="396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 </a:t>
              </a: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C0847EC-48B2-7F4B-998A-30C5934AABBE}"/>
                </a:ext>
              </a:extLst>
            </p:cNvPr>
            <p:cNvCxnSpPr>
              <a:cxnSpLocks/>
              <a:stCxn id="20" idx="2"/>
              <a:endCxn id="31" idx="0"/>
            </p:cNvCxnSpPr>
            <p:nvPr/>
          </p:nvCxnSpPr>
          <p:spPr>
            <a:xfrm>
              <a:off x="6829596" y="4166723"/>
              <a:ext cx="1602958" cy="41515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C2B1995-6549-1E4F-AB25-3448AF26914B}"/>
                </a:ext>
              </a:extLst>
            </p:cNvPr>
            <p:cNvSpPr txBox="1"/>
            <p:nvPr/>
          </p:nvSpPr>
          <p:spPr>
            <a:xfrm>
              <a:off x="8018020" y="4581877"/>
              <a:ext cx="8290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Aux 1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601C273-B8A0-1344-AB07-6FE82C97FE33}"/>
                </a:ext>
              </a:extLst>
            </p:cNvPr>
            <p:cNvSpPr txBox="1"/>
            <p:nvPr/>
          </p:nvSpPr>
          <p:spPr>
            <a:xfrm>
              <a:off x="8648956" y="4495399"/>
              <a:ext cx="396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… 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12E2623-34DD-D845-BE55-A418A5DD9B02}"/>
              </a:ext>
            </a:extLst>
          </p:cNvPr>
          <p:cNvSpPr txBox="1"/>
          <p:nvPr/>
        </p:nvSpPr>
        <p:spPr>
          <a:xfrm>
            <a:off x="8491714" y="6023479"/>
            <a:ext cx="3549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* An alternative to Aux files would be a</a:t>
            </a:r>
            <a:br>
              <a:rPr lang="en-US" sz="1400" dirty="0"/>
            </a:br>
            <a:r>
              <a:rPr lang="en-US" sz="1400" dirty="0"/>
              <a:t>proposed centralized DB, using a TBD protocol</a:t>
            </a:r>
          </a:p>
        </p:txBody>
      </p:sp>
    </p:spTree>
    <p:extLst>
      <p:ext uri="{BB962C8B-B14F-4D97-AF65-F5344CB8AC3E}">
        <p14:creationId xmlns:p14="http://schemas.microsoft.com/office/powerpoint/2010/main" val="15731427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09B1A6-A480-5A40-91E1-FCFA96F37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1506200" cy="51054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Definition of Evidence Categories</a:t>
            </a:r>
          </a:p>
          <a:p>
            <a:pPr lvl="1"/>
            <a:r>
              <a:rPr lang="en-US" dirty="0"/>
              <a:t>Mapping to validation methods and to evidential tools through Agents</a:t>
            </a:r>
          </a:p>
          <a:p>
            <a:pPr lvl="1"/>
            <a:r>
              <a:rPr lang="en-US"/>
              <a:t>Categories in Manual belong </a:t>
            </a:r>
            <a:r>
              <a:rPr lang="en-US" dirty="0"/>
              <a:t>to “Evidence Classes”</a:t>
            </a:r>
          </a:p>
          <a:p>
            <a:r>
              <a:rPr lang="en-US" dirty="0"/>
              <a:t>Tool Agents</a:t>
            </a:r>
          </a:p>
          <a:p>
            <a:pPr lvl="1"/>
            <a:r>
              <a:rPr lang="en-US" dirty="0"/>
              <a:t>Invoke evidential tools, interpret tool outputs and update EVIDENCE repository</a:t>
            </a:r>
          </a:p>
          <a:p>
            <a:r>
              <a:rPr lang="en-US" dirty="0"/>
              <a:t>Process Agents</a:t>
            </a:r>
          </a:p>
          <a:p>
            <a:pPr lvl="1"/>
            <a:r>
              <a:rPr lang="en-US" dirty="0"/>
              <a:t>Initiate processes, gather process results and update EVIDENCE repository</a:t>
            </a:r>
          </a:p>
          <a:p>
            <a:pPr lvl="1"/>
            <a:r>
              <a:rPr lang="en-US" dirty="0"/>
              <a:t>O-ETB doesn’t distinguish tool/process agents, but a planned future addition of “workflow programs” for long-running processes</a:t>
            </a:r>
          </a:p>
          <a:p>
            <a:pPr lvl="1"/>
            <a:r>
              <a:rPr lang="en-US" dirty="0"/>
              <a:t>Process Agent actions may include notifications requiring action by humans or other agents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068D0-988A-F147-9106-E4C64A786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6F575F-5535-B045-B48F-52D25627F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DEAB9F-D261-F94F-BE7B-C7E7DC620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8B0B99-95EC-F54F-9B75-0E3A90FC8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KB: WORKFLOWS</a:t>
            </a:r>
          </a:p>
        </p:txBody>
      </p:sp>
    </p:spTree>
    <p:extLst>
      <p:ext uri="{BB962C8B-B14F-4D97-AF65-F5344CB8AC3E}">
        <p14:creationId xmlns:p14="http://schemas.microsoft.com/office/powerpoint/2010/main" val="366290978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C0112B-75A0-614D-817C-46F3BB87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115824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Evidence class – a broad collection of evidence categories for conceptual grouping, e.g. specification, configuration, verification &amp; validation, safety analysis, fault detection-isolation-and-recovery (FDIR), performability, standards compliance, risks (hazards), administrative authorization</a:t>
            </a:r>
          </a:p>
          <a:p>
            <a:r>
              <a:rPr lang="en-US" dirty="0"/>
              <a:t>Evidence type – reserved for future type checking and inference</a:t>
            </a:r>
          </a:p>
          <a:p>
            <a:r>
              <a:rPr lang="en-US" dirty="0"/>
              <a:t>Evidence category – a particular type of evidence whose value is produced by a given tool for specified input types: </a:t>
            </a:r>
            <a:r>
              <a:rPr lang="en-US" dirty="0" err="1"/>
              <a:t>evidence_category</a:t>
            </a:r>
            <a:r>
              <a:rPr lang="en-US" dirty="0"/>
              <a:t>(</a:t>
            </a:r>
            <a:r>
              <a:rPr lang="en-US" dirty="0" err="1"/>
              <a:t>ECname</a:t>
            </a:r>
            <a:r>
              <a:rPr lang="en-US" dirty="0"/>
              <a:t>, Agent)</a:t>
            </a:r>
          </a:p>
          <a:p>
            <a:r>
              <a:rPr lang="en-US" dirty="0"/>
              <a:t>Evidence agent – interface to an evidential tool or workflow process that generates an evidence record:</a:t>
            </a:r>
            <a:br>
              <a:rPr lang="en-US" dirty="0"/>
            </a:br>
            <a:r>
              <a:rPr lang="en-US" dirty="0" err="1"/>
              <a:t>evidence_agent</a:t>
            </a:r>
            <a:r>
              <a:rPr lang="en-US" dirty="0"/>
              <a:t>(Agent, </a:t>
            </a:r>
            <a:r>
              <a:rPr lang="en-US" dirty="0" err="1"/>
              <a:t>AgentArgs</a:t>
            </a:r>
            <a:r>
              <a:rPr lang="en-US" dirty="0"/>
              <a:t>, </a:t>
            </a:r>
            <a:r>
              <a:rPr lang="en-US" dirty="0" err="1"/>
              <a:t>AgentResult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2A150-2A52-4F42-83D1-D7AAE02E4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F36D8-B502-DF46-8103-EB86A12FB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F6517-3B88-0443-AA9D-38AE85A7F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8263E6-481D-1441-857E-665E1B8EC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KB Information</a:t>
            </a:r>
          </a:p>
        </p:txBody>
      </p:sp>
    </p:spTree>
    <p:extLst>
      <p:ext uri="{BB962C8B-B14F-4D97-AF65-F5344CB8AC3E}">
        <p14:creationId xmlns:p14="http://schemas.microsoft.com/office/powerpoint/2010/main" val="598870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FC9C-74F4-9847-AFDF-643149992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63607"/>
            <a:ext cx="10363200" cy="1362075"/>
          </a:xfrm>
        </p:spPr>
        <p:txBody>
          <a:bodyPr/>
          <a:lstStyle/>
          <a:p>
            <a:r>
              <a:rPr lang="en-US" dirty="0"/>
              <a:t>O-ETB REPOSITORY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4966F-C913-0C45-A79D-B421E5CA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1D8D9-C54C-B54D-8A80-F4F5EE35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B78FE-90CB-E14C-A5D6-D879CD3E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48E8354-5B18-4648-8397-1653512B4377}"/>
              </a:ext>
            </a:extLst>
          </p:cNvPr>
          <p:cNvGrpSpPr/>
          <p:nvPr/>
        </p:nvGrpSpPr>
        <p:grpSpPr>
          <a:xfrm>
            <a:off x="3234619" y="3505200"/>
            <a:ext cx="5951964" cy="2755797"/>
            <a:chOff x="3981250" y="1752600"/>
            <a:chExt cx="5951964" cy="275579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E6DF5E3-FF9F-6B4F-B241-A5E0601CEA02}"/>
                </a:ext>
              </a:extLst>
            </p:cNvPr>
            <p:cNvSpPr txBox="1"/>
            <p:nvPr/>
          </p:nvSpPr>
          <p:spPr>
            <a:xfrm>
              <a:off x="6024936" y="1752600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O-ETB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6BED50A-11CB-5A47-B3C2-D8D02E3AA9A8}"/>
                </a:ext>
              </a:extLst>
            </p:cNvPr>
            <p:cNvSpPr txBox="1"/>
            <p:nvPr/>
          </p:nvSpPr>
          <p:spPr>
            <a:xfrm>
              <a:off x="5149872" y="2375693"/>
              <a:ext cx="13481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REPOSITORY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E239C0A-EEF8-4848-A07E-9C63FFD432FC}"/>
                </a:ext>
              </a:extLst>
            </p:cNvPr>
            <p:cNvSpPr txBox="1"/>
            <p:nvPr/>
          </p:nvSpPr>
          <p:spPr>
            <a:xfrm>
              <a:off x="4540272" y="3149399"/>
              <a:ext cx="76270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CASES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7C0D40E-3D11-744E-A955-C17C53B7AB18}"/>
                </a:ext>
              </a:extLst>
            </p:cNvPr>
            <p:cNvSpPr txBox="1"/>
            <p:nvPr/>
          </p:nvSpPr>
          <p:spPr>
            <a:xfrm>
              <a:off x="6211965" y="3149399"/>
              <a:ext cx="1125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EVIDENCE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FBEB750-F097-F74D-A032-16274EAA28F1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flipH="1">
              <a:off x="5823935" y="2121932"/>
              <a:ext cx="579470" cy="25376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CDE459C-2E57-9F4E-ADC2-3A829A39C01D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 flipH="1">
              <a:off x="4921627" y="2745025"/>
              <a:ext cx="902308" cy="4043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C1F0A2A-EAC9-3B46-ACF8-E1E99B5E9AC0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5823935" y="2745025"/>
              <a:ext cx="950845" cy="40437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6086C03-8705-674F-85F3-8367BC3EF56E}"/>
                </a:ext>
              </a:extLst>
            </p:cNvPr>
            <p:cNvCxnSpPr>
              <a:cxnSpLocks/>
              <a:stCxn id="10" idx="2"/>
              <a:endCxn id="21" idx="0"/>
            </p:cNvCxnSpPr>
            <p:nvPr/>
          </p:nvCxnSpPr>
          <p:spPr>
            <a:xfrm flipH="1">
              <a:off x="4320446" y="3518731"/>
              <a:ext cx="601181" cy="5962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53AF3D-DD4A-AD4D-B79A-3ED117920E6D}"/>
                </a:ext>
              </a:extLst>
            </p:cNvPr>
            <p:cNvCxnSpPr>
              <a:cxnSpLocks/>
              <a:stCxn id="10" idx="2"/>
              <a:endCxn id="22" idx="0"/>
            </p:cNvCxnSpPr>
            <p:nvPr/>
          </p:nvCxnSpPr>
          <p:spPr>
            <a:xfrm>
              <a:off x="4921627" y="3518731"/>
              <a:ext cx="110241" cy="5962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E92CEFC-BE32-5343-A4DA-551A34D5F111}"/>
                </a:ext>
              </a:extLst>
            </p:cNvPr>
            <p:cNvCxnSpPr>
              <a:cxnSpLocks/>
              <a:stCxn id="11" idx="2"/>
              <a:endCxn id="24" idx="0"/>
            </p:cNvCxnSpPr>
            <p:nvPr/>
          </p:nvCxnSpPr>
          <p:spPr>
            <a:xfrm>
              <a:off x="6774780" y="3518731"/>
              <a:ext cx="726259" cy="5901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CDBA79D-87B5-AD4F-B64A-2AF776BF3BB2}"/>
                </a:ext>
              </a:extLst>
            </p:cNvPr>
            <p:cNvCxnSpPr>
              <a:cxnSpLocks/>
              <a:stCxn id="11" idx="2"/>
              <a:endCxn id="25" idx="0"/>
            </p:cNvCxnSpPr>
            <p:nvPr/>
          </p:nvCxnSpPr>
          <p:spPr>
            <a:xfrm>
              <a:off x="6774780" y="3518731"/>
              <a:ext cx="1709980" cy="5901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748A723-EB50-7047-8E43-5649D0E2D5B7}"/>
                </a:ext>
              </a:extLst>
            </p:cNvPr>
            <p:cNvCxnSpPr>
              <a:cxnSpLocks/>
              <a:stCxn id="11" idx="2"/>
              <a:endCxn id="26" idx="0"/>
            </p:cNvCxnSpPr>
            <p:nvPr/>
          </p:nvCxnSpPr>
          <p:spPr>
            <a:xfrm>
              <a:off x="6774780" y="3518731"/>
              <a:ext cx="2862263" cy="58799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775552B-84B8-4F43-9E4A-B32CD8C1C960}"/>
                </a:ext>
              </a:extLst>
            </p:cNvPr>
            <p:cNvCxnSpPr>
              <a:cxnSpLocks/>
              <a:stCxn id="10" idx="2"/>
              <a:endCxn id="23" idx="0"/>
            </p:cNvCxnSpPr>
            <p:nvPr/>
          </p:nvCxnSpPr>
          <p:spPr>
            <a:xfrm>
              <a:off x="4921627" y="3518731"/>
              <a:ext cx="1363104" cy="6203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0BC7BAC-6BD3-3948-BFAA-965E89E94B0E}"/>
                </a:ext>
              </a:extLst>
            </p:cNvPr>
            <p:cNvSpPr txBox="1"/>
            <p:nvPr/>
          </p:nvSpPr>
          <p:spPr>
            <a:xfrm>
              <a:off x="3981250" y="4114957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CID 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95B424A-BDE6-D04C-A804-19E736F9567D}"/>
                </a:ext>
              </a:extLst>
            </p:cNvPr>
            <p:cNvSpPr txBox="1"/>
            <p:nvPr/>
          </p:nvSpPr>
          <p:spPr>
            <a:xfrm>
              <a:off x="4692672" y="4114957"/>
              <a:ext cx="6783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CID 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DE4A5B0-EAA2-844F-A782-E24754E1A21B}"/>
                </a:ext>
              </a:extLst>
            </p:cNvPr>
            <p:cNvSpPr txBox="1"/>
            <p:nvPr/>
          </p:nvSpPr>
          <p:spPr>
            <a:xfrm>
              <a:off x="5911872" y="4139065"/>
              <a:ext cx="7457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CID 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912BF9E-D876-E847-AD22-F236B6938232}"/>
                </a:ext>
              </a:extLst>
            </p:cNvPr>
            <p:cNvSpPr txBox="1"/>
            <p:nvPr/>
          </p:nvSpPr>
          <p:spPr>
            <a:xfrm>
              <a:off x="7207272" y="4108899"/>
              <a:ext cx="587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EC 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18EAE73-5F85-0B41-85F1-0F19F3DB917A}"/>
                </a:ext>
              </a:extLst>
            </p:cNvPr>
            <p:cNvSpPr txBox="1"/>
            <p:nvPr/>
          </p:nvSpPr>
          <p:spPr>
            <a:xfrm>
              <a:off x="8190993" y="4108899"/>
              <a:ext cx="5875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EC 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E50BFE0-E693-0A46-AC92-30D58DD0EE74}"/>
                </a:ext>
              </a:extLst>
            </p:cNvPr>
            <p:cNvSpPr txBox="1"/>
            <p:nvPr/>
          </p:nvSpPr>
          <p:spPr>
            <a:xfrm>
              <a:off x="9340872" y="4106722"/>
              <a:ext cx="592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EC 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70DB982-98DF-4E42-A371-DFAD84A77ECE}"/>
                </a:ext>
              </a:extLst>
            </p:cNvPr>
            <p:cNvSpPr txBox="1"/>
            <p:nvPr/>
          </p:nvSpPr>
          <p:spPr>
            <a:xfrm>
              <a:off x="8954386" y="4038600"/>
              <a:ext cx="396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34B503E-7A12-994D-961B-AD1E96210E3F}"/>
                </a:ext>
              </a:extLst>
            </p:cNvPr>
            <p:cNvSpPr txBox="1"/>
            <p:nvPr/>
          </p:nvSpPr>
          <p:spPr>
            <a:xfrm>
              <a:off x="5600300" y="4070340"/>
              <a:ext cx="3962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…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49413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540535-9708-AD49-8B35-115F31F67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Constructed by the O-ETB core workflow</a:t>
            </a:r>
          </a:p>
          <a:p>
            <a:r>
              <a:rPr lang="en-US" sz="2800" dirty="0"/>
              <a:t>Updated by O-ETB in response to evidence status changes</a:t>
            </a:r>
          </a:p>
          <a:p>
            <a:r>
              <a:rPr lang="en-US" sz="2800" dirty="0"/>
              <a:t>Has subdirectories named with case identifier (CID)</a:t>
            </a:r>
          </a:p>
          <a:p>
            <a:r>
              <a:rPr lang="en-US" sz="2800" dirty="0"/>
              <a:t>Each CID directory contains the file </a:t>
            </a:r>
            <a:r>
              <a:rPr lang="en-US" sz="2800" dirty="0" err="1"/>
              <a:t>repository.pl</a:t>
            </a:r>
            <a:r>
              <a:rPr lang="en-US" sz="2800" dirty="0"/>
              <a:t> which contains the details of the incremental construction of the assurance case</a:t>
            </a:r>
          </a:p>
          <a:p>
            <a:r>
              <a:rPr lang="en-US" sz="2800" dirty="0">
                <a:solidFill>
                  <a:srgbClr val="00B0F0"/>
                </a:solidFill>
              </a:rPr>
              <a:t>You do not need to understand this</a:t>
            </a:r>
            <a:br>
              <a:rPr lang="en-US" sz="2800" dirty="0">
                <a:solidFill>
                  <a:srgbClr val="00B0F0"/>
                </a:solidFill>
              </a:rPr>
            </a:br>
            <a:r>
              <a:rPr lang="en-US" sz="2800" dirty="0">
                <a:solidFill>
                  <a:srgbClr val="00B0F0"/>
                </a:solidFill>
              </a:rPr>
              <a:t>if not doing O-ETB development</a:t>
            </a:r>
          </a:p>
          <a:p>
            <a:endParaRPr lang="en-US" sz="2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8FD8A-BDF8-DA46-88DE-2D250385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2CA4D9-4EB2-3441-89FC-2017B115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FF6DB-D58A-8B4C-9141-D41F149A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ED8655-6794-0E42-A53F-2623D6D76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CASES repository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24B3C2A-082C-4A40-82B0-163A5C16EEAA}"/>
              </a:ext>
            </a:extLst>
          </p:cNvPr>
          <p:cNvGrpSpPr/>
          <p:nvPr/>
        </p:nvGrpSpPr>
        <p:grpSpPr>
          <a:xfrm>
            <a:off x="8382000" y="4615190"/>
            <a:ext cx="2977312" cy="1785610"/>
            <a:chOff x="7995488" y="4495800"/>
            <a:chExt cx="2977312" cy="178561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EDF1C7-24D1-634C-A884-314B8F21C904}"/>
                </a:ext>
              </a:extLst>
            </p:cNvPr>
            <p:cNvSpPr txBox="1"/>
            <p:nvPr/>
          </p:nvSpPr>
          <p:spPr>
            <a:xfrm>
              <a:off x="8965002" y="4495800"/>
              <a:ext cx="5357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O-ETB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1C3299-C0AF-4F4D-880C-A71C720DF350}"/>
                </a:ext>
              </a:extLst>
            </p:cNvPr>
            <p:cNvSpPr txBox="1"/>
            <p:nvPr/>
          </p:nvSpPr>
          <p:spPr>
            <a:xfrm>
              <a:off x="8549876" y="4791392"/>
              <a:ext cx="90281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REPOSITORY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758674-6656-9D41-82E8-07689E1FEDED}"/>
                </a:ext>
              </a:extLst>
            </p:cNvPr>
            <p:cNvSpPr txBox="1"/>
            <p:nvPr/>
          </p:nvSpPr>
          <p:spPr>
            <a:xfrm>
              <a:off x="8260685" y="5158434"/>
              <a:ext cx="5389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CASES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4D8BEC1-18FA-544B-8F5D-A3EB6A21FC35}"/>
                </a:ext>
              </a:extLst>
            </p:cNvPr>
            <p:cNvSpPr txBox="1"/>
            <p:nvPr/>
          </p:nvSpPr>
          <p:spPr>
            <a:xfrm>
              <a:off x="9053728" y="5158434"/>
              <a:ext cx="7601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EVIDENCE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A304231-790C-3541-BC28-D620047F65F7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flipH="1">
              <a:off x="9001282" y="4757410"/>
              <a:ext cx="231582" cy="339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482486B-3310-4B4A-A6B3-C83EB79ACAE2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 flipH="1">
              <a:off x="8530150" y="5053002"/>
              <a:ext cx="471132" cy="1054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0D8FA-E17E-CC46-AD5A-620276F06588}"/>
                </a:ext>
              </a:extLst>
            </p:cNvPr>
            <p:cNvCxnSpPr>
              <a:cxnSpLocks/>
              <a:stCxn id="9" idx="2"/>
              <a:endCxn id="11" idx="0"/>
            </p:cNvCxnSpPr>
            <p:nvPr/>
          </p:nvCxnSpPr>
          <p:spPr>
            <a:xfrm>
              <a:off x="9001282" y="5053002"/>
              <a:ext cx="432518" cy="1054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1FC4F8F-B1E8-2841-BE5C-564B65F1B5CA}"/>
                </a:ext>
              </a:extLst>
            </p:cNvPr>
            <p:cNvCxnSpPr>
              <a:cxnSpLocks/>
              <a:stCxn id="10" idx="2"/>
              <a:endCxn id="21" idx="0"/>
            </p:cNvCxnSpPr>
            <p:nvPr/>
          </p:nvCxnSpPr>
          <p:spPr>
            <a:xfrm flipH="1">
              <a:off x="8238503" y="5420044"/>
              <a:ext cx="291647" cy="1964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BB92EA1-7B2B-9946-A67B-62A2EFD0EE75}"/>
                </a:ext>
              </a:extLst>
            </p:cNvPr>
            <p:cNvCxnSpPr>
              <a:cxnSpLocks/>
              <a:stCxn id="10" idx="2"/>
              <a:endCxn id="22" idx="0"/>
            </p:cNvCxnSpPr>
            <p:nvPr/>
          </p:nvCxnSpPr>
          <p:spPr>
            <a:xfrm>
              <a:off x="8530150" y="5420044"/>
              <a:ext cx="45848" cy="1964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03F3A82-2223-BB48-90E1-AB8E2B94F0FF}"/>
                </a:ext>
              </a:extLst>
            </p:cNvPr>
            <p:cNvCxnSpPr>
              <a:cxnSpLocks/>
              <a:stCxn id="11" idx="2"/>
              <a:endCxn id="24" idx="0"/>
            </p:cNvCxnSpPr>
            <p:nvPr/>
          </p:nvCxnSpPr>
          <p:spPr>
            <a:xfrm>
              <a:off x="9433800" y="5420044"/>
              <a:ext cx="308663" cy="193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3A0AEF8-616C-7B40-9218-39EA48CD16DA}"/>
                </a:ext>
              </a:extLst>
            </p:cNvPr>
            <p:cNvCxnSpPr>
              <a:cxnSpLocks/>
              <a:stCxn id="11" idx="2"/>
              <a:endCxn id="25" idx="0"/>
            </p:cNvCxnSpPr>
            <p:nvPr/>
          </p:nvCxnSpPr>
          <p:spPr>
            <a:xfrm>
              <a:off x="9433800" y="5420044"/>
              <a:ext cx="775335" cy="193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CBADA44-8EA4-F542-BABC-F9B6A87578F9}"/>
                </a:ext>
              </a:extLst>
            </p:cNvPr>
            <p:cNvCxnSpPr>
              <a:cxnSpLocks/>
              <a:stCxn id="11" idx="2"/>
              <a:endCxn id="26" idx="0"/>
            </p:cNvCxnSpPr>
            <p:nvPr/>
          </p:nvCxnSpPr>
          <p:spPr>
            <a:xfrm>
              <a:off x="9433800" y="5420044"/>
              <a:ext cx="1321633" cy="1925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450A6C7-22FC-4146-BA7E-33C52524A89B}"/>
                </a:ext>
              </a:extLst>
            </p:cNvPr>
            <p:cNvCxnSpPr>
              <a:cxnSpLocks/>
              <a:stCxn id="10" idx="2"/>
              <a:endCxn id="23" idx="0"/>
            </p:cNvCxnSpPr>
            <p:nvPr/>
          </p:nvCxnSpPr>
          <p:spPr>
            <a:xfrm>
              <a:off x="8530150" y="5420044"/>
              <a:ext cx="644268" cy="207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4026960-8537-7F48-A84D-1F4DC52CEA12}"/>
                </a:ext>
              </a:extLst>
            </p:cNvPr>
            <p:cNvSpPr txBox="1"/>
            <p:nvPr/>
          </p:nvSpPr>
          <p:spPr>
            <a:xfrm>
              <a:off x="7995488" y="5616490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CID 1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141E67-21E7-B240-9D73-E490D3A2872C}"/>
                </a:ext>
              </a:extLst>
            </p:cNvPr>
            <p:cNvSpPr txBox="1"/>
            <p:nvPr/>
          </p:nvSpPr>
          <p:spPr>
            <a:xfrm>
              <a:off x="8332983" y="5616490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CID 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9A189C3-46F5-3440-84DA-0D7E3CCB698C}"/>
                </a:ext>
              </a:extLst>
            </p:cNvPr>
            <p:cNvSpPr txBox="1"/>
            <p:nvPr/>
          </p:nvSpPr>
          <p:spPr>
            <a:xfrm>
              <a:off x="8911365" y="5627927"/>
              <a:ext cx="5261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CID m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6F5F3CF-3251-CA4A-826C-5BA267CC9436}"/>
                </a:ext>
              </a:extLst>
            </p:cNvPr>
            <p:cNvSpPr txBox="1"/>
            <p:nvPr/>
          </p:nvSpPr>
          <p:spPr>
            <a:xfrm>
              <a:off x="9525897" y="5613616"/>
              <a:ext cx="4331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EC 1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33CA0FB-9E71-4245-89CB-12B66C57D142}"/>
                </a:ext>
              </a:extLst>
            </p:cNvPr>
            <p:cNvSpPr txBox="1"/>
            <p:nvPr/>
          </p:nvSpPr>
          <p:spPr>
            <a:xfrm>
              <a:off x="9992569" y="5613616"/>
              <a:ext cx="4331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EC 2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A8255C6-1FF6-BB43-AEBB-CA7DE91AB1F1}"/>
                </a:ext>
              </a:extLst>
            </p:cNvPr>
            <p:cNvSpPr txBox="1"/>
            <p:nvPr/>
          </p:nvSpPr>
          <p:spPr>
            <a:xfrm>
              <a:off x="10538066" y="5612584"/>
              <a:ext cx="4347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EC n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3C2E43C-A6EE-A44E-B3BB-6889ACC37BD5}"/>
                </a:ext>
              </a:extLst>
            </p:cNvPr>
            <p:cNvSpPr txBox="1"/>
            <p:nvPr/>
          </p:nvSpPr>
          <p:spPr>
            <a:xfrm>
              <a:off x="10354719" y="5580267"/>
              <a:ext cx="3145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…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66951EF-BF71-B748-A96D-3359C7E3F956}"/>
                </a:ext>
              </a:extLst>
            </p:cNvPr>
            <p:cNvSpPr txBox="1"/>
            <p:nvPr/>
          </p:nvSpPr>
          <p:spPr>
            <a:xfrm>
              <a:off x="8763557" y="5595324"/>
              <a:ext cx="3145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… 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0BE33AF-80C2-E14E-B8F7-F5B7338714A4}"/>
                </a:ext>
              </a:extLst>
            </p:cNvPr>
            <p:cNvCxnSpPr>
              <a:cxnSpLocks/>
              <a:stCxn id="22" idx="2"/>
              <a:endCxn id="30" idx="0"/>
            </p:cNvCxnSpPr>
            <p:nvPr/>
          </p:nvCxnSpPr>
          <p:spPr>
            <a:xfrm>
              <a:off x="8575998" y="5878100"/>
              <a:ext cx="272814" cy="141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6AC1D76-978D-1B40-BDDC-7A73A57722CF}"/>
                </a:ext>
              </a:extLst>
            </p:cNvPr>
            <p:cNvSpPr txBox="1"/>
            <p:nvPr/>
          </p:nvSpPr>
          <p:spPr>
            <a:xfrm>
              <a:off x="8391795" y="6019800"/>
              <a:ext cx="9140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err="1"/>
                <a:t>repository.pl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476377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540535-9708-AD49-8B35-115F31F67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1582400" cy="5105400"/>
          </a:xfrm>
        </p:spPr>
        <p:txBody>
          <a:bodyPr>
            <a:normAutofit/>
          </a:bodyPr>
          <a:lstStyle/>
          <a:p>
            <a:r>
              <a:rPr lang="en-US" sz="2800" dirty="0"/>
              <a:t>Constructed by the O-ETB core workflow</a:t>
            </a:r>
          </a:p>
          <a:p>
            <a:r>
              <a:rPr lang="en-US" sz="2800" dirty="0"/>
              <a:t>Updated by O-ETB and by Tool &amp; Process Agents</a:t>
            </a:r>
          </a:p>
          <a:p>
            <a:r>
              <a:rPr lang="en-US" sz="2800" dirty="0"/>
              <a:t>Has subdirectories named for evidence categories (EC)</a:t>
            </a:r>
          </a:p>
          <a:p>
            <a:r>
              <a:rPr lang="en-US" sz="2800" dirty="0"/>
              <a:t>Evidence Records (ER) are created by O-ETB and updated by corresponding tool/workflow as files under EC directories</a:t>
            </a:r>
          </a:p>
          <a:p>
            <a:r>
              <a:rPr lang="en-US" sz="2800" dirty="0"/>
              <a:t>Location of passed to Agents</a:t>
            </a:r>
          </a:p>
          <a:p>
            <a:r>
              <a:rPr lang="en-US" sz="2800" dirty="0">
                <a:solidFill>
                  <a:srgbClr val="00B0F0"/>
                </a:solidFill>
              </a:rPr>
              <a:t>You only need to understand this</a:t>
            </a:r>
            <a:br>
              <a:rPr lang="en-US" sz="2800" dirty="0">
                <a:solidFill>
                  <a:srgbClr val="00B0F0"/>
                </a:solidFill>
              </a:rPr>
            </a:br>
            <a:r>
              <a:rPr lang="en-US" sz="2800" dirty="0">
                <a:solidFill>
                  <a:srgbClr val="00B0F0"/>
                </a:solidFill>
              </a:rPr>
              <a:t>if creating an Agent for a tool</a:t>
            </a:r>
            <a:br>
              <a:rPr lang="en-US" sz="2800" dirty="0">
                <a:solidFill>
                  <a:srgbClr val="00B0F0"/>
                </a:solidFill>
              </a:rPr>
            </a:br>
            <a:r>
              <a:rPr lang="en-US" sz="2800" dirty="0">
                <a:solidFill>
                  <a:srgbClr val="00B0F0"/>
                </a:solidFill>
              </a:rPr>
              <a:t>or workflow process</a:t>
            </a:r>
          </a:p>
          <a:p>
            <a:endParaRPr lang="en-US" sz="28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8FD8A-BDF8-DA46-88DE-2D250385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2CA4D9-4EB2-3441-89FC-2017B1153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FF6DB-D58A-8B4C-9141-D41F149AC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ED8655-6794-0E42-A53F-2623D6D76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repository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58413F2-4994-E646-92C5-45AD9F9C33C9}"/>
              </a:ext>
            </a:extLst>
          </p:cNvPr>
          <p:cNvGrpSpPr/>
          <p:nvPr/>
        </p:nvGrpSpPr>
        <p:grpSpPr>
          <a:xfrm>
            <a:off x="8382000" y="4419600"/>
            <a:ext cx="2977312" cy="1778107"/>
            <a:chOff x="7995488" y="4189183"/>
            <a:chExt cx="2977312" cy="1778107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D46C9DB-641B-594D-AB40-F46AD3377396}"/>
                </a:ext>
              </a:extLst>
            </p:cNvPr>
            <p:cNvSpPr txBox="1"/>
            <p:nvPr/>
          </p:nvSpPr>
          <p:spPr>
            <a:xfrm>
              <a:off x="8965002" y="4189183"/>
              <a:ext cx="53572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O-ETB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2699FBB-908F-0747-8071-244A52640450}"/>
                </a:ext>
              </a:extLst>
            </p:cNvPr>
            <p:cNvSpPr txBox="1"/>
            <p:nvPr/>
          </p:nvSpPr>
          <p:spPr>
            <a:xfrm>
              <a:off x="8549876" y="4484775"/>
              <a:ext cx="90281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REPOSITORY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A451938-BE1D-AF4C-849C-30236B56CD57}"/>
                </a:ext>
              </a:extLst>
            </p:cNvPr>
            <p:cNvSpPr txBox="1"/>
            <p:nvPr/>
          </p:nvSpPr>
          <p:spPr>
            <a:xfrm>
              <a:off x="8260685" y="4851817"/>
              <a:ext cx="5389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CASES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7775036-E09B-8C4B-AD3E-31629533D027}"/>
                </a:ext>
              </a:extLst>
            </p:cNvPr>
            <p:cNvSpPr txBox="1"/>
            <p:nvPr/>
          </p:nvSpPr>
          <p:spPr>
            <a:xfrm>
              <a:off x="9053728" y="4851817"/>
              <a:ext cx="7601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EVIDENCE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12A2A42-EAFE-DF46-8C05-5ADCC1A804A6}"/>
                </a:ext>
              </a:extLst>
            </p:cNvPr>
            <p:cNvCxnSpPr>
              <a:cxnSpLocks/>
              <a:stCxn id="30" idx="2"/>
              <a:endCxn id="31" idx="0"/>
            </p:cNvCxnSpPr>
            <p:nvPr/>
          </p:nvCxnSpPr>
          <p:spPr>
            <a:xfrm flipH="1">
              <a:off x="9001282" y="4450793"/>
              <a:ext cx="231582" cy="3398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81F9B58-D190-884E-BC5B-0E9A5FA23E15}"/>
                </a:ext>
              </a:extLst>
            </p:cNvPr>
            <p:cNvCxnSpPr>
              <a:cxnSpLocks/>
              <a:stCxn id="31" idx="2"/>
              <a:endCxn id="32" idx="0"/>
            </p:cNvCxnSpPr>
            <p:nvPr/>
          </p:nvCxnSpPr>
          <p:spPr>
            <a:xfrm flipH="1">
              <a:off x="8530150" y="4746385"/>
              <a:ext cx="471132" cy="1054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AF4484E-C2DD-B949-B755-FD023989AA0F}"/>
                </a:ext>
              </a:extLst>
            </p:cNvPr>
            <p:cNvCxnSpPr>
              <a:cxnSpLocks/>
              <a:stCxn id="31" idx="2"/>
              <a:endCxn id="33" idx="0"/>
            </p:cNvCxnSpPr>
            <p:nvPr/>
          </p:nvCxnSpPr>
          <p:spPr>
            <a:xfrm>
              <a:off x="9001282" y="4746385"/>
              <a:ext cx="432518" cy="1054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744CB27-F55B-2348-A2F2-D979F792F2EE}"/>
                </a:ext>
              </a:extLst>
            </p:cNvPr>
            <p:cNvCxnSpPr>
              <a:cxnSpLocks/>
              <a:stCxn id="32" idx="2"/>
              <a:endCxn id="43" idx="0"/>
            </p:cNvCxnSpPr>
            <p:nvPr/>
          </p:nvCxnSpPr>
          <p:spPr>
            <a:xfrm flipH="1">
              <a:off x="8238503" y="5113427"/>
              <a:ext cx="291647" cy="1964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545B957-70F2-A34F-A0CE-F4F5EBA08849}"/>
                </a:ext>
              </a:extLst>
            </p:cNvPr>
            <p:cNvCxnSpPr>
              <a:cxnSpLocks/>
              <a:stCxn id="32" idx="2"/>
              <a:endCxn id="44" idx="0"/>
            </p:cNvCxnSpPr>
            <p:nvPr/>
          </p:nvCxnSpPr>
          <p:spPr>
            <a:xfrm>
              <a:off x="8530150" y="5113427"/>
              <a:ext cx="45848" cy="1964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72311A5-C901-A842-B2B5-69181A655914}"/>
                </a:ext>
              </a:extLst>
            </p:cNvPr>
            <p:cNvCxnSpPr>
              <a:cxnSpLocks/>
              <a:stCxn id="33" idx="2"/>
              <a:endCxn id="46" idx="0"/>
            </p:cNvCxnSpPr>
            <p:nvPr/>
          </p:nvCxnSpPr>
          <p:spPr>
            <a:xfrm>
              <a:off x="9433800" y="5113427"/>
              <a:ext cx="308663" cy="193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308CC89-101F-7848-AE7B-77BFF54EEF67}"/>
                </a:ext>
              </a:extLst>
            </p:cNvPr>
            <p:cNvCxnSpPr>
              <a:cxnSpLocks/>
              <a:stCxn id="33" idx="2"/>
              <a:endCxn id="47" idx="0"/>
            </p:cNvCxnSpPr>
            <p:nvPr/>
          </p:nvCxnSpPr>
          <p:spPr>
            <a:xfrm>
              <a:off x="9433800" y="5113427"/>
              <a:ext cx="775335" cy="193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4430943-9548-9844-939A-8E6F474E892A}"/>
                </a:ext>
              </a:extLst>
            </p:cNvPr>
            <p:cNvCxnSpPr>
              <a:cxnSpLocks/>
              <a:stCxn id="33" idx="2"/>
              <a:endCxn id="48" idx="0"/>
            </p:cNvCxnSpPr>
            <p:nvPr/>
          </p:nvCxnSpPr>
          <p:spPr>
            <a:xfrm>
              <a:off x="9433800" y="5113427"/>
              <a:ext cx="1321633" cy="19254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C1169EF-E790-364C-ADA3-89A0CB246D5F}"/>
                </a:ext>
              </a:extLst>
            </p:cNvPr>
            <p:cNvCxnSpPr>
              <a:cxnSpLocks/>
              <a:stCxn id="32" idx="2"/>
              <a:endCxn id="45" idx="0"/>
            </p:cNvCxnSpPr>
            <p:nvPr/>
          </p:nvCxnSpPr>
          <p:spPr>
            <a:xfrm>
              <a:off x="8530150" y="5113427"/>
              <a:ext cx="644268" cy="207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B91702D-D52E-9C49-8FFA-FF1A14FAC2DA}"/>
                </a:ext>
              </a:extLst>
            </p:cNvPr>
            <p:cNvSpPr txBox="1"/>
            <p:nvPr/>
          </p:nvSpPr>
          <p:spPr>
            <a:xfrm>
              <a:off x="7995488" y="5309873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CID 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22420E8-3ED5-4246-9181-1619410596A4}"/>
                </a:ext>
              </a:extLst>
            </p:cNvPr>
            <p:cNvSpPr txBox="1"/>
            <p:nvPr/>
          </p:nvSpPr>
          <p:spPr>
            <a:xfrm>
              <a:off x="8332983" y="5309873"/>
              <a:ext cx="48603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CID 2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15E44FC-283C-4A41-84E0-B77C6246F2B7}"/>
                </a:ext>
              </a:extLst>
            </p:cNvPr>
            <p:cNvSpPr txBox="1"/>
            <p:nvPr/>
          </p:nvSpPr>
          <p:spPr>
            <a:xfrm>
              <a:off x="8911365" y="5321310"/>
              <a:ext cx="5261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CID m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63B787C-278C-404A-8AFD-23A924C50739}"/>
                </a:ext>
              </a:extLst>
            </p:cNvPr>
            <p:cNvSpPr txBox="1"/>
            <p:nvPr/>
          </p:nvSpPr>
          <p:spPr>
            <a:xfrm>
              <a:off x="9525897" y="5306999"/>
              <a:ext cx="4331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EC 1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A2908429-5598-854D-828C-60F7B0E8C07D}"/>
                </a:ext>
              </a:extLst>
            </p:cNvPr>
            <p:cNvSpPr txBox="1"/>
            <p:nvPr/>
          </p:nvSpPr>
          <p:spPr>
            <a:xfrm>
              <a:off x="9992569" y="5306999"/>
              <a:ext cx="43313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EC 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9791EAD-6F2D-1248-BCCB-E8BD9F949A08}"/>
                </a:ext>
              </a:extLst>
            </p:cNvPr>
            <p:cNvSpPr txBox="1"/>
            <p:nvPr/>
          </p:nvSpPr>
          <p:spPr>
            <a:xfrm>
              <a:off x="10538066" y="5305967"/>
              <a:ext cx="43473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EC n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8A5A69B-597E-384E-A4A3-C6DA42C25ABE}"/>
                </a:ext>
              </a:extLst>
            </p:cNvPr>
            <p:cNvSpPr txBox="1"/>
            <p:nvPr/>
          </p:nvSpPr>
          <p:spPr>
            <a:xfrm>
              <a:off x="10354719" y="5273650"/>
              <a:ext cx="3145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…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D038F79-E23D-2F43-9530-1236898BED70}"/>
                </a:ext>
              </a:extLst>
            </p:cNvPr>
            <p:cNvSpPr txBox="1"/>
            <p:nvPr/>
          </p:nvSpPr>
          <p:spPr>
            <a:xfrm>
              <a:off x="8763557" y="5288707"/>
              <a:ext cx="3145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… </a:t>
              </a: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A1770E8-E922-1B4C-BB79-25E01F272B1A}"/>
                </a:ext>
              </a:extLst>
            </p:cNvPr>
            <p:cNvCxnSpPr>
              <a:cxnSpLocks/>
              <a:stCxn id="46" idx="2"/>
              <a:endCxn id="52" idx="0"/>
            </p:cNvCxnSpPr>
            <p:nvPr/>
          </p:nvCxnSpPr>
          <p:spPr>
            <a:xfrm flipH="1">
              <a:off x="9479156" y="5568609"/>
              <a:ext cx="263307" cy="137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B374C4A-75B9-7D48-959A-01E54AA9DF97}"/>
                </a:ext>
              </a:extLst>
            </p:cNvPr>
            <p:cNvSpPr txBox="1"/>
            <p:nvPr/>
          </p:nvSpPr>
          <p:spPr>
            <a:xfrm>
              <a:off x="9204080" y="5705680"/>
              <a:ext cx="5501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ER 1-1</a:t>
              </a: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99961ECF-CA2D-1145-A618-196262162C01}"/>
                </a:ext>
              </a:extLst>
            </p:cNvPr>
            <p:cNvCxnSpPr>
              <a:cxnSpLocks/>
              <a:stCxn id="46" idx="2"/>
              <a:endCxn id="54" idx="0"/>
            </p:cNvCxnSpPr>
            <p:nvPr/>
          </p:nvCxnSpPr>
          <p:spPr>
            <a:xfrm>
              <a:off x="9742463" y="5568609"/>
              <a:ext cx="210013" cy="1370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14A82D6-B2B6-204A-93A8-E00BE7C7A636}"/>
                </a:ext>
              </a:extLst>
            </p:cNvPr>
            <p:cNvSpPr txBox="1"/>
            <p:nvPr/>
          </p:nvSpPr>
          <p:spPr>
            <a:xfrm>
              <a:off x="9677400" y="5705680"/>
              <a:ext cx="5501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ER 1-2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6B88F274-2B93-2A46-A08F-8F34363D4037}"/>
                </a:ext>
              </a:extLst>
            </p:cNvPr>
            <p:cNvSpPr txBox="1"/>
            <p:nvPr/>
          </p:nvSpPr>
          <p:spPr>
            <a:xfrm>
              <a:off x="10148043" y="5662279"/>
              <a:ext cx="3145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…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20771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21BD19-2E15-654E-AB63-9A1306E05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8500"/>
            <a:ext cx="7173522" cy="5488498"/>
          </a:xfrm>
        </p:spPr>
        <p:txBody>
          <a:bodyPr>
            <a:normAutofit/>
          </a:bodyPr>
          <a:lstStyle/>
          <a:p>
            <a:r>
              <a:rPr lang="en-US" sz="2000" dirty="0"/>
              <a:t>Evidence states and agent updates</a:t>
            </a:r>
          </a:p>
          <a:p>
            <a:pPr lvl="1"/>
            <a:r>
              <a:rPr lang="en-US" sz="1800" dirty="0"/>
              <a:t>State is stored in first line of an evidence record</a:t>
            </a:r>
          </a:p>
          <a:p>
            <a:pPr lvl="1"/>
            <a:r>
              <a:rPr lang="en-US" sz="1800" dirty="0"/>
              <a:t>Initially, new evidence created as pending</a:t>
            </a:r>
          </a:p>
          <a:p>
            <a:pPr lvl="2"/>
            <a:r>
              <a:rPr lang="en-US" sz="1400" dirty="0"/>
              <a:t>Tool/process agent for evidence category is invoked if identified</a:t>
            </a:r>
          </a:p>
          <a:p>
            <a:pPr lvl="2"/>
            <a:r>
              <a:rPr lang="en-US" sz="1400" dirty="0"/>
              <a:t>Agent accepts handoff my moving into ongoing state</a:t>
            </a:r>
          </a:p>
          <a:p>
            <a:pPr lvl="1"/>
            <a:r>
              <a:rPr lang="en-US" sz="1800" dirty="0"/>
              <a:t>Agent invokes assurance activity to provide definite valid/invalid result or postpones as ongoing</a:t>
            </a:r>
          </a:p>
          <a:p>
            <a:pPr lvl="2"/>
            <a:r>
              <a:rPr lang="en-US" sz="1400" dirty="0"/>
              <a:t>            </a:t>
            </a:r>
            <a:r>
              <a:rPr lang="en-US" sz="1400" dirty="0">
                <a:sym typeface="Wingdings" pitchFamily="2" charset="2"/>
              </a:rPr>
              <a:t> pending (record is created; agent to be started)</a:t>
            </a:r>
          </a:p>
          <a:p>
            <a:pPr lvl="2"/>
            <a:r>
              <a:rPr lang="en-US" sz="1400" dirty="0"/>
              <a:t>pending </a:t>
            </a:r>
            <a:r>
              <a:rPr lang="en-US" sz="1400" dirty="0">
                <a:sym typeface="Wingdings" pitchFamily="2" charset="2"/>
              </a:rPr>
              <a:t> ongoing (agent accepts record handoff)</a:t>
            </a:r>
          </a:p>
          <a:p>
            <a:pPr lvl="2"/>
            <a:r>
              <a:rPr lang="en-US" sz="1400" dirty="0">
                <a:sym typeface="Wingdings" pitchFamily="2" charset="2"/>
              </a:rPr>
              <a:t>ongoing  ongoing (deferred or long-running activities)</a:t>
            </a:r>
          </a:p>
          <a:p>
            <a:pPr lvl="2"/>
            <a:r>
              <a:rPr lang="en-US" sz="1400" dirty="0"/>
              <a:t>pending </a:t>
            </a:r>
            <a:r>
              <a:rPr lang="en-US" sz="1400" dirty="0">
                <a:sym typeface="Wingdings" pitchFamily="2" charset="2"/>
              </a:rPr>
              <a:t> valid (agent immediately determines valid)</a:t>
            </a:r>
          </a:p>
          <a:p>
            <a:pPr lvl="2"/>
            <a:r>
              <a:rPr lang="en-US" sz="1400" dirty="0"/>
              <a:t>pending </a:t>
            </a:r>
            <a:r>
              <a:rPr lang="en-US" sz="1400" dirty="0">
                <a:sym typeface="Wingdings" pitchFamily="2" charset="2"/>
              </a:rPr>
              <a:t> invalid (agent immediately determines invalid)</a:t>
            </a:r>
          </a:p>
          <a:p>
            <a:pPr lvl="2"/>
            <a:r>
              <a:rPr lang="en-US" sz="1400" dirty="0">
                <a:sym typeface="Wingdings" pitchFamily="2" charset="2"/>
              </a:rPr>
              <a:t>ongoing  valid (agent records valid tool/process result)</a:t>
            </a:r>
          </a:p>
          <a:p>
            <a:pPr lvl="2"/>
            <a:r>
              <a:rPr lang="en-US" sz="1400" dirty="0">
                <a:sym typeface="Wingdings" pitchFamily="2" charset="2"/>
              </a:rPr>
              <a:t>ongoing  invalid (agent records invalid tool/process result)</a:t>
            </a:r>
          </a:p>
          <a:p>
            <a:r>
              <a:rPr lang="en-US" sz="2000" dirty="0">
                <a:solidFill>
                  <a:srgbClr val="00B0F0"/>
                </a:solidFill>
              </a:rPr>
              <a:t>You only need to understand this</a:t>
            </a:r>
            <a:br>
              <a:rPr lang="en-US" sz="2000" dirty="0">
                <a:solidFill>
                  <a:srgbClr val="00B0F0"/>
                </a:solidFill>
              </a:rPr>
            </a:br>
            <a:r>
              <a:rPr lang="en-US" sz="2000" dirty="0">
                <a:solidFill>
                  <a:srgbClr val="00B0F0"/>
                </a:solidFill>
              </a:rPr>
              <a:t>if creating an Agent for a tool</a:t>
            </a:r>
            <a:br>
              <a:rPr lang="en-US" sz="2000" dirty="0">
                <a:solidFill>
                  <a:srgbClr val="00B0F0"/>
                </a:solidFill>
              </a:rPr>
            </a:br>
            <a:r>
              <a:rPr lang="en-US" sz="2000" dirty="0">
                <a:solidFill>
                  <a:srgbClr val="00B0F0"/>
                </a:solidFill>
              </a:rPr>
              <a:t>or workflow process</a:t>
            </a:r>
          </a:p>
          <a:p>
            <a:endParaRPr lang="en-US" sz="2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13E7B7-DA77-FF44-A3E3-6D6EC91C3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B8C0C-091D-8848-8612-9B443E0F1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53216F-6879-464E-8DD3-2A9664B2A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568D3AB-90CD-0647-9D01-14F965DF8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83" y="152400"/>
            <a:ext cx="10363200" cy="856525"/>
          </a:xfrm>
        </p:spPr>
        <p:txBody>
          <a:bodyPr>
            <a:noAutofit/>
          </a:bodyPr>
          <a:lstStyle/>
          <a:p>
            <a:r>
              <a:rPr lang="en-US" sz="2800" dirty="0"/>
              <a:t>EVIDENCE Record status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F3BE881-872D-2B4A-82A4-88560BC56DDC}"/>
              </a:ext>
            </a:extLst>
          </p:cNvPr>
          <p:cNvGrpSpPr/>
          <p:nvPr/>
        </p:nvGrpSpPr>
        <p:grpSpPr>
          <a:xfrm>
            <a:off x="7362406" y="2251522"/>
            <a:ext cx="4561114" cy="3238183"/>
            <a:chOff x="7086600" y="2253657"/>
            <a:chExt cx="4561114" cy="323818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F9FBA43-C5F6-BB4B-80AA-9C4A9C631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0" y="2253657"/>
              <a:ext cx="4408714" cy="323818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3C3023-C3FE-454B-9803-45A8AF19A45B}"/>
                </a:ext>
              </a:extLst>
            </p:cNvPr>
            <p:cNvSpPr txBox="1"/>
            <p:nvPr/>
          </p:nvSpPr>
          <p:spPr>
            <a:xfrm>
              <a:off x="7086600" y="3128918"/>
              <a:ext cx="699230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70C0"/>
                  </a:solidFill>
                </a:rPr>
                <a:t>create</a:t>
              </a:r>
              <a:br>
                <a:rPr lang="en-US" sz="1100" dirty="0">
                  <a:solidFill>
                    <a:srgbClr val="0070C0"/>
                  </a:solidFill>
                </a:rPr>
              </a:br>
              <a:r>
                <a:rPr lang="en-US" sz="1100" dirty="0">
                  <a:solidFill>
                    <a:srgbClr val="0070C0"/>
                  </a:solidFill>
                </a:rPr>
                <a:t>evidence</a:t>
              </a:r>
              <a:br>
                <a:rPr lang="en-US" sz="1100" dirty="0">
                  <a:solidFill>
                    <a:srgbClr val="0070C0"/>
                  </a:solidFill>
                </a:rPr>
              </a:br>
              <a:r>
                <a:rPr lang="en-US" sz="1100" dirty="0">
                  <a:solidFill>
                    <a:srgbClr val="0070C0"/>
                  </a:solidFill>
                </a:rPr>
                <a:t>record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7A33456-858F-E14F-A2B4-130C68D3A414}"/>
                </a:ext>
              </a:extLst>
            </p:cNvPr>
            <p:cNvSpPr txBox="1"/>
            <p:nvPr/>
          </p:nvSpPr>
          <p:spPr>
            <a:xfrm>
              <a:off x="8771954" y="3200400"/>
              <a:ext cx="633507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70C0"/>
                  </a:solidFill>
                </a:rPr>
                <a:t>agent</a:t>
              </a:r>
              <a:br>
                <a:rPr lang="en-US" sz="1100" dirty="0">
                  <a:solidFill>
                    <a:srgbClr val="0070C0"/>
                  </a:solidFill>
                </a:rPr>
              </a:br>
              <a:r>
                <a:rPr lang="en-US" sz="1100" dirty="0">
                  <a:solidFill>
                    <a:srgbClr val="0070C0"/>
                  </a:solidFill>
                </a:rPr>
                <a:t>accepts</a:t>
              </a:r>
              <a:br>
                <a:rPr lang="en-US" sz="1100" dirty="0">
                  <a:solidFill>
                    <a:srgbClr val="0070C0"/>
                  </a:solidFill>
                </a:rPr>
              </a:br>
              <a:r>
                <a:rPr lang="en-US" sz="1100" dirty="0">
                  <a:solidFill>
                    <a:srgbClr val="0070C0"/>
                  </a:solidFill>
                </a:rPr>
                <a:t>handoff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993407-35B9-C740-83DE-B6AA63ACA48B}"/>
                </a:ext>
              </a:extLst>
            </p:cNvPr>
            <p:cNvSpPr txBox="1"/>
            <p:nvPr/>
          </p:nvSpPr>
          <p:spPr>
            <a:xfrm>
              <a:off x="10210800" y="2447836"/>
              <a:ext cx="611066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70C0"/>
                  </a:solidFill>
                </a:rPr>
                <a:t>agent</a:t>
              </a:r>
              <a:br>
                <a:rPr lang="en-US" sz="1100" dirty="0">
                  <a:solidFill>
                    <a:srgbClr val="0070C0"/>
                  </a:solidFill>
                </a:rPr>
              </a:br>
              <a:r>
                <a:rPr lang="en-US" sz="1100" dirty="0">
                  <a:solidFill>
                    <a:srgbClr val="0070C0"/>
                  </a:solidFill>
                </a:rPr>
                <a:t>records</a:t>
              </a:r>
              <a:br>
                <a:rPr lang="en-US" sz="1100" dirty="0">
                  <a:solidFill>
                    <a:srgbClr val="0070C0"/>
                  </a:solidFill>
                </a:rPr>
              </a:br>
              <a:r>
                <a:rPr lang="en-US" sz="1100" dirty="0">
                  <a:solidFill>
                    <a:srgbClr val="0070C0"/>
                  </a:solidFill>
                </a:rPr>
                <a:t>success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5F024F4-1F82-AC47-8C85-BE127E09BBFD}"/>
                </a:ext>
              </a:extLst>
            </p:cNvPr>
            <p:cNvSpPr txBox="1"/>
            <p:nvPr/>
          </p:nvSpPr>
          <p:spPr>
            <a:xfrm>
              <a:off x="10156863" y="4419600"/>
              <a:ext cx="615874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70C0"/>
                  </a:solidFill>
                </a:rPr>
                <a:t>agent</a:t>
              </a:r>
              <a:br>
                <a:rPr lang="en-US" sz="1100" dirty="0">
                  <a:solidFill>
                    <a:srgbClr val="0070C0"/>
                  </a:solidFill>
                </a:rPr>
              </a:br>
              <a:r>
                <a:rPr lang="en-US" sz="1100" dirty="0">
                  <a:solidFill>
                    <a:srgbClr val="0070C0"/>
                  </a:solidFill>
                </a:rPr>
                <a:t>records</a:t>
              </a:r>
              <a:br>
                <a:rPr lang="en-US" sz="1100" dirty="0">
                  <a:solidFill>
                    <a:srgbClr val="0070C0"/>
                  </a:solidFill>
                </a:rPr>
              </a:br>
              <a:r>
                <a:rPr lang="en-US" sz="1100" dirty="0">
                  <a:solidFill>
                    <a:srgbClr val="0070C0"/>
                  </a:solidFill>
                </a:rPr>
                <a:t>failure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9F09E1-EFA0-2D47-9600-7AA27D998326}"/>
                </a:ext>
              </a:extLst>
            </p:cNvPr>
            <p:cNvSpPr txBox="1"/>
            <p:nvPr/>
          </p:nvSpPr>
          <p:spPr>
            <a:xfrm>
              <a:off x="7491282" y="4554157"/>
              <a:ext cx="829073" cy="6001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70C0"/>
                  </a:solidFill>
                </a:rPr>
                <a:t>agent</a:t>
              </a:r>
              <a:br>
                <a:rPr lang="en-US" sz="1100" dirty="0">
                  <a:solidFill>
                    <a:srgbClr val="0070C0"/>
                  </a:solidFill>
                </a:rPr>
              </a:br>
              <a:r>
                <a:rPr lang="en-US" sz="1100" dirty="0">
                  <a:solidFill>
                    <a:srgbClr val="0070C0"/>
                  </a:solidFill>
                </a:rPr>
                <a:t>reports</a:t>
              </a:r>
              <a:br>
                <a:rPr lang="en-US" sz="1100" dirty="0">
                  <a:solidFill>
                    <a:srgbClr val="0070C0"/>
                  </a:solidFill>
                </a:rPr>
              </a:br>
              <a:r>
                <a:rPr lang="en-US" sz="1100" dirty="0">
                  <a:solidFill>
                    <a:srgbClr val="0070C0"/>
                  </a:solidFill>
                </a:rPr>
                <a:t>incomplete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463377E-54EA-184E-AB26-C7FA15F88B42}"/>
                </a:ext>
              </a:extLst>
            </p:cNvPr>
            <p:cNvSpPr txBox="1"/>
            <p:nvPr/>
          </p:nvSpPr>
          <p:spPr>
            <a:xfrm>
              <a:off x="9296400" y="2775303"/>
              <a:ext cx="82907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solidFill>
                    <a:srgbClr val="0070C0"/>
                  </a:solidFill>
                </a:rPr>
                <a:t>activity</a:t>
              </a:r>
              <a:br>
                <a:rPr lang="en-US" sz="1100" dirty="0">
                  <a:solidFill>
                    <a:srgbClr val="0070C0"/>
                  </a:solidFill>
                </a:rPr>
              </a:br>
              <a:r>
                <a:rPr lang="en-US" sz="1100" dirty="0">
                  <a:solidFill>
                    <a:srgbClr val="0070C0"/>
                  </a:solidFill>
                </a:rPr>
                <a:t>incomplete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5BCC479-9D77-F34B-90C1-51CD54EED33F}"/>
                </a:ext>
              </a:extLst>
            </p:cNvPr>
            <p:cNvGrpSpPr/>
            <p:nvPr/>
          </p:nvGrpSpPr>
          <p:grpSpPr>
            <a:xfrm>
              <a:off x="9614566" y="3155537"/>
              <a:ext cx="410861" cy="244318"/>
              <a:chOff x="8915400" y="1766619"/>
              <a:chExt cx="410861" cy="244318"/>
            </a:xfrm>
          </p:grpSpPr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D30C4454-F2FE-1F4A-8939-F8AFCE21AE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8707" y="1767418"/>
                <a:ext cx="237554" cy="24351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0D3A5890-6EF3-D648-8681-35E207C94F9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15400" y="1766619"/>
                <a:ext cx="173307" cy="243519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760443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AAA8AE-5AB7-E94A-A2FA-ACA1392D8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DB0415-C787-DE4F-A2FF-88EDCBD9A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B6707-A471-4241-8D65-7AE581DA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B92B02-755F-8B4D-9A0E-DEB1538C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O-ETB Agents interact with external tools and processes and update evidence records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89CCAD-2F9F-EB4B-94EB-0C3E0485E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327150"/>
            <a:ext cx="7416800" cy="494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008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C93341-4FA3-C240-BD1A-D19F76BA8E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438" y="685800"/>
            <a:ext cx="7401684" cy="5748387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A79585-49E6-154F-A476-EBB34C64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18282-B3AF-7B44-AFB3-76B40AC32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7E3B7-1F46-684F-9EA0-AAA24F84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4D8891E-0587-0A4E-A77D-4B4128F8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O-ETB sequence</a:t>
            </a:r>
          </a:p>
        </p:txBody>
      </p:sp>
    </p:spTree>
    <p:extLst>
      <p:ext uri="{BB962C8B-B14F-4D97-AF65-F5344CB8AC3E}">
        <p14:creationId xmlns:p14="http://schemas.microsoft.com/office/powerpoint/2010/main" val="35504321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FC9C-74F4-9847-AFDF-643149992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O-ETB Certification Assurance Package (CAP)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4966F-C913-0C45-A79D-B421E5CA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1D8D9-C54C-B54D-8A80-F4F5EE35B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B78FE-90CB-E14C-A5D6-D879CD3EE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9DD75A2-90DF-0D4F-94AD-047A1EBB9844}"/>
              </a:ext>
            </a:extLst>
          </p:cNvPr>
          <p:cNvGrpSpPr/>
          <p:nvPr/>
        </p:nvGrpSpPr>
        <p:grpSpPr>
          <a:xfrm>
            <a:off x="7585484" y="4191000"/>
            <a:ext cx="2879316" cy="2123450"/>
            <a:chOff x="8703084" y="1771183"/>
            <a:chExt cx="2879316" cy="212345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528FEC1-989C-7848-A46C-5CB3A97E99D2}"/>
                </a:ext>
              </a:extLst>
            </p:cNvPr>
            <p:cNvSpPr txBox="1"/>
            <p:nvPr/>
          </p:nvSpPr>
          <p:spPr>
            <a:xfrm>
              <a:off x="10255899" y="1771183"/>
              <a:ext cx="7569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O-ETB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A18E350-7B38-B544-B354-B9B2741F3924}"/>
                </a:ext>
              </a:extLst>
            </p:cNvPr>
            <p:cNvSpPr txBox="1"/>
            <p:nvPr/>
          </p:nvSpPr>
          <p:spPr>
            <a:xfrm>
              <a:off x="9239514" y="2423133"/>
              <a:ext cx="5597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CAP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AE3204-DB18-D344-8551-F47866000249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flipH="1">
              <a:off x="9519399" y="2140515"/>
              <a:ext cx="1114969" cy="2826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1AC6E25-4FCB-6C42-8821-527D47F9D9EC}"/>
                </a:ext>
              </a:extLst>
            </p:cNvPr>
            <p:cNvCxnSpPr>
              <a:cxnSpLocks/>
              <a:stCxn id="9" idx="2"/>
              <a:endCxn id="14" idx="0"/>
            </p:cNvCxnSpPr>
            <p:nvPr/>
          </p:nvCxnSpPr>
          <p:spPr>
            <a:xfrm flipH="1">
              <a:off x="9051747" y="2792465"/>
              <a:ext cx="467652" cy="7192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693D421-14A6-4D48-9CF2-69D46FE187D1}"/>
                </a:ext>
              </a:extLst>
            </p:cNvPr>
            <p:cNvCxnSpPr>
              <a:cxnSpLocks/>
              <a:stCxn id="9" idx="2"/>
              <a:endCxn id="15" idx="0"/>
            </p:cNvCxnSpPr>
            <p:nvPr/>
          </p:nvCxnSpPr>
          <p:spPr>
            <a:xfrm>
              <a:off x="9519399" y="2792465"/>
              <a:ext cx="343322" cy="7328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26B49EA-2644-E54B-AFA7-FD17C26CFD5E}"/>
                </a:ext>
              </a:extLst>
            </p:cNvPr>
            <p:cNvCxnSpPr>
              <a:cxnSpLocks/>
              <a:stCxn id="9" idx="2"/>
              <a:endCxn id="16" idx="0"/>
            </p:cNvCxnSpPr>
            <p:nvPr/>
          </p:nvCxnSpPr>
          <p:spPr>
            <a:xfrm>
              <a:off x="9519399" y="2792465"/>
              <a:ext cx="1690143" cy="717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002E26-F50B-C042-9D09-B201078BF79D}"/>
                </a:ext>
              </a:extLst>
            </p:cNvPr>
            <p:cNvSpPr txBox="1"/>
            <p:nvPr/>
          </p:nvSpPr>
          <p:spPr>
            <a:xfrm>
              <a:off x="8703084" y="3511742"/>
              <a:ext cx="6973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CPI 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D7D794-A376-0649-BC50-D57EE640A8B8}"/>
                </a:ext>
              </a:extLst>
            </p:cNvPr>
            <p:cNvSpPr txBox="1"/>
            <p:nvPr/>
          </p:nvSpPr>
          <p:spPr>
            <a:xfrm>
              <a:off x="9489862" y="3525301"/>
              <a:ext cx="7457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CPI 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33D0B9-AC0B-8E48-9D92-7E299BF8C375}"/>
                </a:ext>
              </a:extLst>
            </p:cNvPr>
            <p:cNvSpPr txBox="1"/>
            <p:nvPr/>
          </p:nvSpPr>
          <p:spPr>
            <a:xfrm>
              <a:off x="10836684" y="3509565"/>
              <a:ext cx="745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CPI p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BD8C242-ADA1-0B4C-902E-9FCE1023496C}"/>
                </a:ext>
              </a:extLst>
            </p:cNvPr>
            <p:cNvSpPr txBox="1"/>
            <p:nvPr/>
          </p:nvSpPr>
          <p:spPr>
            <a:xfrm>
              <a:off x="10450198" y="3441443"/>
              <a:ext cx="3962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…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33190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C06946-4DF3-9D40-96F2-DBF10AAA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Contains output of O-ETB export functions intended to be consumed by assurance engineers and certification evaluators as part of a certification activity</a:t>
            </a:r>
          </a:p>
          <a:p>
            <a:pPr lvl="1"/>
            <a:r>
              <a:rPr lang="en-US" dirty="0"/>
              <a:t>Distinct certification projects can be grouped as subdirectories within CAP with project ids (CPI)</a:t>
            </a:r>
          </a:p>
          <a:p>
            <a:r>
              <a:rPr lang="en-US" dirty="0"/>
              <a:t>The O-ETB export functions can be extended or tailored to meet specific certification requirements</a:t>
            </a:r>
          </a:p>
          <a:p>
            <a:pPr lvl="1"/>
            <a:r>
              <a:rPr lang="en-US" dirty="0"/>
              <a:t>Certification type specifications should be provided in the KB and referenced by export functions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1CE45C-E894-5F49-8F38-134795FBB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28EEA-E0C9-7F42-BE70-712874509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6B093-5F96-F54B-9804-9D5CEC46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62AD557-9F66-F14F-B0D9-9F2D4DF8D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Certification Assurance Package (CAP)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2EB2BC5-F747-D744-9046-ECFDC43D95BC}"/>
              </a:ext>
            </a:extLst>
          </p:cNvPr>
          <p:cNvGrpSpPr/>
          <p:nvPr/>
        </p:nvGrpSpPr>
        <p:grpSpPr>
          <a:xfrm>
            <a:off x="9448800" y="222948"/>
            <a:ext cx="1905000" cy="1245549"/>
            <a:chOff x="8703084" y="1771183"/>
            <a:chExt cx="2879314" cy="247422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2C6B7B-3F64-1D46-BF53-1E754D71FA27}"/>
                </a:ext>
              </a:extLst>
            </p:cNvPr>
            <p:cNvSpPr txBox="1"/>
            <p:nvPr/>
          </p:nvSpPr>
          <p:spPr>
            <a:xfrm>
              <a:off x="10255899" y="1771183"/>
              <a:ext cx="810007" cy="458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O-ETB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84CD443-5862-5044-B914-770ECB5DB1C3}"/>
                </a:ext>
              </a:extLst>
            </p:cNvPr>
            <p:cNvSpPr txBox="1"/>
            <p:nvPr/>
          </p:nvSpPr>
          <p:spPr>
            <a:xfrm>
              <a:off x="9239513" y="2423132"/>
              <a:ext cx="639306" cy="458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CAP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50E8E6F-A01D-8642-A059-654EDB032310}"/>
                </a:ext>
              </a:extLst>
            </p:cNvPr>
            <p:cNvCxnSpPr>
              <a:cxnSpLocks/>
              <a:stCxn id="8" idx="2"/>
              <a:endCxn id="9" idx="0"/>
            </p:cNvCxnSpPr>
            <p:nvPr/>
          </p:nvCxnSpPr>
          <p:spPr>
            <a:xfrm flipH="1">
              <a:off x="9559166" y="2229719"/>
              <a:ext cx="1101736" cy="19341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631C72A-1BB4-B341-80BA-407B4B082143}"/>
                </a:ext>
              </a:extLst>
            </p:cNvPr>
            <p:cNvCxnSpPr>
              <a:cxnSpLocks/>
              <a:stCxn id="9" idx="2"/>
              <a:endCxn id="14" idx="0"/>
            </p:cNvCxnSpPr>
            <p:nvPr/>
          </p:nvCxnSpPr>
          <p:spPr>
            <a:xfrm flipH="1">
              <a:off x="9051748" y="2881669"/>
              <a:ext cx="507418" cy="63007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5759E34-EB2B-EA42-9B42-F9D4539E1651}"/>
                </a:ext>
              </a:extLst>
            </p:cNvPr>
            <p:cNvCxnSpPr>
              <a:cxnSpLocks/>
              <a:stCxn id="9" idx="2"/>
              <a:endCxn id="15" idx="0"/>
            </p:cNvCxnSpPr>
            <p:nvPr/>
          </p:nvCxnSpPr>
          <p:spPr>
            <a:xfrm>
              <a:off x="9559166" y="2881669"/>
              <a:ext cx="303554" cy="6436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A94C465-D618-D54A-B7BC-9C1A338C6027}"/>
                </a:ext>
              </a:extLst>
            </p:cNvPr>
            <p:cNvCxnSpPr>
              <a:cxnSpLocks/>
              <a:stCxn id="9" idx="2"/>
              <a:endCxn id="16" idx="0"/>
            </p:cNvCxnSpPr>
            <p:nvPr/>
          </p:nvCxnSpPr>
          <p:spPr>
            <a:xfrm>
              <a:off x="9559166" y="2881669"/>
              <a:ext cx="1650374" cy="627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80434B-06E3-5145-91F3-28C0CF7B78EE}"/>
                </a:ext>
              </a:extLst>
            </p:cNvPr>
            <p:cNvSpPr txBox="1"/>
            <p:nvPr/>
          </p:nvSpPr>
          <p:spPr>
            <a:xfrm>
              <a:off x="8703084" y="3511745"/>
              <a:ext cx="697327" cy="733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CPI 1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65211DC-65D1-0B40-BC29-DA16C517D5AE}"/>
                </a:ext>
              </a:extLst>
            </p:cNvPr>
            <p:cNvSpPr txBox="1"/>
            <p:nvPr/>
          </p:nvSpPr>
          <p:spPr>
            <a:xfrm>
              <a:off x="9489861" y="3525299"/>
              <a:ext cx="745717" cy="458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CPI 2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30C39DB-E4C8-5040-BF2B-B8FBD1F53F52}"/>
                </a:ext>
              </a:extLst>
            </p:cNvPr>
            <p:cNvSpPr txBox="1"/>
            <p:nvPr/>
          </p:nvSpPr>
          <p:spPr>
            <a:xfrm>
              <a:off x="10836682" y="3509564"/>
              <a:ext cx="745716" cy="458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CPI p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994FD7-0029-694C-8B8E-EA52658D4810}"/>
                </a:ext>
              </a:extLst>
            </p:cNvPr>
            <p:cNvSpPr txBox="1"/>
            <p:nvPr/>
          </p:nvSpPr>
          <p:spPr>
            <a:xfrm>
              <a:off x="10450198" y="3441443"/>
              <a:ext cx="396263" cy="458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…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57208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7D186C-9D9A-E449-B5BC-9E32FED66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066800"/>
            <a:ext cx="5181600" cy="5105400"/>
          </a:xfrm>
        </p:spPr>
        <p:txBody>
          <a:bodyPr>
            <a:normAutofit/>
          </a:bodyPr>
          <a:lstStyle/>
          <a:p>
            <a:r>
              <a:rPr lang="en-US" sz="2400" dirty="0"/>
              <a:t>“html”</a:t>
            </a:r>
            <a:br>
              <a:rPr lang="en-US" sz="2400" dirty="0"/>
            </a:br>
            <a:r>
              <a:rPr lang="en-US" sz="2400" dirty="0"/>
              <a:t>Directory of files, e.g.: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“text”</a:t>
            </a:r>
            <a:br>
              <a:rPr lang="en-US" sz="2400" dirty="0"/>
            </a:br>
            <a:r>
              <a:rPr lang="en-US" sz="2400" dirty="0"/>
              <a:t>Structured text file, e.g.: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035836-F8D3-1942-8221-4E611D65D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57461-1BD4-2348-AC8A-2295647F1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3D7B8-FA65-E94A-8211-F485FD40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FD0CD8F-6DBB-8C41-96EB-E24D6394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 Assurance Case Representations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19B9C0-DDAC-4143-9AB0-97C438F17CE2}"/>
              </a:ext>
            </a:extLst>
          </p:cNvPr>
          <p:cNvSpPr txBox="1"/>
          <p:nvPr/>
        </p:nvSpPr>
        <p:spPr>
          <a:xfrm>
            <a:off x="5537200" y="2514600"/>
            <a:ext cx="5638800" cy="397031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/>
              <a:t>goal g1_1 : G1: {hit-spec} Safety - Health IT is safe to use in defined care setting</a:t>
            </a:r>
          </a:p>
          <a:p>
            <a:r>
              <a:rPr lang="en-US" sz="900" dirty="0"/>
              <a:t>  - context : Con1: Care Setting - Care setting definition and description</a:t>
            </a:r>
          </a:p>
          <a:p>
            <a:r>
              <a:rPr lang="en-US" sz="900" dirty="0"/>
              <a:t>  - context : Con2: {hit-spec} - HIT specification</a:t>
            </a:r>
          </a:p>
          <a:p>
            <a:r>
              <a:rPr lang="en-US" sz="900" dirty="0"/>
              <a:t>  strategy : S1: Risk Management - Argument based on adherence to ISO 80001-1 risk management process standard</a:t>
            </a:r>
          </a:p>
          <a:p>
            <a:r>
              <a:rPr lang="en-US" sz="900" dirty="0"/>
              <a:t>    - justification : J1: Effective Process - ISO 80001-1 is an internationally published standard</a:t>
            </a:r>
          </a:p>
          <a:p>
            <a:r>
              <a:rPr lang="en-US" sz="900" dirty="0"/>
              <a:t>    away goal -&gt; g1_1_2</a:t>
            </a:r>
          </a:p>
          <a:p>
            <a:r>
              <a:rPr lang="en-US" sz="900" dirty="0"/>
              <a:t>    away goal -&gt; g1_1_3</a:t>
            </a:r>
          </a:p>
          <a:p>
            <a:r>
              <a:rPr lang="en-US" sz="900" dirty="0"/>
              <a:t>goal g1_1_2 : G1.1: Residual risk - risk to node {node1} of {hit-spec} is tolerated</a:t>
            </a:r>
          </a:p>
          <a:p>
            <a:r>
              <a:rPr lang="en-US" sz="900" dirty="0"/>
              <a:t>  - context : Con3: Risk Criteria - Criteria used to classify, evaluate and accept risk</a:t>
            </a:r>
          </a:p>
          <a:p>
            <a:r>
              <a:rPr lang="en-US" sz="900" dirty="0"/>
              <a:t>  - context : Con4: Tolerable Risk - Risk meeting criteria (acceptable) or outweighed by clinical benefit (accepted)</a:t>
            </a:r>
          </a:p>
          <a:p>
            <a:r>
              <a:rPr lang="en-US" sz="900" dirty="0"/>
              <a:t>  strategy : for every identified hazard</a:t>
            </a:r>
          </a:p>
          <a:p>
            <a:r>
              <a:rPr lang="en-US" sz="900" dirty="0"/>
              <a:t>    goal g1_1_1_4 : Risk of hazard {a-hazard} is acceptable/accepted in node {node1}</a:t>
            </a:r>
          </a:p>
          <a:p>
            <a:r>
              <a:rPr lang="en-US" sz="900" dirty="0"/>
              <a:t>      evidence </a:t>
            </a:r>
            <a:r>
              <a:rPr lang="en-US" sz="900" dirty="0" err="1"/>
              <a:t>hazard_log</a:t>
            </a:r>
            <a:r>
              <a:rPr lang="en-US" sz="900" dirty="0"/>
              <a:t> : {node1} Hazard log identifies {a-hazard} risk assessment</a:t>
            </a:r>
          </a:p>
          <a:p>
            <a:r>
              <a:rPr lang="en-US" sz="900" dirty="0"/>
              <a:t>         pending reference -&gt; 10001</a:t>
            </a:r>
          </a:p>
          <a:p>
            <a:r>
              <a:rPr lang="en-US" sz="900" dirty="0"/>
              <a:t>    goal g1_1_1_5 : Risk of hazard {b-hazard} is acceptable/accepted in node {node1}</a:t>
            </a:r>
          </a:p>
          <a:p>
            <a:r>
              <a:rPr lang="en-US" sz="900" dirty="0"/>
              <a:t>      evidence </a:t>
            </a:r>
            <a:r>
              <a:rPr lang="en-US" sz="900" dirty="0" err="1"/>
              <a:t>hazard_log</a:t>
            </a:r>
            <a:r>
              <a:rPr lang="en-US" sz="900" dirty="0"/>
              <a:t> : {node1} Hazard log identifies {b-hazard} risk assessment</a:t>
            </a:r>
          </a:p>
          <a:p>
            <a:r>
              <a:rPr lang="en-US" sz="900" dirty="0"/>
              <a:t>         pending reference -&gt; 10002</a:t>
            </a:r>
          </a:p>
          <a:p>
            <a:r>
              <a:rPr lang="en-US" sz="900" dirty="0"/>
              <a:t>goal g1_1_3 : G1.1: Residual risk - risk to node {node2} of {hit-spec} is tolerated</a:t>
            </a:r>
          </a:p>
          <a:p>
            <a:r>
              <a:rPr lang="en-US" sz="900" dirty="0"/>
              <a:t>  - context : Con3: Risk Criteria - Criteria used to classify, evaluate and accept risk</a:t>
            </a:r>
          </a:p>
          <a:p>
            <a:r>
              <a:rPr lang="en-US" sz="900" dirty="0"/>
              <a:t>  - context : Con4: Tolerable Risk - Risk meeting criteria (acceptable) or outweighed by clinical benefit (accepted)</a:t>
            </a:r>
          </a:p>
          <a:p>
            <a:r>
              <a:rPr lang="en-US" sz="900" dirty="0"/>
              <a:t>  strategy : for every identified hazard</a:t>
            </a:r>
          </a:p>
          <a:p>
            <a:r>
              <a:rPr lang="en-US" sz="900" dirty="0"/>
              <a:t>    goal g1_1_1_6 : Risk of hazard {a-hazard} is acceptable/accepted in node {node2}</a:t>
            </a:r>
          </a:p>
          <a:p>
            <a:r>
              <a:rPr lang="en-US" sz="900" dirty="0"/>
              <a:t>      evidence </a:t>
            </a:r>
            <a:r>
              <a:rPr lang="en-US" sz="900" dirty="0" err="1"/>
              <a:t>hazard_log</a:t>
            </a:r>
            <a:r>
              <a:rPr lang="en-US" sz="900" dirty="0"/>
              <a:t> : {node2} Hazard log identifies {a-hazard} risk assessment</a:t>
            </a:r>
          </a:p>
          <a:p>
            <a:r>
              <a:rPr lang="en-US" sz="900" dirty="0"/>
              <a:t>         pending reference -&gt; 10003</a:t>
            </a:r>
          </a:p>
          <a:p>
            <a:r>
              <a:rPr lang="en-US" sz="900" dirty="0"/>
              <a:t>    goal g1_1_1_7 : Risk of hazard {b-hazard} is acceptable/accepted in node {node2}</a:t>
            </a:r>
          </a:p>
          <a:p>
            <a:r>
              <a:rPr lang="en-US" sz="900" dirty="0"/>
              <a:t>      evidence </a:t>
            </a:r>
            <a:r>
              <a:rPr lang="en-US" sz="900" dirty="0" err="1"/>
              <a:t>hazard_log</a:t>
            </a:r>
            <a:r>
              <a:rPr lang="en-US" sz="900" dirty="0"/>
              <a:t> : {node2} Hazard log identifies {b-hazard} risk assessment</a:t>
            </a:r>
          </a:p>
          <a:p>
            <a:r>
              <a:rPr lang="en-US" sz="900" dirty="0"/>
              <a:t>         pending reference -&gt; 10004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C2EDE3-CEC6-8743-B46C-F4BE587C652F}"/>
              </a:ext>
            </a:extLst>
          </p:cNvPr>
          <p:cNvSpPr txBox="1"/>
          <p:nvPr/>
        </p:nvSpPr>
        <p:spPr>
          <a:xfrm>
            <a:off x="3048000" y="2059632"/>
            <a:ext cx="2015295" cy="193899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effectLst/>
              </a:rPr>
              <a:t>MS_generic_risk_based_g1_1.dot</a:t>
            </a:r>
          </a:p>
          <a:p>
            <a:r>
              <a:rPr lang="en-US" sz="1000" dirty="0">
                <a:solidFill>
                  <a:srgbClr val="000000"/>
                </a:solidFill>
                <a:effectLst/>
              </a:rPr>
              <a:t>MS_generic_risk_based_g1_1.html</a:t>
            </a:r>
          </a:p>
          <a:p>
            <a:r>
              <a:rPr lang="en-US" sz="1000" dirty="0">
                <a:solidFill>
                  <a:srgbClr val="000000"/>
                </a:solidFill>
                <a:effectLst/>
              </a:rPr>
              <a:t>MS_generic_risk_based_g1_1.svg</a:t>
            </a:r>
          </a:p>
          <a:p>
            <a:r>
              <a:rPr lang="en-US" sz="1000" dirty="0">
                <a:solidFill>
                  <a:srgbClr val="000000"/>
                </a:solidFill>
                <a:effectLst/>
              </a:rPr>
              <a:t>MS_residual_risk1_g1_1_2.dot</a:t>
            </a:r>
          </a:p>
          <a:p>
            <a:r>
              <a:rPr lang="en-US" sz="1000" dirty="0">
                <a:solidFill>
                  <a:srgbClr val="000000"/>
                </a:solidFill>
                <a:effectLst/>
              </a:rPr>
              <a:t>MS_residual_risk1_g1_1_2.html</a:t>
            </a:r>
          </a:p>
          <a:p>
            <a:r>
              <a:rPr lang="en-US" sz="1000" dirty="0">
                <a:solidFill>
                  <a:srgbClr val="000000"/>
                </a:solidFill>
                <a:effectLst/>
              </a:rPr>
              <a:t>MS_residual_risk1_g1_1_2.svg</a:t>
            </a:r>
          </a:p>
          <a:p>
            <a:r>
              <a:rPr lang="en-US" sz="1000" dirty="0">
                <a:solidFill>
                  <a:srgbClr val="000000"/>
                </a:solidFill>
                <a:effectLst/>
              </a:rPr>
              <a:t>MS_residual_risk1_g1_1_3.dot</a:t>
            </a:r>
          </a:p>
          <a:p>
            <a:r>
              <a:rPr lang="en-US" sz="1000" dirty="0">
                <a:solidFill>
                  <a:srgbClr val="000000"/>
                </a:solidFill>
                <a:effectLst/>
              </a:rPr>
              <a:t>MS_residual_risk1_g1_1_3.html</a:t>
            </a:r>
          </a:p>
          <a:p>
            <a:r>
              <a:rPr lang="en-US" sz="1000" dirty="0">
                <a:solidFill>
                  <a:srgbClr val="000000"/>
                </a:solidFill>
                <a:effectLst/>
              </a:rPr>
              <a:t>MS_residual_risk1_g1_1_3.svg</a:t>
            </a:r>
          </a:p>
          <a:p>
            <a:r>
              <a:rPr lang="en-US" sz="1000" dirty="0" err="1">
                <a:solidFill>
                  <a:srgbClr val="000000"/>
                </a:solidFill>
                <a:effectLst/>
              </a:rPr>
              <a:t>index.html</a:t>
            </a:r>
            <a:endParaRPr lang="en-US" sz="1000" dirty="0">
              <a:solidFill>
                <a:srgbClr val="000000"/>
              </a:solidFill>
              <a:effectLst/>
            </a:endParaRPr>
          </a:p>
          <a:p>
            <a:r>
              <a:rPr lang="en-US" sz="1000" dirty="0" err="1">
                <a:solidFill>
                  <a:srgbClr val="000000"/>
                </a:solidFill>
                <a:effectLst/>
              </a:rPr>
              <a:t>list.html</a:t>
            </a:r>
            <a:endParaRPr lang="en-US" sz="1000" dirty="0">
              <a:solidFill>
                <a:srgbClr val="000000"/>
              </a:solidFill>
              <a:effectLst/>
            </a:endParaRPr>
          </a:p>
          <a:p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581F85-21A4-1343-B300-42DB771E3BF0}"/>
              </a:ext>
            </a:extLst>
          </p:cNvPr>
          <p:cNvSpPr txBox="1"/>
          <p:nvPr/>
        </p:nvSpPr>
        <p:spPr>
          <a:xfrm>
            <a:off x="2971800" y="1828800"/>
            <a:ext cx="12698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iso_system_example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802E0E-4254-C246-BABB-D92619E499B0}"/>
              </a:ext>
            </a:extLst>
          </p:cNvPr>
          <p:cNvSpPr txBox="1"/>
          <p:nvPr/>
        </p:nvSpPr>
        <p:spPr>
          <a:xfrm>
            <a:off x="5454967" y="2283768"/>
            <a:ext cx="14446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iso_system_example.txt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397781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C94457-6579-4D42-B3D0-FC4423F1D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The Open Group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393268-918A-3249-9158-A72AF8887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F31B9-45B3-9243-AF45-8F940551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8B629D-7AF7-5544-BBB1-D3583C0ED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4475"/>
            <a:ext cx="10058400" cy="856525"/>
          </a:xfrm>
        </p:spPr>
        <p:txBody>
          <a:bodyPr/>
          <a:lstStyle/>
          <a:p>
            <a:r>
              <a:rPr lang="en-US" dirty="0"/>
              <a:t>HTML display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9E414D-49F1-C94A-85EF-66F219D8F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04800"/>
            <a:ext cx="6480643" cy="60695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82C05D-AFE8-0D4A-874A-DB779A154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72" y="1574988"/>
            <a:ext cx="5147256" cy="48139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17DD7A-E131-FC4E-A617-72E7DAA56622}"/>
              </a:ext>
            </a:extLst>
          </p:cNvPr>
          <p:cNvCxnSpPr>
            <a:cxnSpLocks/>
          </p:cNvCxnSpPr>
          <p:nvPr/>
        </p:nvCxnSpPr>
        <p:spPr>
          <a:xfrm flipH="1">
            <a:off x="2946400" y="941000"/>
            <a:ext cx="1701800" cy="6485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7498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00200" y="6624124"/>
            <a:ext cx="2133600" cy="233876"/>
          </a:xfrm>
        </p:spPr>
        <p:txBody>
          <a:bodyPr/>
          <a:lstStyle/>
          <a:p>
            <a:r>
              <a:rPr lang="en-US"/>
              <a:t>The Open Group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10000" y="6616998"/>
            <a:ext cx="4572000" cy="241002"/>
          </a:xfrm>
        </p:spPr>
        <p:txBody>
          <a:bodyPr>
            <a:normAutofit lnSpcReduction="10000"/>
          </a:bodyPr>
          <a:lstStyle/>
          <a:p>
            <a:r>
              <a:rPr lang="en-US"/>
              <a:t>Assurance Tool - Integration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72600" y="6616998"/>
            <a:ext cx="1066800" cy="24100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161765"/>
      </p:ext>
    </p:extLst>
  </p:cSld>
  <p:clrMapOvr>
    <a:masterClrMapping/>
  </p:clrMapOvr>
</p:sld>
</file>

<file path=ppt/theme/theme1.xml><?xml version="1.0" encoding="utf-8"?>
<a:theme xmlns:a="http://schemas.openxmlformats.org/drawingml/2006/main" name="MedSecurance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117148</TotalTime>
  <Words>8773</Words>
  <Application>Microsoft Macintosh PowerPoint</Application>
  <PresentationFormat>Widescreen</PresentationFormat>
  <Paragraphs>1170</Paragraphs>
  <Slides>64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64</vt:i4>
      </vt:variant>
    </vt:vector>
  </HeadingPairs>
  <TitlesOfParts>
    <vt:vector size="79" baseType="lpstr">
      <vt:lpstr>Arial</vt:lpstr>
      <vt:lpstr>Calibri</vt:lpstr>
      <vt:lpstr>Cambria Math</vt:lpstr>
      <vt:lpstr>CMMI12</vt:lpstr>
      <vt:lpstr>CMMI8</vt:lpstr>
      <vt:lpstr>CMR12</vt:lpstr>
      <vt:lpstr>CMSY10</vt:lpstr>
      <vt:lpstr>MSAM10</vt:lpstr>
      <vt:lpstr>Symbol</vt:lpstr>
      <vt:lpstr>Times New Roman</vt:lpstr>
      <vt:lpstr>Verdana</vt:lpstr>
      <vt:lpstr>Wingdings</vt:lpstr>
      <vt:lpstr>MedSecurance Presentation</vt:lpstr>
      <vt:lpstr>VISIO</vt:lpstr>
      <vt:lpstr>Visio</vt:lpstr>
      <vt:lpstr>Assurance Tool Open Evidential Tool Bus (O-ETB) consolidated integration workshops</vt:lpstr>
      <vt:lpstr>The Goal Structuring Notation</vt:lpstr>
      <vt:lpstr>Notional modular AC Pattern for IoMT System Properties</vt:lpstr>
      <vt:lpstr>Six-Step Method</vt:lpstr>
      <vt:lpstr>Six-step method for GSN construction</vt:lpstr>
      <vt:lpstr>Step 1: Identify Goals to be supported by the AC</vt:lpstr>
      <vt:lpstr>Step 2: Basis of goals stated</vt:lpstr>
      <vt:lpstr>Step 3: Identify Strategy to support goals</vt:lpstr>
      <vt:lpstr>Step 4: Basis of strategy applied </vt:lpstr>
      <vt:lpstr>Step 5: Elaborate Strategy</vt:lpstr>
      <vt:lpstr>Step 6: Identify basic solution OR Refine</vt:lpstr>
      <vt:lpstr>Complete Simple GSN Example</vt:lpstr>
      <vt:lpstr>Architecture-guided Assurance Approach</vt:lpstr>
      <vt:lpstr>IoMT systems are modular and the AC should be modular</vt:lpstr>
      <vt:lpstr>Information Collection for IoMT Assurance</vt:lpstr>
      <vt:lpstr>Toward systematic assurance for IoMT</vt:lpstr>
      <vt:lpstr>AC: start with basics then refine iteratively</vt:lpstr>
      <vt:lpstr>References</vt:lpstr>
      <vt:lpstr>Assurance steps in an AC</vt:lpstr>
      <vt:lpstr>AC: start with basics then refine iteratively</vt:lpstr>
      <vt:lpstr>Assurance Tool Open Evidential Tool Bus (O-ETB) Input/Output Data Formats</vt:lpstr>
      <vt:lpstr>O-ETB Data Topics</vt:lpstr>
      <vt:lpstr>Use Case Workshop Assurance Tool New Features</vt:lpstr>
      <vt:lpstr>Relevant NEW Features of O-ETB (1)</vt:lpstr>
      <vt:lpstr>NEW Features of O-ETB (2)</vt:lpstr>
      <vt:lpstr>Updated O-ETB Source Repository structure</vt:lpstr>
      <vt:lpstr>Updated O-ETB Dynamic database structure</vt:lpstr>
      <vt:lpstr>KB: Evidence Categories</vt:lpstr>
      <vt:lpstr>O-ETB Database and MedSecurance Information Exchange</vt:lpstr>
      <vt:lpstr>O-ETB Source Repository structure</vt:lpstr>
      <vt:lpstr>O-ETB Dynamic database structure</vt:lpstr>
      <vt:lpstr>Structured Data Information Exchange</vt:lpstr>
      <vt:lpstr>Methodology Information</vt:lpstr>
      <vt:lpstr>O-ETB Knowledge Base (KB)</vt:lpstr>
      <vt:lpstr>About the KB</vt:lpstr>
      <vt:lpstr>KB: MODELS (1) System &amp; Properties</vt:lpstr>
      <vt:lpstr>KB: MODELS (2) System &amp; Properties</vt:lpstr>
      <vt:lpstr>KB: MODELS (3) Platform</vt:lpstr>
      <vt:lpstr>KB: MODELS (4) Platform</vt:lpstr>
      <vt:lpstr>KB: MODELS (5) Arch (policy)</vt:lpstr>
      <vt:lpstr>KB: MODELS (6) Configuration</vt:lpstr>
      <vt:lpstr>Example KB/MODELS/2.0/  configuration, platform, policy</vt:lpstr>
      <vt:lpstr>KB: PATTERNS (1)</vt:lpstr>
      <vt:lpstr>KB: PATTERNS (2) Pattern Language</vt:lpstr>
      <vt:lpstr>KB: PATTERNS (3) Instantiation rewrite rules</vt:lpstr>
      <vt:lpstr>KB: Evidence Categories (1)</vt:lpstr>
      <vt:lpstr>KB: Evidence Categories (2)</vt:lpstr>
      <vt:lpstr>KB: Agents (1)</vt:lpstr>
      <vt:lpstr>KB: Agents (2)</vt:lpstr>
      <vt:lpstr>KB: Agents (3) ichecker_agent.pl example</vt:lpstr>
      <vt:lpstr>KB: Agents (4) developing and debugging</vt:lpstr>
      <vt:lpstr>KB: WORKFLOWS</vt:lpstr>
      <vt:lpstr>Other KB Information</vt:lpstr>
      <vt:lpstr>O-ETB REPOSITORY</vt:lpstr>
      <vt:lpstr>CASES repository</vt:lpstr>
      <vt:lpstr>EVIDENCE repository</vt:lpstr>
      <vt:lpstr>EVIDENCE Record status</vt:lpstr>
      <vt:lpstr>O-ETB Agents interact with external tools and processes and update evidence records</vt:lpstr>
      <vt:lpstr>O-ETB sequence</vt:lpstr>
      <vt:lpstr>O-ETB Certification Assurance Package (CAP)</vt:lpstr>
      <vt:lpstr>Certification Assurance Package (CAP)</vt:lpstr>
      <vt:lpstr>CAP Assurance Case Representations</vt:lpstr>
      <vt:lpstr>HTML display</vt:lpstr>
      <vt:lpstr>End</vt:lpstr>
    </vt:vector>
  </TitlesOfParts>
  <Manager/>
  <Company>The Open Group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MedSecurance Assurance Tools integration workshops</dc:title>
  <dc:subject/>
  <dc:creator>Rance DeLong</dc:creator>
  <cp:keywords/>
  <dc:description/>
  <cp:lastModifiedBy>Rance DeLong</cp:lastModifiedBy>
  <cp:revision>208</cp:revision>
  <cp:lastPrinted>2023-08-27T22:19:34Z</cp:lastPrinted>
  <dcterms:created xsi:type="dcterms:W3CDTF">2006-08-16T00:00:00Z</dcterms:created>
  <dcterms:modified xsi:type="dcterms:W3CDTF">2025-10-24T10:34:04Z</dcterms:modified>
  <cp:category/>
</cp:coreProperties>
</file>